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70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77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262239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7A8D3E20-3137-4C7A-AFB4-F75305AE77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49AE70B2-8BF9-45C0-BB95-33D1B9D3A854}" type="slidenum">
              <a:t>‹#›</a:t>
            </a:fld>
            <a:endParaRPr/>
          </a:p>
        </p:txBody>
      </p:sp>
      <p:pic>
        <p:nvPicPr>
          <p:cNvPr id="3" name="图片 7">
            <a:extLst>
              <a:ext uri="{FF2B5EF4-FFF2-40B4-BE49-F238E27FC236}">
                <a16:creationId xmlns:a16="http://schemas.microsoft.com/office/drawing/2014/main" id="{63399905-AA3C-445F-A5D1-6A3B09959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10" y="304165"/>
            <a:ext cx="3564890" cy="1234440"/>
          </a:xfrm>
          <a:prstGeom prst="rect">
            <a:avLst/>
          </a:prstGeom>
        </p:spPr>
      </p:pic>
      <p:sp>
        <p:nvSpPr>
          <p:cNvPr id="5" name="文本框 14">
            <a:extLst>
              <a:ext uri="{FF2B5EF4-FFF2-40B4-BE49-F238E27FC236}">
                <a16:creationId xmlns:a16="http://schemas.microsoft.com/office/drawing/2014/main" id="{67F50ED6-96C8-432F-BC77-805EA6AB32B5}"/>
              </a:ext>
            </a:extLst>
          </p:cNvPr>
          <p:cNvSpPr>
            <a:spLocks noGrp="1"/>
          </p:cNvSpPr>
          <p:nvPr/>
        </p:nvSpPr>
        <p:spPr>
          <a:xfrm>
            <a:off x="9906635" y="6367145"/>
            <a:ext cx="2199640" cy="34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>
              <a:lnSpc>
                <a:spcPct val="130000"/>
              </a:lnSpc>
              <a:buNone/>
            </a:pPr>
            <a:r>
              <a:rPr sz="1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/>
          </a:p>
        </p:txBody>
      </p:sp>
      <p:sp>
        <p:nvSpPr>
          <p:cNvPr id="6" name="直接连接符 15">
            <a:extLst>
              <a:ext uri="{FF2B5EF4-FFF2-40B4-BE49-F238E27FC236}">
                <a16:creationId xmlns:a16="http://schemas.microsoft.com/office/drawing/2014/main" id="{B56C9734-D8EE-4666-9749-8D3075AFA0F3}"/>
              </a:ext>
            </a:extLst>
          </p:cNvPr>
          <p:cNvSpPr>
            <a:spLocks noGrp="1"/>
          </p:cNvSpPr>
          <p:nvPr/>
        </p:nvSpPr>
        <p:spPr>
          <a:xfrm>
            <a:off x="11434445" y="6685280"/>
            <a:ext cx="53784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F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1">
            <a:extLst>
              <a:ext uri="{FF2B5EF4-FFF2-40B4-BE49-F238E27FC236}">
                <a16:creationId xmlns:a16="http://schemas.microsoft.com/office/drawing/2014/main" id="{35E87372-E96A-4768-9BF9-AB5F69B03FF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b="13216"/>
          <a:stretch/>
        </p:blipFill>
        <p:spPr>
          <a:xfrm>
            <a:off x="7546126" y="0"/>
            <a:ext cx="4151671" cy="5794408"/>
          </a:xfrm>
          <a:prstGeom prst="rect">
            <a:avLst/>
          </a:prstGeom>
        </p:spPr>
      </p:pic>
      <p:sp>
        <p:nvSpPr>
          <p:cNvPr id="10" name="文本框 3">
            <a:extLst>
              <a:ext uri="{FF2B5EF4-FFF2-40B4-BE49-F238E27FC236}">
                <a16:creationId xmlns:a16="http://schemas.microsoft.com/office/drawing/2014/main" id="{C2965034-38FE-4D55-A077-2ED870C8D02A}"/>
              </a:ext>
            </a:extLst>
          </p:cNvPr>
          <p:cNvSpPr>
            <a:spLocks noGrp="1"/>
          </p:cNvSpPr>
          <p:nvPr/>
        </p:nvSpPr>
        <p:spPr>
          <a:xfrm>
            <a:off x="9763201" y="6305810"/>
            <a:ext cx="2199640" cy="34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/>
          </a:p>
        </p:txBody>
      </p:sp>
      <p:sp>
        <p:nvSpPr>
          <p:cNvPr id="11" name="直接连接符 15">
            <a:extLst>
              <a:ext uri="{FF2B5EF4-FFF2-40B4-BE49-F238E27FC236}">
                <a16:creationId xmlns:a16="http://schemas.microsoft.com/office/drawing/2014/main" id="{C5D9BE01-2FC1-485E-9543-4CB2AE521DF4}"/>
              </a:ext>
            </a:extLst>
          </p:cNvPr>
          <p:cNvSpPr>
            <a:spLocks noGrp="1"/>
          </p:cNvSpPr>
          <p:nvPr/>
        </p:nvSpPr>
        <p:spPr>
          <a:xfrm>
            <a:off x="11291011" y="6623945"/>
            <a:ext cx="537845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pic>
        <p:nvPicPr>
          <p:cNvPr id="12" name="图片 9">
            <a:extLst>
              <a:ext uri="{FF2B5EF4-FFF2-40B4-BE49-F238E27FC236}">
                <a16:creationId xmlns:a16="http://schemas.microsoft.com/office/drawing/2014/main" id="{BAC4D541-D68F-4C8D-874D-2FEB0014C3A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1000"/>
          </a:blip>
          <a:srcRect/>
          <a:stretch/>
        </p:blipFill>
        <p:spPr>
          <a:xfrm>
            <a:off x="0" y="3261146"/>
            <a:ext cx="2999678" cy="4133416"/>
          </a:xfrm>
          <a:prstGeom prst="rect">
            <a:avLst/>
          </a:prstGeom>
        </p:spPr>
      </p:pic>
      <p:pic>
        <p:nvPicPr>
          <p:cNvPr id="13" name="图片 4">
            <a:extLst>
              <a:ext uri="{FF2B5EF4-FFF2-40B4-BE49-F238E27FC236}">
                <a16:creationId xmlns:a16="http://schemas.microsoft.com/office/drawing/2014/main" id="{C008FA15-2C56-4E48-88DE-4E757EE633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73" y="0"/>
            <a:ext cx="3483086" cy="13061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5">
            <a:extLst>
              <a:ext uri="{FF2B5EF4-FFF2-40B4-BE49-F238E27FC236}">
                <a16:creationId xmlns:a16="http://schemas.microsoft.com/office/drawing/2014/main" id="{350996CF-9747-434F-95ED-799A3045FF9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45008" y="6356350"/>
            <a:ext cx="2743200" cy="365125"/>
          </a:xfrm>
        </p:spPr>
        <p:txBody>
          <a:bodyPr/>
          <a:lstStyle>
            <a:lvl1pPr algn="l">
              <a:buNone/>
              <a:defRPr>
                <a:solidFill>
                  <a:schemeClr val="tx1"/>
                </a:solidFill>
              </a:defRPr>
            </a:lvl1pPr>
          </a:lstStyle>
          <a:p>
            <a:pPr>
              <a:buNone/>
            </a:pPr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bg>
      <p:bgPr>
        <a:solidFill>
          <a:srgbClr val="08A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5">
            <a:extLst>
              <a:ext uri="{FF2B5EF4-FFF2-40B4-BE49-F238E27FC236}">
                <a16:creationId xmlns:a16="http://schemas.microsoft.com/office/drawing/2014/main" id="{F1CAD6C3-08EF-4C93-A971-D4A42A2A495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/>
          <a:p>
            <a:pPr>
              <a:buNone/>
            </a:pPr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14">
            <a:extLst>
              <a:ext uri="{FF2B5EF4-FFF2-40B4-BE49-F238E27FC236}">
                <a16:creationId xmlns:a16="http://schemas.microsoft.com/office/drawing/2014/main" id="{F7807866-546E-4F40-8475-7612316C0CC8}"/>
              </a:ext>
            </a:extLst>
          </p:cNvPr>
          <p:cNvSpPr>
            <a:spLocks noGrp="1"/>
          </p:cNvSpPr>
          <p:nvPr/>
        </p:nvSpPr>
        <p:spPr>
          <a:xfrm>
            <a:off x="9763201" y="6305810"/>
            <a:ext cx="2199640" cy="34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/>
          </a:p>
        </p:txBody>
      </p:sp>
      <p:sp>
        <p:nvSpPr>
          <p:cNvPr id="26" name="直接连接符 15">
            <a:extLst>
              <a:ext uri="{FF2B5EF4-FFF2-40B4-BE49-F238E27FC236}">
                <a16:creationId xmlns:a16="http://schemas.microsoft.com/office/drawing/2014/main" id="{7DDAB206-E01B-4386-B3F6-44201A89CCF2}"/>
              </a:ext>
            </a:extLst>
          </p:cNvPr>
          <p:cNvSpPr>
            <a:spLocks noGrp="1"/>
          </p:cNvSpPr>
          <p:nvPr/>
        </p:nvSpPr>
        <p:spPr>
          <a:xfrm>
            <a:off x="11291011" y="6623945"/>
            <a:ext cx="537845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7" name="灯片编号占位符 5">
            <a:extLst>
              <a:ext uri="{FF2B5EF4-FFF2-40B4-BE49-F238E27FC236}">
                <a16:creationId xmlns:a16="http://schemas.microsoft.com/office/drawing/2014/main" id="{03EE0A8A-75FF-44F7-93B5-FF8F65213F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pPr>
              <a:buNone/>
            </a:pPr>
            <a:fld id="{49AE70B2-8BF9-45C0-BB95-33D1B9D3A854}" type="slidenum">
              <a:t>‹#›</a:t>
            </a:fld>
            <a:endParaRPr/>
          </a:p>
        </p:txBody>
      </p:sp>
      <p:sp>
        <p:nvSpPr>
          <p:cNvPr id="28" name="文本占位符 9">
            <a:extLst>
              <a:ext uri="{FF2B5EF4-FFF2-40B4-BE49-F238E27FC236}">
                <a16:creationId xmlns:a16="http://schemas.microsoft.com/office/drawing/2014/main" id="{71AF6874-889E-4029-B952-A821F3C27C8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5067" y="171415"/>
            <a:ext cx="5966068" cy="4461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 kern="1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lvl="0">
              <a:buNone/>
            </a:pPr>
            <a:r>
              <a:t>单击此处编辑母版文本</a:t>
            </a:r>
          </a:p>
        </p:txBody>
      </p:sp>
      <p:pic>
        <p:nvPicPr>
          <p:cNvPr id="29" name="图片 1">
            <a:extLst>
              <a:ext uri="{FF2B5EF4-FFF2-40B4-BE49-F238E27FC236}">
                <a16:creationId xmlns:a16="http://schemas.microsoft.com/office/drawing/2014/main" id="{516A9DB1-0736-4B95-997A-E3D9CE074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425" y="0"/>
            <a:ext cx="2350420" cy="881407"/>
          </a:xfrm>
          <a:prstGeom prst="rect">
            <a:avLst/>
          </a:prstGeom>
        </p:spPr>
      </p:pic>
      <p:sp>
        <p:nvSpPr>
          <p:cNvPr id="30" name="矩形 3">
            <a:extLst>
              <a:ext uri="{FF2B5EF4-FFF2-40B4-BE49-F238E27FC236}">
                <a16:creationId xmlns:a16="http://schemas.microsoft.com/office/drawing/2014/main" id="{831A55B6-CBAE-4708-A603-19AE553D3F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177"/>
          </a:xfrm>
          <a:prstGeom prst="rect">
            <a:avLst/>
          </a:prstGeom>
          <a:solidFill>
            <a:srgbClr val="08A8F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6">
            <a:extLst>
              <a:ext uri="{FF2B5EF4-FFF2-40B4-BE49-F238E27FC236}">
                <a16:creationId xmlns:a16="http://schemas.microsoft.com/office/drawing/2014/main" id="{87FF763E-4F25-47E2-88D0-A974427406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pPr>
              <a:buNone/>
            </a:pPr>
            <a:fld id="{49AE70B2-8BF9-45C0-BB95-33D1B9D3A854}" type="slidenum">
              <a:t>‹#›</a:t>
            </a:fld>
            <a:endParaRPr/>
          </a:p>
        </p:txBody>
      </p:sp>
      <p:pic>
        <p:nvPicPr>
          <p:cNvPr id="33" name="图片 3">
            <a:extLst>
              <a:ext uri="{FF2B5EF4-FFF2-40B4-BE49-F238E27FC236}">
                <a16:creationId xmlns:a16="http://schemas.microsoft.com/office/drawing/2014/main" id="{D2B22B86-9E89-4672-83A6-B296690F4D6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biLevel thresh="25000"/>
          </a:blip>
          <a:srcRect t="32381"/>
          <a:stretch/>
        </p:blipFill>
        <p:spPr>
          <a:xfrm>
            <a:off x="7482780" y="1381934"/>
            <a:ext cx="3830533" cy="4165580"/>
          </a:xfrm>
          <a:prstGeom prst="rect">
            <a:avLst/>
          </a:prstGeom>
        </p:spPr>
      </p:pic>
      <p:sp>
        <p:nvSpPr>
          <p:cNvPr id="35" name="文本框 10">
            <a:extLst>
              <a:ext uri="{FF2B5EF4-FFF2-40B4-BE49-F238E27FC236}">
                <a16:creationId xmlns:a16="http://schemas.microsoft.com/office/drawing/2014/main" id="{91A63413-20DE-488A-BDAB-F2D114A7833B}"/>
              </a:ext>
            </a:extLst>
          </p:cNvPr>
          <p:cNvSpPr>
            <a:spLocks noGrp="1"/>
          </p:cNvSpPr>
          <p:nvPr/>
        </p:nvSpPr>
        <p:spPr>
          <a:xfrm>
            <a:off x="9763201" y="6305810"/>
            <a:ext cx="2199640" cy="34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/>
          </a:p>
        </p:txBody>
      </p:sp>
      <p:sp>
        <p:nvSpPr>
          <p:cNvPr id="36" name="直接连接符 15">
            <a:extLst>
              <a:ext uri="{FF2B5EF4-FFF2-40B4-BE49-F238E27FC236}">
                <a16:creationId xmlns:a16="http://schemas.microsoft.com/office/drawing/2014/main" id="{277707C8-1D5D-4C70-A380-987CFAD33A82}"/>
              </a:ext>
            </a:extLst>
          </p:cNvPr>
          <p:cNvSpPr>
            <a:spLocks noGrp="1"/>
          </p:cNvSpPr>
          <p:nvPr/>
        </p:nvSpPr>
        <p:spPr>
          <a:xfrm>
            <a:off x="11291011" y="6623945"/>
            <a:ext cx="537845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pic>
        <p:nvPicPr>
          <p:cNvPr id="37" name="图片 4">
            <a:extLst>
              <a:ext uri="{FF2B5EF4-FFF2-40B4-BE49-F238E27FC236}">
                <a16:creationId xmlns:a16="http://schemas.microsoft.com/office/drawing/2014/main" id="{5609AE7A-FF66-4AFB-86E8-04E81E8BB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78" y="0"/>
            <a:ext cx="2350420" cy="8814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灯片编号占位符 8">
            <a:extLst>
              <a:ext uri="{FF2B5EF4-FFF2-40B4-BE49-F238E27FC236}">
                <a16:creationId xmlns:a16="http://schemas.microsoft.com/office/drawing/2014/main" id="{6F66E62B-ACB5-4BCB-BA85-F92A036EFB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pPr>
              <a:buNone/>
            </a:pPr>
            <a:fld id="{49AE70B2-8BF9-45C0-BB95-33D1B9D3A854}" type="slidenum">
              <a:t>‹#›</a:t>
            </a:fld>
            <a:endParaRPr/>
          </a:p>
        </p:txBody>
      </p:sp>
      <p:sp>
        <p:nvSpPr>
          <p:cNvPr id="41" name="文本框 2">
            <a:extLst>
              <a:ext uri="{FF2B5EF4-FFF2-40B4-BE49-F238E27FC236}">
                <a16:creationId xmlns:a16="http://schemas.microsoft.com/office/drawing/2014/main" id="{967F33BF-80CF-4981-8957-739D873FFC96}"/>
              </a:ext>
            </a:extLst>
          </p:cNvPr>
          <p:cNvSpPr>
            <a:spLocks noGrp="1"/>
          </p:cNvSpPr>
          <p:nvPr/>
        </p:nvSpPr>
        <p:spPr>
          <a:xfrm>
            <a:off x="9763201" y="6305810"/>
            <a:ext cx="2199640" cy="34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/>
          </a:p>
        </p:txBody>
      </p:sp>
      <p:sp>
        <p:nvSpPr>
          <p:cNvPr id="42" name="直接连接符 15">
            <a:extLst>
              <a:ext uri="{FF2B5EF4-FFF2-40B4-BE49-F238E27FC236}">
                <a16:creationId xmlns:a16="http://schemas.microsoft.com/office/drawing/2014/main" id="{E60745C7-9C6B-4AFA-8473-7C5ED7F69A50}"/>
              </a:ext>
            </a:extLst>
          </p:cNvPr>
          <p:cNvSpPr>
            <a:spLocks noGrp="1"/>
          </p:cNvSpPr>
          <p:nvPr/>
        </p:nvSpPr>
        <p:spPr>
          <a:xfrm>
            <a:off x="11291011" y="6623945"/>
            <a:ext cx="537845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3" name="矩形 9">
            <a:extLst>
              <a:ext uri="{FF2B5EF4-FFF2-40B4-BE49-F238E27FC236}">
                <a16:creationId xmlns:a16="http://schemas.microsoft.com/office/drawing/2014/main" id="{3B2F0F6F-5102-4EA7-AFF2-3D952F35323A}"/>
              </a:ext>
            </a:extLst>
          </p:cNvPr>
          <p:cNvSpPr>
            <a:spLocks noGrp="1"/>
          </p:cNvSpPr>
          <p:nvPr/>
        </p:nvSpPr>
        <p:spPr>
          <a:xfrm>
            <a:off x="456565" y="1199515"/>
            <a:ext cx="1210588" cy="70788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 i="0" u="none" strike="noStrike" cap="none" spc="0" baseline="0">
                <a:ln>
                  <a:noFill/>
                </a:ln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目录</a:t>
            </a:r>
            <a:endParaRPr/>
          </a:p>
        </p:txBody>
      </p:sp>
      <p:sp>
        <p:nvSpPr>
          <p:cNvPr id="44" name="文本框 10">
            <a:extLst>
              <a:ext uri="{FF2B5EF4-FFF2-40B4-BE49-F238E27FC236}">
                <a16:creationId xmlns:a16="http://schemas.microsoft.com/office/drawing/2014/main" id="{A9DFAD2B-4743-4685-AF36-5F868DB16A48}"/>
              </a:ext>
            </a:extLst>
          </p:cNvPr>
          <p:cNvSpPr>
            <a:spLocks noGrp="1"/>
          </p:cNvSpPr>
          <p:nvPr/>
        </p:nvSpPr>
        <p:spPr>
          <a:xfrm>
            <a:off x="481965" y="576640"/>
            <a:ext cx="41249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1"/>
              </a:spcBef>
              <a:spcAft>
                <a:spcPct val="1"/>
              </a:spcAft>
              <a:buNone/>
            </a:pPr>
            <a:r>
              <a:rPr sz="32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CONTENTS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灯片编号占位符 4">
            <a:extLst>
              <a:ext uri="{FF2B5EF4-FFF2-40B4-BE49-F238E27FC236}">
                <a16:creationId xmlns:a16="http://schemas.microsoft.com/office/drawing/2014/main" id="{58E3F3DD-B360-4078-AB9A-9129BDF058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pPr>
              <a:buNone/>
            </a:pPr>
            <a:fld id="{49AE70B2-8BF9-45C0-BB95-33D1B9D3A854}" type="slidenum">
              <a:t>‹#›</a:t>
            </a:fld>
            <a:endParaRPr/>
          </a:p>
        </p:txBody>
      </p:sp>
      <p:sp>
        <p:nvSpPr>
          <p:cNvPr id="48" name="文本框 6">
            <a:extLst>
              <a:ext uri="{FF2B5EF4-FFF2-40B4-BE49-F238E27FC236}">
                <a16:creationId xmlns:a16="http://schemas.microsoft.com/office/drawing/2014/main" id="{2246AADD-3686-413D-AED1-90AB6AFEFF04}"/>
              </a:ext>
            </a:extLst>
          </p:cNvPr>
          <p:cNvSpPr>
            <a:spLocks noGrp="1"/>
          </p:cNvSpPr>
          <p:nvPr/>
        </p:nvSpPr>
        <p:spPr>
          <a:xfrm>
            <a:off x="9906635" y="6367145"/>
            <a:ext cx="2199640" cy="34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/>
          </a:p>
        </p:txBody>
      </p:sp>
      <p:sp>
        <p:nvSpPr>
          <p:cNvPr id="49" name="直接连接符 7">
            <a:extLst>
              <a:ext uri="{FF2B5EF4-FFF2-40B4-BE49-F238E27FC236}">
                <a16:creationId xmlns:a16="http://schemas.microsoft.com/office/drawing/2014/main" id="{AFB0C77D-F5ED-43C6-A0A8-893A28A793AA}"/>
              </a:ext>
            </a:extLst>
          </p:cNvPr>
          <p:cNvSpPr>
            <a:spLocks noGrp="1"/>
          </p:cNvSpPr>
          <p:nvPr/>
        </p:nvSpPr>
        <p:spPr>
          <a:xfrm>
            <a:off x="11434445" y="6685280"/>
            <a:ext cx="537845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灯片编号占位符 3">
            <a:extLst>
              <a:ext uri="{FF2B5EF4-FFF2-40B4-BE49-F238E27FC236}">
                <a16:creationId xmlns:a16="http://schemas.microsoft.com/office/drawing/2014/main" id="{0B6645B0-F8CD-45BF-8F8E-ABC3119CB4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灯片编号占位符 6">
            <a:extLst>
              <a:ext uri="{FF2B5EF4-FFF2-40B4-BE49-F238E27FC236}">
                <a16:creationId xmlns:a16="http://schemas.microsoft.com/office/drawing/2014/main" id="{0B28588F-8CD2-40A9-B29F-E77CF2131D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FABC47A4-756D-490B-A52F-7D9E2C9FC05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5">
            <a:extLst>
              <a:ext uri="{FF2B5EF4-FFF2-40B4-BE49-F238E27FC236}">
                <a16:creationId xmlns:a16="http://schemas.microsoft.com/office/drawing/2014/main" id="{24A53927-7046-4E4A-8728-A9D54EA5E1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FDE84394-3C9C-49C0-AC2B-79BAFBD56C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6F9"/>
            </a:gs>
            <a:gs pos="100000">
              <a:srgbClr val="81BD0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4C81816F-0A8A-4946-A186-3FEDCB8CE05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200">
                <a:solidFill>
                  <a:schemeClr val="bg1"/>
                </a:solidFill>
                <a:latin typeface="Source Han Sans CN Normal"/>
                <a:ea typeface="Source Han Sans CN Normal"/>
                <a:cs typeface="Source Han Sans CN Normal"/>
              </a:defRPr>
            </a:lvl1pPr>
          </a:lstStyle>
          <a:p>
            <a:pPr>
              <a:buNone/>
            </a:pPr>
            <a:fld id="{49AE70B2-8BF9-45C0-BB95-33D1B9D3A85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5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2A2D6825-7E28-4BBE-847E-9B9438DEE821}"/>
              </a:ext>
            </a:extLst>
          </p:cNvPr>
          <p:cNvSpPr>
            <a:spLocks noGrp="1"/>
          </p:cNvSpPr>
          <p:nvPr/>
        </p:nvSpPr>
        <p:spPr>
          <a:xfrm>
            <a:off x="3417888" y="5226665"/>
            <a:ext cx="5356225" cy="701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buNone/>
            </a:pPr>
            <a:r>
              <a:rPr lang="zh-CN" altLang="en-US" sz="1600" dirty="0">
                <a:latin typeface="微软雅黑"/>
                <a:ea typeface="微软雅黑"/>
                <a:cs typeface="微软雅黑"/>
              </a:rPr>
              <a:t>队名：大展鸿图</a:t>
            </a:r>
            <a:endParaRPr sz="1600" dirty="0"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buNone/>
            </a:pPr>
            <a:r>
              <a:rPr lang="en-US" sz="1600" dirty="0">
                <a:latin typeface="微软雅黑"/>
                <a:ea typeface="微软雅黑"/>
                <a:cs typeface="微软雅黑"/>
              </a:rPr>
              <a:t>2026</a:t>
            </a:r>
            <a:r>
              <a:rPr lang="zh-CN" altLang="en-US" sz="1600" dirty="0">
                <a:latin typeface="微软雅黑"/>
                <a:ea typeface="微软雅黑"/>
                <a:cs typeface="微软雅黑"/>
              </a:rPr>
              <a:t>年</a:t>
            </a:r>
            <a:r>
              <a:rPr lang="en-US" altLang="zh-CN" sz="1600" dirty="0">
                <a:latin typeface="微软雅黑"/>
                <a:ea typeface="微软雅黑"/>
                <a:cs typeface="微软雅黑"/>
              </a:rPr>
              <a:t>10</a:t>
            </a:r>
            <a:r>
              <a:rPr lang="zh-CN" altLang="en-US" sz="1600" dirty="0">
                <a:latin typeface="微软雅黑"/>
                <a:ea typeface="微软雅黑"/>
                <a:cs typeface="微软雅黑"/>
              </a:rPr>
              <a:t>月</a:t>
            </a:r>
            <a:r>
              <a:rPr lang="en-US" altLang="zh-CN" sz="1600" dirty="0">
                <a:latin typeface="微软雅黑"/>
                <a:ea typeface="微软雅黑"/>
                <a:cs typeface="微软雅黑"/>
              </a:rPr>
              <a:t>30</a:t>
            </a:r>
            <a:r>
              <a:rPr lang="zh-CN" altLang="en-US" sz="1600" dirty="0">
                <a:latin typeface="微软雅黑"/>
                <a:ea typeface="微软雅黑"/>
                <a:cs typeface="微软雅黑"/>
              </a:rPr>
              <a:t>日</a:t>
            </a:r>
            <a:endParaRPr sz="1400" dirty="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6">
            <a:extLst>
              <a:ext uri="{FF2B5EF4-FFF2-40B4-BE49-F238E27FC236}">
                <a16:creationId xmlns:a16="http://schemas.microsoft.com/office/drawing/2014/main" id="{D281560B-474F-4EBE-8412-7E8F4CE7099F}"/>
              </a:ext>
            </a:extLst>
          </p:cNvPr>
          <p:cNvSpPr>
            <a:spLocks noGrp="1"/>
          </p:cNvSpPr>
          <p:nvPr/>
        </p:nvSpPr>
        <p:spPr>
          <a:xfrm>
            <a:off x="1908747" y="1852426"/>
            <a:ext cx="83745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1"/>
              </a:spcBef>
              <a:spcAft>
                <a:spcPct val="1"/>
              </a:spcAft>
              <a:buNone/>
            </a:pPr>
            <a:r>
              <a:rPr sz="4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OH创新大赛赛道三作品提交</a:t>
            </a:r>
          </a:p>
        </p:txBody>
      </p:sp>
      <p:sp>
        <p:nvSpPr>
          <p:cNvPr id="4" name="文本框 10">
            <a:extLst>
              <a:ext uri="{FF2B5EF4-FFF2-40B4-BE49-F238E27FC236}">
                <a16:creationId xmlns:a16="http://schemas.microsoft.com/office/drawing/2014/main" id="{887CA121-B697-4967-B9CC-74A4C2D37916}"/>
              </a:ext>
            </a:extLst>
          </p:cNvPr>
          <p:cNvSpPr>
            <a:spLocks noGrp="1"/>
          </p:cNvSpPr>
          <p:nvPr/>
        </p:nvSpPr>
        <p:spPr>
          <a:xfrm>
            <a:off x="1333500" y="2868073"/>
            <a:ext cx="9525000" cy="426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 algn="ctr">
              <a:defRPr sz="2800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800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800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800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800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800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800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800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800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800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spcBef>
                <a:spcPct val="1"/>
              </a:spcBef>
              <a:spcAft>
                <a:spcPct val="1"/>
              </a:spcAft>
              <a:buNone/>
              <a:defRPr sz="2800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800" dirty="0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Life Graph</a:t>
            </a:r>
            <a:r>
              <a:rPr lang="zh-CN" altLang="en-US" sz="2800" dirty="0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（生活脉络）</a:t>
            </a:r>
            <a:r>
              <a:rPr sz="2800" dirty="0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 </a:t>
            </a:r>
          </a:p>
        </p:txBody>
      </p:sp>
      <p:sp>
        <p:nvSpPr>
          <p:cNvPr id="5" name="content-1">
            <a:extLst>
              <a:ext uri="{FF2B5EF4-FFF2-40B4-BE49-F238E27FC236}">
                <a16:creationId xmlns:a16="http://schemas.microsoft.com/office/drawing/2014/main" id="{DB0B3D25-2CA1-4702-A01B-45D2BB8C90C9}"/>
              </a:ext>
            </a:extLst>
          </p:cNvPr>
          <p:cNvSpPr>
            <a:spLocks noGrp="1"/>
          </p:cNvSpPr>
          <p:nvPr/>
        </p:nvSpPr>
        <p:spPr>
          <a:xfrm>
            <a:off x="1905000" y="3724275"/>
            <a:ext cx="8382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9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9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9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9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9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9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9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9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9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23000"/>
              </a:lnSpc>
              <a:buNone/>
              <a:defRPr sz="19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以人物关联生活记录，离线回看共同经历</a:t>
            </a:r>
          </a:p>
        </p:txBody>
      </p:sp>
    </p:spTree>
    <p:extLst>
      <p:ext uri="{BB962C8B-B14F-4D97-AF65-F5344CB8AC3E}">
        <p14:creationId xmlns:p14="http://schemas.microsoft.com/office/powerpoint/2010/main" val="1158999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26">
            <a:extLst>
              <a:ext uri="{FF2B5EF4-FFF2-40B4-BE49-F238E27FC236}">
                <a16:creationId xmlns:a16="http://schemas.microsoft.com/office/drawing/2014/main" id="{9A3791A1-4606-4674-A930-E21D26D95839}"/>
              </a:ext>
            </a:extLst>
          </p:cNvPr>
          <p:cNvSpPr>
            <a:spLocks noGrp="1"/>
          </p:cNvSpPr>
          <p:nvPr/>
        </p:nvSpPr>
        <p:spPr>
          <a:xfrm>
            <a:off x="2741964" y="2138212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01</a:t>
            </a:r>
            <a:endParaRPr/>
          </a:p>
        </p:txBody>
      </p:sp>
      <p:sp>
        <p:nvSpPr>
          <p:cNvPr id="7" name="圆角矩形 27">
            <a:extLst>
              <a:ext uri="{FF2B5EF4-FFF2-40B4-BE49-F238E27FC236}">
                <a16:creationId xmlns:a16="http://schemas.microsoft.com/office/drawing/2014/main" id="{AE7E0244-8BAD-4DE9-9D98-6670EBD86F22}"/>
              </a:ext>
            </a:extLst>
          </p:cNvPr>
          <p:cNvSpPr>
            <a:spLocks noGrp="1"/>
          </p:cNvSpPr>
          <p:nvPr/>
        </p:nvSpPr>
        <p:spPr>
          <a:xfrm>
            <a:off x="3585244" y="3076107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应用核心功能</a:t>
            </a:r>
            <a:endParaRPr sz="2400" b="1">
              <a:ln>
                <a:noFill/>
              </a:ln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圆角矩形 28">
            <a:extLst>
              <a:ext uri="{FF2B5EF4-FFF2-40B4-BE49-F238E27FC236}">
                <a16:creationId xmlns:a16="http://schemas.microsoft.com/office/drawing/2014/main" id="{B9050B99-3223-41AD-9AAD-8D5992F14289}"/>
              </a:ext>
            </a:extLst>
          </p:cNvPr>
          <p:cNvSpPr>
            <a:spLocks noGrp="1"/>
          </p:cNvSpPr>
          <p:nvPr/>
        </p:nvSpPr>
        <p:spPr>
          <a:xfrm>
            <a:off x="2734344" y="3063407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02</a:t>
            </a:r>
            <a:endParaRPr/>
          </a:p>
        </p:txBody>
      </p:sp>
      <p:sp>
        <p:nvSpPr>
          <p:cNvPr id="9" name="圆角矩形 29">
            <a:extLst>
              <a:ext uri="{FF2B5EF4-FFF2-40B4-BE49-F238E27FC236}">
                <a16:creationId xmlns:a16="http://schemas.microsoft.com/office/drawing/2014/main" id="{0E9C98AF-D715-4C3B-A985-2333C03E9217}"/>
              </a:ext>
            </a:extLst>
          </p:cNvPr>
          <p:cNvSpPr>
            <a:spLocks noGrp="1"/>
          </p:cNvSpPr>
          <p:nvPr/>
        </p:nvSpPr>
        <p:spPr>
          <a:xfrm>
            <a:off x="3585244" y="4001302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创新性</a:t>
            </a:r>
            <a:endParaRPr sz="2400" b="1">
              <a:ln>
                <a:noFill/>
              </a:ln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圆角矩形 30">
            <a:extLst>
              <a:ext uri="{FF2B5EF4-FFF2-40B4-BE49-F238E27FC236}">
                <a16:creationId xmlns:a16="http://schemas.microsoft.com/office/drawing/2014/main" id="{6BFBD146-FBBC-4880-B077-86C54DC3E03F}"/>
              </a:ext>
            </a:extLst>
          </p:cNvPr>
          <p:cNvSpPr>
            <a:spLocks noGrp="1"/>
          </p:cNvSpPr>
          <p:nvPr/>
        </p:nvSpPr>
        <p:spPr>
          <a:xfrm>
            <a:off x="2734344" y="3988602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03</a:t>
            </a:r>
            <a:endParaRPr/>
          </a:p>
        </p:txBody>
      </p:sp>
      <p:sp>
        <p:nvSpPr>
          <p:cNvPr id="11" name="圆角矩形 44">
            <a:extLst>
              <a:ext uri="{FF2B5EF4-FFF2-40B4-BE49-F238E27FC236}">
                <a16:creationId xmlns:a16="http://schemas.microsoft.com/office/drawing/2014/main" id="{AA1A9A33-33CE-4A40-BC5A-1990DC4759F9}"/>
              </a:ext>
            </a:extLst>
          </p:cNvPr>
          <p:cNvSpPr>
            <a:spLocks noGrp="1"/>
          </p:cNvSpPr>
          <p:nvPr/>
        </p:nvSpPr>
        <p:spPr>
          <a:xfrm>
            <a:off x="3597944" y="2138212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创作简介</a:t>
            </a:r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2B7EDA8F-E3D8-418F-8C1E-528ED53A7F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>
            <a:pPr>
              <a:buNone/>
              <a:defRPr>
                <a:latin typeface="微软雅黑"/>
                <a:ea typeface="微软雅黑"/>
                <a:cs typeface="微软雅黑"/>
              </a:defRPr>
            </a:pPr>
            <a:fld id="{E2598689-54C9-18A7-3A19-ED76AA08988F}" type="slidenum">
              <a:rPr>
                <a:latin typeface="微软雅黑"/>
                <a:ea typeface="微软雅黑"/>
                <a:cs typeface="微软雅黑"/>
              </a:rPr>
              <a:t>2</a:t>
            </a:fld>
            <a:endParaRPr/>
          </a:p>
        </p:txBody>
      </p:sp>
      <p:sp>
        <p:nvSpPr>
          <p:cNvPr id="13" name="圆角矩形 29">
            <a:extLst>
              <a:ext uri="{FF2B5EF4-FFF2-40B4-BE49-F238E27FC236}">
                <a16:creationId xmlns:a16="http://schemas.microsoft.com/office/drawing/2014/main" id="{6B08F30D-60D7-4234-BB12-DFB86379F735}"/>
              </a:ext>
            </a:extLst>
          </p:cNvPr>
          <p:cNvSpPr>
            <a:spLocks noGrp="1"/>
          </p:cNvSpPr>
          <p:nvPr/>
        </p:nvSpPr>
        <p:spPr>
          <a:xfrm>
            <a:off x="3597944" y="4913797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ln>
                  <a:noFill/>
                </a:ln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商业价值</a:t>
            </a:r>
          </a:p>
        </p:txBody>
      </p:sp>
      <p:sp>
        <p:nvSpPr>
          <p:cNvPr id="14" name="圆角矩形 30">
            <a:extLst>
              <a:ext uri="{FF2B5EF4-FFF2-40B4-BE49-F238E27FC236}">
                <a16:creationId xmlns:a16="http://schemas.microsoft.com/office/drawing/2014/main" id="{6471C475-B44B-4E84-B29B-40AFC0E71F2F}"/>
              </a:ext>
            </a:extLst>
          </p:cNvPr>
          <p:cNvSpPr>
            <a:spLocks noGrp="1"/>
          </p:cNvSpPr>
          <p:nvPr/>
        </p:nvSpPr>
        <p:spPr>
          <a:xfrm>
            <a:off x="2747044" y="4901097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25616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352C85D4-D41C-4052-8743-A872AB6D77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def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buNone/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fld id="{202359C0-8A7A-196E-DD58-8E6569619F09}" type="slidenum">
              <a: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3</a:t>
            </a:fld>
            <a:endParaRPr dirty="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文本占位符 2">
            <a:extLst>
              <a:ext uri="{FF2B5EF4-FFF2-40B4-BE49-F238E27FC236}">
                <a16:creationId xmlns:a16="http://schemas.microsoft.com/office/drawing/2014/main" id="{30704DCF-1E49-41ED-9F88-0B63604E50B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95815" y="200290"/>
            <a:ext cx="5966068" cy="446134"/>
          </a:xfrm>
        </p:spPr>
        <p:txBody>
          <a:bodyPr lIns="91440" tIns="45720" rIns="91440" bIns="45720" anchor="ctr"/>
          <a:lstStyle>
            <a:def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创作简介</a:t>
            </a:r>
            <a:endParaRPr sz="28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content-2">
            <a:extLst>
              <a:ext uri="{FF2B5EF4-FFF2-40B4-BE49-F238E27FC236}">
                <a16:creationId xmlns:a16="http://schemas.microsoft.com/office/drawing/2014/main" id="{F6F6EB0F-76FC-4211-95C2-6A4BCB98B033}"/>
              </a:ext>
            </a:extLst>
          </p:cNvPr>
          <p:cNvSpPr>
            <a:spLocks noGrp="1"/>
          </p:cNvSpPr>
          <p:nvPr/>
        </p:nvSpPr>
        <p:spPr>
          <a:xfrm>
            <a:off x="685800" y="1057275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 dirty="0" err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团队简介</a:t>
            </a:r>
            <a:endParaRPr sz="1800" b="1" dirty="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content-3">
            <a:extLst>
              <a:ext uri="{FF2B5EF4-FFF2-40B4-BE49-F238E27FC236}">
                <a16:creationId xmlns:a16="http://schemas.microsoft.com/office/drawing/2014/main" id="{4DB5EA4D-C86C-45BD-B2CD-4A769D01A797}"/>
              </a:ext>
            </a:extLst>
          </p:cNvPr>
          <p:cNvSpPr>
            <a:spLocks noGrp="1"/>
          </p:cNvSpPr>
          <p:nvPr/>
        </p:nvSpPr>
        <p:spPr>
          <a:xfrm>
            <a:off x="685800" y="1447800"/>
            <a:ext cx="10477500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成员：颜欣杰、王艺允、陈柯男</a:t>
            </a:r>
            <a:endParaRPr sz="1600" b="0" dirty="0">
              <a:solidFill>
                <a:srgbClr val="0F1423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3000"/>
              </a:lnSpc>
              <a:buNone/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学校及专业：南京大学</a:t>
            </a:r>
            <a:r>
              <a:rPr sz="1600" b="0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600" b="0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软件工程（智能化</a:t>
            </a:r>
            <a:r>
              <a:rPr sz="1600" b="0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）</a:t>
            </a:r>
          </a:p>
          <a:p>
            <a:pPr algn="l">
              <a:lnSpc>
                <a:spcPct val="123000"/>
              </a:lnSpc>
              <a:buNone/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指导老师：刘钦</a:t>
            </a:r>
            <a:endParaRPr sz="1600" b="0" dirty="0">
              <a:solidFill>
                <a:srgbClr val="0F1423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3000"/>
              </a:lnSpc>
              <a:buNone/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600" b="0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指导老师</a:t>
            </a:r>
            <a:r>
              <a:rPr sz="1600" b="0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联系电话</a:t>
            </a:r>
            <a:r>
              <a:rPr lang="zh-CN" altLang="en-US" sz="1600" b="0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en-US" altLang="zh-CN" sz="1600" b="0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18001585267</a:t>
            </a:r>
            <a:endParaRPr sz="1600" b="0" dirty="0">
              <a:solidFill>
                <a:srgbClr val="0F14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content-4">
            <a:extLst>
              <a:ext uri="{FF2B5EF4-FFF2-40B4-BE49-F238E27FC236}">
                <a16:creationId xmlns:a16="http://schemas.microsoft.com/office/drawing/2014/main" id="{37683ADE-72AB-481A-A244-D18D068CE1C5}"/>
              </a:ext>
            </a:extLst>
          </p:cNvPr>
          <p:cNvSpPr>
            <a:spLocks noGrp="1"/>
          </p:cNvSpPr>
          <p:nvPr/>
        </p:nvSpPr>
        <p:spPr>
          <a:xfrm>
            <a:off x="685800" y="3324225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 dirty="0" err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为什么做这款</a:t>
            </a:r>
            <a:r>
              <a:rPr sz="1800" b="1" dirty="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 APP</a:t>
            </a:r>
          </a:p>
        </p:txBody>
      </p:sp>
      <p:sp>
        <p:nvSpPr>
          <p:cNvPr id="21" name="content-5">
            <a:extLst>
              <a:ext uri="{FF2B5EF4-FFF2-40B4-BE49-F238E27FC236}">
                <a16:creationId xmlns:a16="http://schemas.microsoft.com/office/drawing/2014/main" id="{8AABA2B1-3E33-4965-AD41-B86EEB9FF377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1074420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dirty="0"/>
              <a:t>相册通常按照片和时间排列，普通备忘录以单篇内容为主，而一次共同经历可能涉及多位人物。</a:t>
            </a:r>
            <a:r>
              <a:rPr lang="en-US" altLang="zh-CN" dirty="0" err="1"/>
              <a:t>LifeGraph</a:t>
            </a:r>
            <a:r>
              <a:rPr lang="zh-CN" altLang="en-US" dirty="0"/>
              <a:t>（生活脉络）让一条事件关联多位参与者，</a:t>
            </a:r>
            <a:r>
              <a:rPr lang="zh-CN" altLang="en-US" sz="1600" b="0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用文字、照片和声音保存细节，</a:t>
            </a:r>
            <a:r>
              <a:rPr lang="zh-CN" altLang="en-US" dirty="0"/>
              <a:t>通过人物详情、时间轴和图谱，让用户更方便的记录和回顾过往经历。 </a:t>
            </a:r>
            <a:endParaRPr sz="1600" b="0" dirty="0">
              <a:solidFill>
                <a:srgbClr val="0F14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content-6">
            <a:extLst>
              <a:ext uri="{FF2B5EF4-FFF2-40B4-BE49-F238E27FC236}">
                <a16:creationId xmlns:a16="http://schemas.microsoft.com/office/drawing/2014/main" id="{A6F956C5-FAF7-4BC8-956C-7C4771735C4D}"/>
              </a:ext>
            </a:extLst>
          </p:cNvPr>
          <p:cNvSpPr>
            <a:spLocks noGrp="1"/>
          </p:cNvSpPr>
          <p:nvPr/>
        </p:nvSpPr>
        <p:spPr>
          <a:xfrm>
            <a:off x="685800" y="5076825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 dirty="0" err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应用一句话亮点</a:t>
            </a:r>
            <a:endParaRPr sz="1800" b="1" dirty="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content-7">
            <a:extLst>
              <a:ext uri="{FF2B5EF4-FFF2-40B4-BE49-F238E27FC236}">
                <a16:creationId xmlns:a16="http://schemas.microsoft.com/office/drawing/2014/main" id="{208C9D99-A505-479D-8D04-8A2A0DCAB729}"/>
              </a:ext>
            </a:extLst>
          </p:cNvPr>
          <p:cNvSpPr>
            <a:spLocks noGrp="1"/>
          </p:cNvSpPr>
          <p:nvPr/>
        </p:nvSpPr>
        <p:spPr>
          <a:xfrm>
            <a:off x="685800" y="5514975"/>
            <a:ext cx="10744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3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3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3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3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3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3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3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3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3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23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 dirty="0" err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把人物与共同经历，连成可回看的记忆图谱</a:t>
            </a:r>
            <a:endParaRPr sz="2300" b="1" dirty="0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35608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1">
            <a:extLst>
              <a:ext uri="{FF2B5EF4-FFF2-40B4-BE49-F238E27FC236}">
                <a16:creationId xmlns:a16="http://schemas.microsoft.com/office/drawing/2014/main" id="{DF4A2EDE-84E1-40A6-B3DB-F7B921734D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def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buNone/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fld id="{EE5B3003-2C54-13C6-9832-7637201064DE}" type="slidenum">
              <a: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4</a:t>
            </a:fld>
            <a:endParaRPr dirty="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文本占位符 2">
            <a:extLst>
              <a:ext uri="{FF2B5EF4-FFF2-40B4-BE49-F238E27FC236}">
                <a16:creationId xmlns:a16="http://schemas.microsoft.com/office/drawing/2014/main" id="{8B7BA9F2-0006-4E18-9A47-A1D9981D411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95815" y="200290"/>
            <a:ext cx="5966068" cy="446134"/>
          </a:xfrm>
        </p:spPr>
        <p:txBody>
          <a:bodyPr lIns="91440" tIns="45720" rIns="91440" bIns="45720" anchor="ctr"/>
          <a:lstStyle>
            <a:def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应用核心功能</a:t>
            </a:r>
            <a:endParaRPr dirty="0"/>
          </a:p>
        </p:txBody>
      </p:sp>
      <p:sp>
        <p:nvSpPr>
          <p:cNvPr id="24" name="content-17">
            <a:extLst>
              <a:ext uri="{FF2B5EF4-FFF2-40B4-BE49-F238E27FC236}">
                <a16:creationId xmlns:a16="http://schemas.microsoft.com/office/drawing/2014/main" id="{1E072618-07C5-4152-B674-528FDDEFA237}"/>
              </a:ext>
            </a:extLst>
          </p:cNvPr>
          <p:cNvSpPr>
            <a:spLocks noGrp="1"/>
          </p:cNvSpPr>
          <p:nvPr/>
        </p:nvSpPr>
        <p:spPr>
          <a:xfrm>
            <a:off x="195815" y="933290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dirty="0"/>
              <a:t>人物与个人分支</a:t>
            </a:r>
            <a:endParaRPr sz="2100" b="1" dirty="0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content-18">
            <a:extLst>
              <a:ext uri="{FF2B5EF4-FFF2-40B4-BE49-F238E27FC236}">
                <a16:creationId xmlns:a16="http://schemas.microsoft.com/office/drawing/2014/main" id="{B945495A-B241-4ED5-A8DF-CAF5AFD1DC9F}"/>
              </a:ext>
            </a:extLst>
          </p:cNvPr>
          <p:cNvSpPr>
            <a:spLocks noGrp="1"/>
          </p:cNvSpPr>
          <p:nvPr/>
        </p:nvSpPr>
        <p:spPr>
          <a:xfrm>
            <a:off x="1198966" y="1563648"/>
            <a:ext cx="1441758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dirty="0"/>
              <a:t>创建人物档案</a:t>
            </a:r>
            <a:endParaRPr sz="1800" b="1" dirty="0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content-19">
            <a:extLst>
              <a:ext uri="{FF2B5EF4-FFF2-40B4-BE49-F238E27FC236}">
                <a16:creationId xmlns:a16="http://schemas.microsoft.com/office/drawing/2014/main" id="{A91BA50D-8571-4B2C-8B14-C3DD78CD2F22}"/>
              </a:ext>
            </a:extLst>
          </p:cNvPr>
          <p:cNvSpPr>
            <a:spLocks noGrp="1"/>
          </p:cNvSpPr>
          <p:nvPr/>
        </p:nvSpPr>
        <p:spPr>
          <a:xfrm>
            <a:off x="381000" y="5743810"/>
            <a:ext cx="335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400" b="0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保存称呼、头像与人物描述，设置人物关系</a:t>
            </a:r>
            <a:endParaRPr sz="1500" b="0" dirty="0">
              <a:solidFill>
                <a:srgbClr val="0F142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3115DF34-571B-49FC-AA7A-F0761C77CF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6865" y="1919490"/>
            <a:ext cx="1635932" cy="3619499"/>
          </a:xfrm>
          <a:prstGeom prst="rect">
            <a:avLst/>
          </a:prstGeom>
        </p:spPr>
      </p:pic>
      <p:sp>
        <p:nvSpPr>
          <p:cNvPr id="31" name="content-22">
            <a:extLst>
              <a:ext uri="{FF2B5EF4-FFF2-40B4-BE49-F238E27FC236}">
                <a16:creationId xmlns:a16="http://schemas.microsoft.com/office/drawing/2014/main" id="{A0123277-DFD9-4045-A39F-4CA88821592D}"/>
              </a:ext>
            </a:extLst>
          </p:cNvPr>
          <p:cNvSpPr>
            <a:spLocks noGrp="1"/>
          </p:cNvSpPr>
          <p:nvPr/>
        </p:nvSpPr>
        <p:spPr>
          <a:xfrm>
            <a:off x="5398592" y="1556709"/>
            <a:ext cx="1216743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dirty="0"/>
              <a:t>人物界面</a:t>
            </a:r>
            <a:endParaRPr sz="1800" b="1" dirty="0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content-23">
            <a:extLst>
              <a:ext uri="{FF2B5EF4-FFF2-40B4-BE49-F238E27FC236}">
                <a16:creationId xmlns:a16="http://schemas.microsoft.com/office/drawing/2014/main" id="{ACCAB280-0B89-4204-AD7E-0B325981F2DC}"/>
              </a:ext>
            </a:extLst>
          </p:cNvPr>
          <p:cNvSpPr>
            <a:spLocks noGrp="1"/>
          </p:cNvSpPr>
          <p:nvPr/>
        </p:nvSpPr>
        <p:spPr>
          <a:xfrm>
            <a:off x="4330563" y="5743810"/>
            <a:ext cx="335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dirty="0"/>
              <a:t>点击人物节点或列表项进入人物主页，编辑人物关系，查看共同经历</a:t>
            </a:r>
            <a:endParaRPr sz="1500" b="0" dirty="0">
              <a:solidFill>
                <a:srgbClr val="0F14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content-22">
            <a:extLst>
              <a:ext uri="{FF2B5EF4-FFF2-40B4-BE49-F238E27FC236}">
                <a16:creationId xmlns:a16="http://schemas.microsoft.com/office/drawing/2014/main" id="{EAFD04C3-C5C7-494C-A58C-0D5F13A4E8E5}"/>
              </a:ext>
            </a:extLst>
          </p:cNvPr>
          <p:cNvSpPr>
            <a:spLocks noGrp="1"/>
          </p:cNvSpPr>
          <p:nvPr/>
        </p:nvSpPr>
        <p:spPr>
          <a:xfrm>
            <a:off x="9480014" y="1603622"/>
            <a:ext cx="335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dirty="0"/>
              <a:t>图谱视图</a:t>
            </a:r>
            <a:endParaRPr sz="1800" b="1" dirty="0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content-23">
            <a:extLst>
              <a:ext uri="{FF2B5EF4-FFF2-40B4-BE49-F238E27FC236}">
                <a16:creationId xmlns:a16="http://schemas.microsoft.com/office/drawing/2014/main" id="{9B427A9F-C12D-4B91-9158-8BBD7C7628B8}"/>
              </a:ext>
            </a:extLst>
          </p:cNvPr>
          <p:cNvSpPr>
            <a:spLocks noGrp="1"/>
          </p:cNvSpPr>
          <p:nvPr/>
        </p:nvSpPr>
        <p:spPr>
          <a:xfrm>
            <a:off x="8417112" y="5821889"/>
            <a:ext cx="335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500" b="0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以图谱形式展现人物关系，可查看不同人物为中心的生活图谱</a:t>
            </a:r>
            <a:endParaRPr lang="en-US" altLang="zh-CN" sz="1500" b="0" dirty="0">
              <a:solidFill>
                <a:srgbClr val="0F1423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3000"/>
              </a:lnSpc>
              <a:buNone/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endParaRPr sz="1500" b="0" dirty="0">
              <a:solidFill>
                <a:srgbClr val="0F142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D41FA7B-B39A-4B43-981F-6BA55B1606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90701" y="2057369"/>
            <a:ext cx="1635932" cy="361949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5241A6D-D7FC-4747-A103-7B434A2FDD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93512" y="2057369"/>
            <a:ext cx="1635932" cy="361949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0D733CA-935D-46C2-9C1C-0E32594628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14" y="1887498"/>
            <a:ext cx="1635933" cy="3619501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9C2F4C5B-3B7B-4D80-BC8B-0B064593B27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00135" y="2005310"/>
            <a:ext cx="1635932" cy="3619499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9B696EEE-60B8-4F37-9019-3D62427F30F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07585" y="1973168"/>
            <a:ext cx="1635932" cy="361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763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1">
            <a:extLst>
              <a:ext uri="{FF2B5EF4-FFF2-40B4-BE49-F238E27FC236}">
                <a16:creationId xmlns:a16="http://schemas.microsoft.com/office/drawing/2014/main" id="{DF4A2EDE-84E1-40A6-B3DB-F7B921734D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def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buNone/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fld id="{EE5B3003-2C54-13C6-9832-7637201064DE}" type="slidenum">
              <a: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5</a:t>
            </a:fld>
            <a:endParaRPr dirty="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文本占位符 2">
            <a:extLst>
              <a:ext uri="{FF2B5EF4-FFF2-40B4-BE49-F238E27FC236}">
                <a16:creationId xmlns:a16="http://schemas.microsoft.com/office/drawing/2014/main" id="{8B7BA9F2-0006-4E18-9A47-A1D9981D411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95815" y="200290"/>
            <a:ext cx="5966068" cy="446134"/>
          </a:xfrm>
        </p:spPr>
        <p:txBody>
          <a:bodyPr lIns="91440" tIns="45720" rIns="91440" bIns="45720" anchor="ctr"/>
          <a:lstStyle>
            <a:def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应用核心功能</a:t>
            </a:r>
            <a:endParaRPr/>
          </a:p>
        </p:txBody>
      </p:sp>
      <p:sp>
        <p:nvSpPr>
          <p:cNvPr id="24" name="content-17">
            <a:extLst>
              <a:ext uri="{FF2B5EF4-FFF2-40B4-BE49-F238E27FC236}">
                <a16:creationId xmlns:a16="http://schemas.microsoft.com/office/drawing/2014/main" id="{1E072618-07C5-4152-B674-528FDDEFA237}"/>
              </a:ext>
            </a:extLst>
          </p:cNvPr>
          <p:cNvSpPr>
            <a:spLocks noGrp="1"/>
          </p:cNvSpPr>
          <p:nvPr/>
        </p:nvSpPr>
        <p:spPr>
          <a:xfrm>
            <a:off x="152400" y="954118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 dirty="0" err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事件与时间轴</a:t>
            </a:r>
            <a:endParaRPr sz="2100" b="1" dirty="0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content-18">
            <a:extLst>
              <a:ext uri="{FF2B5EF4-FFF2-40B4-BE49-F238E27FC236}">
                <a16:creationId xmlns:a16="http://schemas.microsoft.com/office/drawing/2014/main" id="{B945495A-B241-4ED5-A8DF-CAF5AFD1DC9F}"/>
              </a:ext>
            </a:extLst>
          </p:cNvPr>
          <p:cNvSpPr>
            <a:spLocks noGrp="1"/>
          </p:cNvSpPr>
          <p:nvPr/>
        </p:nvSpPr>
        <p:spPr>
          <a:xfrm>
            <a:off x="1198966" y="1563648"/>
            <a:ext cx="335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 dirty="0" err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记录一次经历</a:t>
            </a:r>
            <a:endParaRPr sz="1800" b="1" dirty="0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20869873-AE60-4A90-915D-596A2AC21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2400" y="1917809"/>
            <a:ext cx="1635932" cy="3619500"/>
          </a:xfrm>
          <a:prstGeom prst="rect">
            <a:avLst/>
          </a:prstGeom>
        </p:spPr>
      </p:pic>
      <p:sp>
        <p:nvSpPr>
          <p:cNvPr id="27" name="content-19">
            <a:extLst>
              <a:ext uri="{FF2B5EF4-FFF2-40B4-BE49-F238E27FC236}">
                <a16:creationId xmlns:a16="http://schemas.microsoft.com/office/drawing/2014/main" id="{A91BA50D-8571-4B2C-8B14-C3DD78CD2F22}"/>
              </a:ext>
            </a:extLst>
          </p:cNvPr>
          <p:cNvSpPr>
            <a:spLocks noGrp="1"/>
          </p:cNvSpPr>
          <p:nvPr/>
        </p:nvSpPr>
        <p:spPr>
          <a:xfrm>
            <a:off x="381000" y="5743810"/>
            <a:ext cx="335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填写内容、时间、地点</a:t>
            </a:r>
            <a:r>
              <a:rPr lang="zh-CN" altLang="en-US" dirty="0"/>
              <a:t>，</a:t>
            </a:r>
            <a:r>
              <a:rPr lang="zh-CN" altLang="en-US" sz="1500" b="0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选择生活分支与情绪，添加图片、音频</a:t>
            </a:r>
            <a:r>
              <a:rPr lang="zh-CN" altLang="en-US" dirty="0"/>
              <a:t>，</a:t>
            </a:r>
            <a:r>
              <a:rPr sz="1500" b="0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关联参与者</a:t>
            </a:r>
            <a:endParaRPr sz="1500" b="0" dirty="0">
              <a:solidFill>
                <a:srgbClr val="0F142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3115DF34-571B-49FC-AA7A-F0761C77CF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956865" y="1919490"/>
            <a:ext cx="1635932" cy="3619500"/>
          </a:xfrm>
          <a:prstGeom prst="rect">
            <a:avLst/>
          </a:prstGeom>
        </p:spPr>
      </p:pic>
      <p:sp>
        <p:nvSpPr>
          <p:cNvPr id="31" name="content-22">
            <a:extLst>
              <a:ext uri="{FF2B5EF4-FFF2-40B4-BE49-F238E27FC236}">
                <a16:creationId xmlns:a16="http://schemas.microsoft.com/office/drawing/2014/main" id="{A0123277-DFD9-4045-A39F-4CA88821592D}"/>
              </a:ext>
            </a:extLst>
          </p:cNvPr>
          <p:cNvSpPr>
            <a:spLocks noGrp="1"/>
          </p:cNvSpPr>
          <p:nvPr/>
        </p:nvSpPr>
        <p:spPr>
          <a:xfrm>
            <a:off x="5097895" y="1525543"/>
            <a:ext cx="1216743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 dirty="0" err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按时间回看</a:t>
            </a:r>
            <a:endParaRPr sz="1800" b="1" dirty="0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E0E59109-6EAD-4726-83A6-555A21A6E9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070335" y="1962460"/>
            <a:ext cx="1635932" cy="3619500"/>
          </a:xfrm>
          <a:prstGeom prst="rect">
            <a:avLst/>
          </a:prstGeom>
        </p:spPr>
      </p:pic>
      <p:sp>
        <p:nvSpPr>
          <p:cNvPr id="33" name="content-23">
            <a:extLst>
              <a:ext uri="{FF2B5EF4-FFF2-40B4-BE49-F238E27FC236}">
                <a16:creationId xmlns:a16="http://schemas.microsoft.com/office/drawing/2014/main" id="{ACCAB280-0B89-4204-AD7E-0B325981F2DC}"/>
              </a:ext>
            </a:extLst>
          </p:cNvPr>
          <p:cNvSpPr>
            <a:spLocks noGrp="1"/>
          </p:cNvSpPr>
          <p:nvPr/>
        </p:nvSpPr>
        <p:spPr>
          <a:xfrm>
            <a:off x="4677302" y="5743810"/>
            <a:ext cx="335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按年月组织记录，搜索内容</a:t>
            </a:r>
            <a:r>
              <a:rPr sz="1500" b="0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，</a:t>
            </a:r>
          </a:p>
          <a:p>
            <a:pPr algn="l">
              <a:lnSpc>
                <a:spcPct val="123000"/>
              </a:lnSpc>
              <a:buNone/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按人物或生活分支筛选</a:t>
            </a:r>
            <a:endParaRPr sz="1500" b="0" dirty="0">
              <a:solidFill>
                <a:srgbClr val="0F142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D43EDA0-29E6-47D9-A8EF-9A36669664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7785" y="1930318"/>
            <a:ext cx="1635932" cy="3619500"/>
          </a:xfrm>
          <a:prstGeom prst="rect">
            <a:avLst/>
          </a:prstGeom>
        </p:spPr>
      </p:pic>
      <p:sp>
        <p:nvSpPr>
          <p:cNvPr id="18" name="content-22">
            <a:extLst>
              <a:ext uri="{FF2B5EF4-FFF2-40B4-BE49-F238E27FC236}">
                <a16:creationId xmlns:a16="http://schemas.microsoft.com/office/drawing/2014/main" id="{EAFD04C3-C5C7-494C-A58C-0D5F13A4E8E5}"/>
              </a:ext>
            </a:extLst>
          </p:cNvPr>
          <p:cNvSpPr>
            <a:spLocks noGrp="1"/>
          </p:cNvSpPr>
          <p:nvPr/>
        </p:nvSpPr>
        <p:spPr>
          <a:xfrm>
            <a:off x="9344951" y="1525543"/>
            <a:ext cx="335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dirty="0"/>
              <a:t>图谱视图</a:t>
            </a:r>
            <a:endParaRPr sz="1800" b="1" dirty="0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content-23">
            <a:extLst>
              <a:ext uri="{FF2B5EF4-FFF2-40B4-BE49-F238E27FC236}">
                <a16:creationId xmlns:a16="http://schemas.microsoft.com/office/drawing/2014/main" id="{9B427A9F-C12D-4B91-9158-8BBD7C7628B8}"/>
              </a:ext>
            </a:extLst>
          </p:cNvPr>
          <p:cNvSpPr>
            <a:spLocks noGrp="1"/>
          </p:cNvSpPr>
          <p:nvPr/>
        </p:nvSpPr>
        <p:spPr>
          <a:xfrm>
            <a:off x="8282049" y="5743810"/>
            <a:ext cx="335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500" b="0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以图谱形式展现事件与人物关联，按生活分支筛选事件</a:t>
            </a:r>
            <a:endParaRPr lang="en-US" altLang="zh-CN" sz="1500" b="0" dirty="0">
              <a:solidFill>
                <a:srgbClr val="0F1423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3000"/>
              </a:lnSpc>
              <a:buNone/>
              <a:defRPr sz="15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endParaRPr sz="1500" b="0" dirty="0">
              <a:solidFill>
                <a:srgbClr val="0F142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D41FA7B-B39A-4B43-981F-6BA55B1606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5638" y="1979290"/>
            <a:ext cx="1635932" cy="36195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5241A6D-D7FC-4747-A103-7B434A2FDDF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449" y="1979290"/>
            <a:ext cx="1635932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360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1">
            <a:extLst>
              <a:ext uri="{FF2B5EF4-FFF2-40B4-BE49-F238E27FC236}">
                <a16:creationId xmlns:a16="http://schemas.microsoft.com/office/drawing/2014/main" id="{DF4A2EDE-84E1-40A6-B3DB-F7B921734D1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724400" y="6341953"/>
            <a:ext cx="2743200" cy="365125"/>
          </a:xfrm>
        </p:spPr>
        <p:txBody>
          <a:bodyPr/>
          <a:lstStyle>
            <a:def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buNone/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fld id="{8C630A04-5A25-9E0C-9436-126091DB86B3}" type="slidenum">
              <a: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6</a:t>
            </a:fld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文本占位符 2">
            <a:extLst>
              <a:ext uri="{FF2B5EF4-FFF2-40B4-BE49-F238E27FC236}">
                <a16:creationId xmlns:a16="http://schemas.microsoft.com/office/drawing/2014/main" id="{8B7BA9F2-0006-4E18-9A47-A1D9981D411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95815" y="178379"/>
            <a:ext cx="5966068" cy="446134"/>
          </a:xfrm>
        </p:spPr>
        <p:txBody>
          <a:bodyPr lIns="91440" tIns="45720" rIns="91440" bIns="45720" anchor="ctr"/>
          <a:lstStyle>
            <a:def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应用核心功能</a:t>
            </a:r>
            <a:endParaRPr/>
          </a:p>
        </p:txBody>
      </p:sp>
      <p:sp>
        <p:nvSpPr>
          <p:cNvPr id="24" name="content-24">
            <a:extLst>
              <a:ext uri="{FF2B5EF4-FFF2-40B4-BE49-F238E27FC236}">
                <a16:creationId xmlns:a16="http://schemas.microsoft.com/office/drawing/2014/main" id="{293C55D6-229D-4075-88E7-852A7BC7DEB8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 dirty="0" err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桌面关系微图</a:t>
            </a:r>
            <a:endParaRPr sz="2100" b="1" dirty="0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content-25">
            <a:extLst>
              <a:ext uri="{FF2B5EF4-FFF2-40B4-BE49-F238E27FC236}">
                <a16:creationId xmlns:a16="http://schemas.microsoft.com/office/drawing/2014/main" id="{2E424D3A-D47E-4D0A-829F-0D95341C0E68}"/>
              </a:ext>
            </a:extLst>
          </p:cNvPr>
          <p:cNvSpPr>
            <a:spLocks noGrp="1"/>
          </p:cNvSpPr>
          <p:nvPr/>
        </p:nvSpPr>
        <p:spPr>
          <a:xfrm>
            <a:off x="195815" y="1964340"/>
            <a:ext cx="42195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 dirty="0" err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桌面直达</a:t>
            </a:r>
            <a:endParaRPr sz="1800" b="1" dirty="0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content-26">
            <a:extLst>
              <a:ext uri="{FF2B5EF4-FFF2-40B4-BE49-F238E27FC236}">
                <a16:creationId xmlns:a16="http://schemas.microsoft.com/office/drawing/2014/main" id="{77F742EA-8488-4A9D-9513-FC9866EC2FD5}"/>
              </a:ext>
            </a:extLst>
          </p:cNvPr>
          <p:cNvSpPr>
            <a:spLocks noGrp="1"/>
          </p:cNvSpPr>
          <p:nvPr/>
        </p:nvSpPr>
        <p:spPr>
          <a:xfrm>
            <a:off x="195815" y="2373915"/>
            <a:ext cx="3895337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2×2 </a:t>
            </a:r>
            <a:r>
              <a:rPr sz="1600" b="0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服务卡片展示“我”与最多</a:t>
            </a:r>
            <a:r>
              <a:rPr sz="1600" b="0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 6 </a:t>
            </a:r>
            <a:r>
              <a:rPr sz="1600" b="0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位人物，点击人物打开详情，底部入口直接记事</a:t>
            </a:r>
            <a:r>
              <a:rPr sz="1600" b="0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27" name="content-27">
            <a:extLst>
              <a:ext uri="{FF2B5EF4-FFF2-40B4-BE49-F238E27FC236}">
                <a16:creationId xmlns:a16="http://schemas.microsoft.com/office/drawing/2014/main" id="{3FC5EFCD-C9F1-4150-B472-716694B5C36F}"/>
              </a:ext>
            </a:extLst>
          </p:cNvPr>
          <p:cNvSpPr>
            <a:spLocks noGrp="1"/>
          </p:cNvSpPr>
          <p:nvPr/>
        </p:nvSpPr>
        <p:spPr>
          <a:xfrm>
            <a:off x="195815" y="4018018"/>
            <a:ext cx="42195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 dirty="0" err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减少桌面敏感信息</a:t>
            </a:r>
            <a:endParaRPr sz="1800" b="1" dirty="0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content-28">
            <a:extLst>
              <a:ext uri="{FF2B5EF4-FFF2-40B4-BE49-F238E27FC236}">
                <a16:creationId xmlns:a16="http://schemas.microsoft.com/office/drawing/2014/main" id="{D7A01FB5-576E-4616-9C5D-EAD751668309}"/>
              </a:ext>
            </a:extLst>
          </p:cNvPr>
          <p:cNvSpPr>
            <a:spLocks noGrp="1"/>
          </p:cNvSpPr>
          <p:nvPr/>
        </p:nvSpPr>
        <p:spPr>
          <a:xfrm>
            <a:off x="195815" y="4427593"/>
            <a:ext cx="4219575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默认用序号隐藏姓名，可改用简称</a:t>
            </a:r>
            <a:r>
              <a:rPr sz="1600" b="0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23000"/>
              </a:lnSpc>
              <a:buNone/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不展示事件正文、地点、照片或录音</a:t>
            </a:r>
            <a:r>
              <a:rPr sz="1600" b="0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30" name="content-30">
            <a:extLst>
              <a:ext uri="{FF2B5EF4-FFF2-40B4-BE49-F238E27FC236}">
                <a16:creationId xmlns:a16="http://schemas.microsoft.com/office/drawing/2014/main" id="{283EFAF9-9730-4273-A190-FD3DC62B5992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4219575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endParaRPr sz="1600" b="0" dirty="0">
              <a:solidFill>
                <a:srgbClr val="0F14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content-31">
            <a:extLst>
              <a:ext uri="{FF2B5EF4-FFF2-40B4-BE49-F238E27FC236}">
                <a16:creationId xmlns:a16="http://schemas.microsoft.com/office/drawing/2014/main" id="{004E5A0C-0CAA-4730-BC93-F62BE6BDA7C5}"/>
              </a:ext>
            </a:extLst>
          </p:cNvPr>
          <p:cNvSpPr>
            <a:spLocks noGrp="1"/>
          </p:cNvSpPr>
          <p:nvPr/>
        </p:nvSpPr>
        <p:spPr>
          <a:xfrm>
            <a:off x="4091152" y="5888859"/>
            <a:ext cx="323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23000"/>
              </a:lnSpc>
              <a:buNone/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pPr>
            <a:r>
              <a:rPr sz="1400" b="0" dirty="0" err="1">
                <a:solidFill>
                  <a:srgbClr val="566370"/>
                </a:solidFill>
                <a:latin typeface="微软雅黑"/>
                <a:ea typeface="微软雅黑"/>
                <a:cs typeface="微软雅黑"/>
              </a:rPr>
              <a:t>桌面关系卡片</a:t>
            </a:r>
            <a:endParaRPr sz="1400" b="0" dirty="0">
              <a:solidFill>
                <a:srgbClr val="5663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content-32">
            <a:extLst>
              <a:ext uri="{FF2B5EF4-FFF2-40B4-BE49-F238E27FC236}">
                <a16:creationId xmlns:a16="http://schemas.microsoft.com/office/drawing/2014/main" id="{B3F7265C-4E15-4E41-83BA-E68886227197}"/>
              </a:ext>
            </a:extLst>
          </p:cNvPr>
          <p:cNvSpPr>
            <a:spLocks noGrp="1"/>
          </p:cNvSpPr>
          <p:nvPr/>
        </p:nvSpPr>
        <p:spPr>
          <a:xfrm>
            <a:off x="6705600" y="5885520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23000"/>
              </a:lnSpc>
              <a:buNone/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pPr>
            <a:r>
              <a:rPr sz="1400" b="0" dirty="0" err="1">
                <a:solidFill>
                  <a:srgbClr val="566370"/>
                </a:solidFill>
                <a:latin typeface="微软雅黑"/>
                <a:ea typeface="微软雅黑"/>
                <a:cs typeface="微软雅黑"/>
              </a:rPr>
              <a:t>系统服务卡片添加页</a:t>
            </a:r>
            <a:endParaRPr sz="1400" b="0" dirty="0">
              <a:solidFill>
                <a:srgbClr val="5663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content-33">
            <a:extLst>
              <a:ext uri="{FF2B5EF4-FFF2-40B4-BE49-F238E27FC236}">
                <a16:creationId xmlns:a16="http://schemas.microsoft.com/office/drawing/2014/main" id="{2EC83BB7-EDFB-4D5F-860D-A1B2A0ABED2E}"/>
              </a:ext>
            </a:extLst>
          </p:cNvPr>
          <p:cNvSpPr>
            <a:spLocks noGrp="1"/>
          </p:cNvSpPr>
          <p:nvPr/>
        </p:nvSpPr>
        <p:spPr>
          <a:xfrm>
            <a:off x="5391150" y="5486400"/>
            <a:ext cx="3238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9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9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9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9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9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9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9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9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9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23000"/>
              </a:lnSpc>
              <a:buNone/>
              <a:defRPr sz="19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endParaRPr sz="1900" b="1" dirty="0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CAA90AE-02AB-472E-8565-D28BE3167E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018" y="1498820"/>
            <a:ext cx="1884736" cy="416997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15A1F11-4C36-4E60-9B0B-1A6F0BD36F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5307" y="1525889"/>
            <a:ext cx="1884736" cy="416997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B2B7557-E31C-4326-95DA-34E536FDF0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6671" y="1595055"/>
            <a:ext cx="1884737" cy="4169979"/>
          </a:xfrm>
          <a:prstGeom prst="rect">
            <a:avLst/>
          </a:prstGeom>
        </p:spPr>
      </p:pic>
      <p:sp>
        <p:nvSpPr>
          <p:cNvPr id="36" name="content-32">
            <a:extLst>
              <a:ext uri="{FF2B5EF4-FFF2-40B4-BE49-F238E27FC236}">
                <a16:creationId xmlns:a16="http://schemas.microsoft.com/office/drawing/2014/main" id="{0B9DC018-F6A1-44B4-BC49-B5A7A59D907C}"/>
              </a:ext>
            </a:extLst>
          </p:cNvPr>
          <p:cNvSpPr>
            <a:spLocks noGrp="1"/>
          </p:cNvSpPr>
          <p:nvPr/>
        </p:nvSpPr>
        <p:spPr>
          <a:xfrm>
            <a:off x="8936965" y="5885520"/>
            <a:ext cx="2724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23000"/>
              </a:lnSpc>
              <a:buNone/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dirty="0"/>
              <a:t>桌面卡片设置页</a:t>
            </a:r>
            <a:endParaRPr sz="1400" b="0" dirty="0">
              <a:solidFill>
                <a:srgbClr val="56637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912360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1">
            <a:extLst>
              <a:ext uri="{FF2B5EF4-FFF2-40B4-BE49-F238E27FC236}">
                <a16:creationId xmlns:a16="http://schemas.microsoft.com/office/drawing/2014/main" id="{367D1E6A-CA8F-4315-9C8B-A821A5E222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def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buNone/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fld id="{D3D7D1C8-AE23-AA48-DF65-C742588DBE47}" type="slidenum">
              <a: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7</a:t>
            </a:fld>
            <a:endParaRPr/>
          </a:p>
        </p:txBody>
      </p:sp>
      <p:sp>
        <p:nvSpPr>
          <p:cNvPr id="27" name="文本占位符 2">
            <a:extLst>
              <a:ext uri="{FF2B5EF4-FFF2-40B4-BE49-F238E27FC236}">
                <a16:creationId xmlns:a16="http://schemas.microsoft.com/office/drawing/2014/main" id="{DFEF6886-A31D-4844-A936-655D94B3C0D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lIns="91440" tIns="45720" rIns="91440" bIns="45720"/>
          <a:lstStyle>
            <a:def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创新性</a:t>
            </a:r>
            <a:endParaRPr/>
          </a:p>
        </p:txBody>
      </p:sp>
      <p:sp>
        <p:nvSpPr>
          <p:cNvPr id="28" name="content-34">
            <a:extLst>
              <a:ext uri="{FF2B5EF4-FFF2-40B4-BE49-F238E27FC236}">
                <a16:creationId xmlns:a16="http://schemas.microsoft.com/office/drawing/2014/main" id="{3CDEE6F6-9835-4857-83F1-AAC0F215A4DC}"/>
              </a:ext>
            </a:extLst>
          </p:cNvPr>
          <p:cNvSpPr>
            <a:spLocks noGrp="1"/>
          </p:cNvSpPr>
          <p:nvPr/>
        </p:nvSpPr>
        <p:spPr>
          <a:xfrm>
            <a:off x="341016" y="1057275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同一份记录，支持多种回顾方式</a:t>
            </a:r>
          </a:p>
        </p:txBody>
      </p:sp>
      <p:sp>
        <p:nvSpPr>
          <p:cNvPr id="29" name="content-35">
            <a:extLst>
              <a:ext uri="{FF2B5EF4-FFF2-40B4-BE49-F238E27FC236}">
                <a16:creationId xmlns:a16="http://schemas.microsoft.com/office/drawing/2014/main" id="{70B5AE7F-B983-4587-83EF-7415006A48C6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42386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图谱与时间轴互补</a:t>
            </a:r>
          </a:p>
        </p:txBody>
      </p:sp>
      <p:sp>
        <p:nvSpPr>
          <p:cNvPr id="30" name="content-36">
            <a:extLst>
              <a:ext uri="{FF2B5EF4-FFF2-40B4-BE49-F238E27FC236}">
                <a16:creationId xmlns:a16="http://schemas.microsoft.com/office/drawing/2014/main" id="{F328252F-CFC9-4C8C-AD38-8740A5C02218}"/>
              </a:ext>
            </a:extLst>
          </p:cNvPr>
          <p:cNvSpPr>
            <a:spLocks noGrp="1"/>
          </p:cNvSpPr>
          <p:nvPr/>
        </p:nvSpPr>
        <p:spPr>
          <a:xfrm>
            <a:off x="609600" y="2162175"/>
            <a:ext cx="4238625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图谱展示人物与事件的联系，时间轴支持人物和生活分支筛选，兼顾浏览与精确查找</a:t>
            </a:r>
            <a:r>
              <a:rPr sz="1600" b="0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33" name="content-39">
            <a:extLst>
              <a:ext uri="{FF2B5EF4-FFF2-40B4-BE49-F238E27FC236}">
                <a16:creationId xmlns:a16="http://schemas.microsoft.com/office/drawing/2014/main" id="{49340C6E-F272-422D-8B2E-2E4EB6CAE150}"/>
              </a:ext>
            </a:extLst>
          </p:cNvPr>
          <p:cNvSpPr>
            <a:spLocks noGrp="1"/>
          </p:cNvSpPr>
          <p:nvPr/>
        </p:nvSpPr>
        <p:spPr>
          <a:xfrm>
            <a:off x="609600" y="4895850"/>
            <a:ext cx="42386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适合个人持续积累</a:t>
            </a:r>
          </a:p>
        </p:txBody>
      </p:sp>
      <p:sp>
        <p:nvSpPr>
          <p:cNvPr id="34" name="content-40">
            <a:extLst>
              <a:ext uri="{FF2B5EF4-FFF2-40B4-BE49-F238E27FC236}">
                <a16:creationId xmlns:a16="http://schemas.microsoft.com/office/drawing/2014/main" id="{965368ED-E5BE-4C0A-8801-870BFE796527}"/>
              </a:ext>
            </a:extLst>
          </p:cNvPr>
          <p:cNvSpPr>
            <a:spLocks noGrp="1"/>
          </p:cNvSpPr>
          <p:nvPr/>
        </p:nvSpPr>
        <p:spPr>
          <a:xfrm>
            <a:off x="571500" y="3645008"/>
            <a:ext cx="423862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dirty="0"/>
              <a:t>以其他人物为中心建立图谱，人际网络与共同经历更直观</a:t>
            </a:r>
            <a:endParaRPr sz="1600" b="0" dirty="0">
              <a:solidFill>
                <a:srgbClr val="0F142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E025B566-95AB-4170-96D4-4FE6AAC98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601642" y="1638300"/>
            <a:ext cx="1855492" cy="4105275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01718C0E-5C31-40F4-B6E9-0627340340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655221" y="1649412"/>
            <a:ext cx="1855492" cy="4105275"/>
          </a:xfrm>
          <a:prstGeom prst="rect">
            <a:avLst/>
          </a:prstGeom>
        </p:spPr>
      </p:pic>
      <p:sp>
        <p:nvSpPr>
          <p:cNvPr id="37" name="content-41">
            <a:extLst>
              <a:ext uri="{FF2B5EF4-FFF2-40B4-BE49-F238E27FC236}">
                <a16:creationId xmlns:a16="http://schemas.microsoft.com/office/drawing/2014/main" id="{26D64406-927D-47E0-ABB9-343AFA413C7E}"/>
              </a:ext>
            </a:extLst>
          </p:cNvPr>
          <p:cNvSpPr>
            <a:spLocks noGrp="1"/>
          </p:cNvSpPr>
          <p:nvPr/>
        </p:nvSpPr>
        <p:spPr>
          <a:xfrm>
            <a:off x="5276850" y="5895975"/>
            <a:ext cx="2514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23000"/>
              </a:lnSpc>
              <a:buNone/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pPr>
            <a:r>
              <a: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rPr>
              <a:t>人物与事件图谱</a:t>
            </a:r>
          </a:p>
        </p:txBody>
      </p:sp>
      <p:sp>
        <p:nvSpPr>
          <p:cNvPr id="38" name="content-42">
            <a:extLst>
              <a:ext uri="{FF2B5EF4-FFF2-40B4-BE49-F238E27FC236}">
                <a16:creationId xmlns:a16="http://schemas.microsoft.com/office/drawing/2014/main" id="{B4CCCFFA-481C-484C-BC89-9A594690DE49}"/>
              </a:ext>
            </a:extLst>
          </p:cNvPr>
          <p:cNvSpPr>
            <a:spLocks noGrp="1"/>
          </p:cNvSpPr>
          <p:nvPr/>
        </p:nvSpPr>
        <p:spPr>
          <a:xfrm>
            <a:off x="7330429" y="5907087"/>
            <a:ext cx="2514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23000"/>
              </a:lnSpc>
              <a:buNone/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pPr>
            <a:r>
              <a: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rPr>
              <a:t>生活分支筛选</a:t>
            </a:r>
          </a:p>
        </p:txBody>
      </p:sp>
      <p:sp>
        <p:nvSpPr>
          <p:cNvPr id="15" name="content-39">
            <a:extLst>
              <a:ext uri="{FF2B5EF4-FFF2-40B4-BE49-F238E27FC236}">
                <a16:creationId xmlns:a16="http://schemas.microsoft.com/office/drawing/2014/main" id="{500B06B3-1E39-4BB3-8099-F70F0D34D393}"/>
              </a:ext>
            </a:extLst>
          </p:cNvPr>
          <p:cNvSpPr>
            <a:spLocks noGrp="1"/>
          </p:cNvSpPr>
          <p:nvPr/>
        </p:nvSpPr>
        <p:spPr>
          <a:xfrm>
            <a:off x="571500" y="3186717"/>
            <a:ext cx="42386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dirty="0"/>
              <a:t>切换中心人物构建图谱</a:t>
            </a:r>
            <a:endParaRPr sz="1800" b="1" dirty="0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content-40">
            <a:extLst>
              <a:ext uri="{FF2B5EF4-FFF2-40B4-BE49-F238E27FC236}">
                <a16:creationId xmlns:a16="http://schemas.microsoft.com/office/drawing/2014/main" id="{CCBD0AD8-76C4-493E-8A74-3815A6E475F3}"/>
              </a:ext>
            </a:extLst>
          </p:cNvPr>
          <p:cNvSpPr>
            <a:spLocks noGrp="1"/>
          </p:cNvSpPr>
          <p:nvPr/>
        </p:nvSpPr>
        <p:spPr>
          <a:xfrm>
            <a:off x="609600" y="5427058"/>
            <a:ext cx="423862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600" b="0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无须账号与联网</a:t>
            </a:r>
            <a:r>
              <a:rPr sz="1600" b="0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lang="zh-CN" altLang="en-US" sz="1600" b="0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数据均存于本地，</a:t>
            </a:r>
            <a:r>
              <a:rPr sz="1600" b="0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四套主题及明暗外观适应个人习惯</a:t>
            </a:r>
            <a:r>
              <a:rPr sz="1600" b="0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193F76D1-FE17-4ACA-BCF0-5FB149D954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65008" y="1638300"/>
            <a:ext cx="1855491" cy="4105275"/>
          </a:xfrm>
          <a:prstGeom prst="rect">
            <a:avLst/>
          </a:prstGeom>
        </p:spPr>
      </p:pic>
      <p:sp>
        <p:nvSpPr>
          <p:cNvPr id="18" name="content-42">
            <a:extLst>
              <a:ext uri="{FF2B5EF4-FFF2-40B4-BE49-F238E27FC236}">
                <a16:creationId xmlns:a16="http://schemas.microsoft.com/office/drawing/2014/main" id="{BB915138-3E34-4FC2-8073-2C79A9D3F55E}"/>
              </a:ext>
            </a:extLst>
          </p:cNvPr>
          <p:cNvSpPr>
            <a:spLocks noGrp="1"/>
          </p:cNvSpPr>
          <p:nvPr/>
        </p:nvSpPr>
        <p:spPr>
          <a:xfrm>
            <a:off x="9440216" y="5895975"/>
            <a:ext cx="2514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23000"/>
              </a:lnSpc>
              <a:buNone/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dirty="0"/>
              <a:t>以其他人物为中心构建图谱</a:t>
            </a:r>
            <a:endParaRPr sz="1400" b="0" dirty="0">
              <a:solidFill>
                <a:srgbClr val="56637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119717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1">
            <a:extLst>
              <a:ext uri="{FF2B5EF4-FFF2-40B4-BE49-F238E27FC236}">
                <a16:creationId xmlns:a16="http://schemas.microsoft.com/office/drawing/2014/main" id="{367D1E6A-CA8F-4315-9C8B-A821A5E222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def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buNone/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fld id="{BA58DA2A-B818-18A9-29C1-B697728D5BCE}" type="slidenum">
              <a: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8</a:t>
            </a:fld>
            <a:endParaRPr dirty="0"/>
          </a:p>
        </p:txBody>
      </p:sp>
      <p:sp>
        <p:nvSpPr>
          <p:cNvPr id="27" name="文本占位符 2">
            <a:extLst>
              <a:ext uri="{FF2B5EF4-FFF2-40B4-BE49-F238E27FC236}">
                <a16:creationId xmlns:a16="http://schemas.microsoft.com/office/drawing/2014/main" id="{DFEF6886-A31D-4844-A936-655D94B3C0D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lIns="91440" tIns="45720" rIns="91440" bIns="45720"/>
          <a:lstStyle>
            <a:def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创新性</a:t>
            </a:r>
            <a:endParaRPr/>
          </a:p>
        </p:txBody>
      </p:sp>
      <p:sp>
        <p:nvSpPr>
          <p:cNvPr id="28" name="content-43">
            <a:extLst>
              <a:ext uri="{FF2B5EF4-FFF2-40B4-BE49-F238E27FC236}">
                <a16:creationId xmlns:a16="http://schemas.microsoft.com/office/drawing/2014/main" id="{EF147F87-87BB-4E44-981E-458004DF7A02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接入的鸿蒙能力与实现方式</a:t>
            </a:r>
          </a:p>
        </p:txBody>
      </p:sp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FDDBF5FB-CE57-4503-B07A-F990C4C4CA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7898188"/>
              </p:ext>
            </p:extLst>
          </p:nvPr>
        </p:nvGraphicFramePr>
        <p:xfrm>
          <a:off x="609600" y="1724025"/>
          <a:ext cx="10972800" cy="3714750"/>
        </p:xfrm>
        <a:graphic>
          <a:graphicData uri="http://schemas.openxmlformats.org/drawingml/2006/table">
            <a:tbl>
              <a:tblPr firstRow="1"/>
              <a:tblGrid>
                <a:gridCol w="224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buNone/>
                      </a:pPr>
                      <a:r>
                        <a:rPr sz="1550" b="1">
                          <a:solidFill>
                            <a:srgbClr val="0F142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鸿蒙能力</a:t>
                      </a:r>
                    </a:p>
                  </a:txBody>
                  <a:tcPr anchor="ctr">
                    <a:lnL w="7620">
                      <a:solidFill>
                        <a:srgbClr val="DFEBEF"/>
                      </a:solidFill>
                      <a:prstDash val="solid"/>
                    </a:lnL>
                    <a:lnR w="7620">
                      <a:solidFill>
                        <a:srgbClr val="DFEBEF"/>
                      </a:solidFill>
                      <a:prstDash val="solid"/>
                    </a:lnR>
                    <a:lnT w="7620">
                      <a:solidFill>
                        <a:srgbClr val="DFEBEF"/>
                      </a:solidFill>
                      <a:prstDash val="solid"/>
                    </a:lnT>
                    <a:lnB w="7620">
                      <a:solidFill>
                        <a:srgbClr val="DFEBEF"/>
                      </a:solidFill>
                      <a:prstDash val="solid"/>
                    </a:lnB>
                    <a:solidFill>
                      <a:srgbClr val="E4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buNone/>
                      </a:pPr>
                      <a:r>
                        <a:rPr sz="1550" b="1">
                          <a:solidFill>
                            <a:srgbClr val="0F142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当前应用落点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FEBEF"/>
                      </a:solidFill>
                      <a:prstDash val="solid"/>
                    </a:lnR>
                    <a:lnT w="7620">
                      <a:solidFill>
                        <a:srgbClr val="DFEBEF"/>
                      </a:solidFill>
                      <a:prstDash val="solid"/>
                    </a:lnT>
                    <a:lnB w="7620">
                      <a:solidFill>
                        <a:srgbClr val="DFEBEF"/>
                      </a:solidFill>
                      <a:prstDash val="solid"/>
                    </a:lnB>
                    <a:solidFill>
                      <a:srgbClr val="E4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buNone/>
                      </a:pPr>
                      <a:r>
                        <a:rPr sz="1550" b="1">
                          <a:solidFill>
                            <a:srgbClr val="0F142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实现方式与边界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FEBEF"/>
                      </a:solidFill>
                      <a:prstDash val="solid"/>
                    </a:lnR>
                    <a:lnT w="7620">
                      <a:solidFill>
                        <a:srgbClr val="DFEBEF"/>
                      </a:solidFill>
                      <a:prstDash val="solid"/>
                    </a:lnT>
                    <a:lnB w="7620">
                      <a:solidFill>
                        <a:srgbClr val="DFEBEF"/>
                      </a:solidFill>
                      <a:prstDash val="solid"/>
                    </a:lnB>
                    <a:solidFill>
                      <a:srgbClr val="E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buNone/>
                      </a:pPr>
                      <a:r>
                        <a:rPr sz="1550" b="0">
                          <a:solidFill>
                            <a:srgbClr val="0F142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ArkTS / ArkUI</a:t>
                      </a:r>
                    </a:p>
                  </a:txBody>
                  <a:tcPr anchor="ctr">
                    <a:lnL w="7620">
                      <a:solidFill>
                        <a:srgbClr val="DFEBEF"/>
                      </a:solidFill>
                      <a:prstDash val="solid"/>
                    </a:lnL>
                    <a:lnR w="7620">
                      <a:solidFill>
                        <a:srgbClr val="DFEBEF"/>
                      </a:solidFill>
                      <a:prstDash val="solid"/>
                    </a:lnR>
                    <a:lnT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FEB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buNone/>
                      </a:pPr>
                      <a:r>
                        <a:rPr sz="1550" b="0">
                          <a:solidFill>
                            <a:srgbClr val="0F142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人物、事件、时间轴、详情与设置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FEBEF"/>
                      </a:solidFill>
                      <a:prstDash val="solid"/>
                    </a:lnR>
                    <a:lnT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FEB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buNone/>
                      </a:pPr>
                      <a:r>
                        <a:rPr sz="1550" b="0">
                          <a:solidFill>
                            <a:srgbClr val="0F142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原生页面，业务服务独立于界面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FEBEF"/>
                      </a:solidFill>
                      <a:prstDash val="solid"/>
                    </a:lnR>
                    <a:lnT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FEB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buNone/>
                      </a:pPr>
                      <a:r>
                        <a:rPr sz="1550" b="0">
                          <a:solidFill>
                            <a:srgbClr val="0F142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ArkData RDB</a:t>
                      </a:r>
                    </a:p>
                  </a:txBody>
                  <a:tcPr anchor="ctr">
                    <a:lnL w="7620">
                      <a:solidFill>
                        <a:srgbClr val="DFEBEF"/>
                      </a:solidFill>
                      <a:prstDash val="solid"/>
                    </a:lnL>
                    <a:lnR w="7620">
                      <a:solidFill>
                        <a:srgbClr val="DFEBEF"/>
                      </a:solidFill>
                      <a:prstDash val="solid"/>
                    </a:lnR>
                    <a:lnT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FEBEF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buNone/>
                      </a:pPr>
                      <a:r>
                        <a:rPr sz="1550" b="0">
                          <a:solidFill>
                            <a:srgbClr val="0F142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本地人物、事件及多表关联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FEBEF"/>
                      </a:solidFill>
                      <a:prstDash val="solid"/>
                    </a:lnR>
                    <a:lnT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FEBEF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buNone/>
                      </a:pPr>
                      <a:r>
                        <a:rPr sz="1550" b="0">
                          <a:solidFill>
                            <a:srgbClr val="0F142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参数化 SQL，串行事务与失败回滚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FEBEF"/>
                      </a:solidFill>
                      <a:prstDash val="solid"/>
                    </a:lnR>
                    <a:lnT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FEBEF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buNone/>
                      </a:pPr>
                      <a:r>
                        <a:rPr sz="1550" b="0">
                          <a:solidFill>
                            <a:srgbClr val="0F142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ArkWeb</a:t>
                      </a:r>
                    </a:p>
                  </a:txBody>
                  <a:tcPr anchor="ctr">
                    <a:lnL w="7620">
                      <a:solidFill>
                        <a:srgbClr val="DFEBEF"/>
                      </a:solidFill>
                      <a:prstDash val="solid"/>
                    </a:lnL>
                    <a:lnR w="7620">
                      <a:solidFill>
                        <a:srgbClr val="DFEBEF"/>
                      </a:solidFill>
                      <a:prstDash val="solid"/>
                    </a:lnR>
                    <a:lnT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FEB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buNone/>
                      </a:pPr>
                      <a:r>
                        <a:rPr sz="1550" b="0">
                          <a:solidFill>
                            <a:srgbClr val="0F142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包内 HTML、D3/SVG 关系图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FEBEF"/>
                      </a:solidFill>
                      <a:prstDash val="solid"/>
                    </a:lnR>
                    <a:lnT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FEB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buNone/>
                      </a:pPr>
                      <a:r>
                        <a:rPr sz="1550" b="0" dirty="0" err="1">
                          <a:solidFill>
                            <a:srgbClr val="0F142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</a:t>
                      </a:r>
                      <a:r>
                        <a:rPr sz="1550" b="0" dirty="0">
                          <a:solidFill>
                            <a:srgbClr val="0F142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Web </a:t>
                      </a:r>
                      <a:r>
                        <a:rPr sz="1550" b="0" dirty="0" err="1">
                          <a:solidFill>
                            <a:srgbClr val="0F142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绘图</a:t>
                      </a:r>
                      <a:endParaRPr sz="1550" b="0" dirty="0">
                        <a:solidFill>
                          <a:srgbClr val="0F1423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FEBEF"/>
                      </a:solidFill>
                      <a:prstDash val="solid"/>
                    </a:lnR>
                    <a:lnT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FEB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buNone/>
                      </a:pPr>
                      <a:r>
                        <a:rPr sz="1550" b="0">
                          <a:solidFill>
                            <a:srgbClr val="0F142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动态服务卡片</a:t>
                      </a:r>
                    </a:p>
                  </a:txBody>
                  <a:tcPr anchor="ctr">
                    <a:lnL w="7620">
                      <a:solidFill>
                        <a:srgbClr val="DFEBEF"/>
                      </a:solidFill>
                      <a:prstDash val="solid"/>
                    </a:lnL>
                    <a:lnR w="7620">
                      <a:solidFill>
                        <a:srgbClr val="DFEBEF"/>
                      </a:solidFill>
                      <a:prstDash val="solid"/>
                    </a:lnR>
                    <a:lnT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FEBEF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buNone/>
                      </a:pPr>
                      <a:r>
                        <a:rPr sz="1550" b="0">
                          <a:solidFill>
                            <a:srgbClr val="0F142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2×2 关系微图与点击直达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FEBEF"/>
                      </a:solidFill>
                      <a:prstDash val="solid"/>
                    </a:lnR>
                    <a:lnT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FEBEF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buNone/>
                      </a:pPr>
                      <a:r>
                        <a:rPr sz="1550" b="0">
                          <a:solidFill>
                            <a:srgbClr val="0F142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原生卡片，最多选择 6 位人物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FEBEF"/>
                      </a:solidFill>
                      <a:prstDash val="solid"/>
                    </a:lnR>
                    <a:lnT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FEBEF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buNone/>
                      </a:pPr>
                      <a:r>
                        <a:rPr sz="1550" b="0">
                          <a:solidFill>
                            <a:srgbClr val="0F142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媒体与文件能力</a:t>
                      </a:r>
                    </a:p>
                  </a:txBody>
                  <a:tcPr anchor="ctr">
                    <a:lnL w="7620">
                      <a:solidFill>
                        <a:srgbClr val="DFEBEF"/>
                      </a:solidFill>
                      <a:prstDash val="solid"/>
                    </a:lnL>
                    <a:lnR w="7620">
                      <a:solidFill>
                        <a:srgbClr val="DFEBEF"/>
                      </a:solidFill>
                      <a:prstDash val="solid"/>
                    </a:lnR>
                    <a:lnT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FEB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buNone/>
                      </a:pPr>
                      <a:r>
                        <a:rPr sz="1550" b="0">
                          <a:solidFill>
                            <a:srgbClr val="0F142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选择图片/音频、录音、播放、备份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FEBEF"/>
                      </a:solidFill>
                      <a:prstDash val="solid"/>
                    </a:lnR>
                    <a:lnT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FEB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buNone/>
                      </a:pPr>
                      <a:r>
                        <a:rPr sz="1550" b="0" dirty="0" err="1">
                          <a:solidFill>
                            <a:srgbClr val="0F142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附件复制到沙箱，录音按需授权</a:t>
                      </a:r>
                      <a:endParaRPr sz="1550" b="0" dirty="0">
                        <a:solidFill>
                          <a:srgbClr val="0F1423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FEBEF"/>
                      </a:solidFill>
                      <a:prstDash val="solid"/>
                    </a:lnR>
                    <a:lnT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FEB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" name="content-44">
            <a:extLst>
              <a:ext uri="{FF2B5EF4-FFF2-40B4-BE49-F238E27FC236}">
                <a16:creationId xmlns:a16="http://schemas.microsoft.com/office/drawing/2014/main" id="{8015C113-E628-4D19-BDFA-E3202BAE5A40}"/>
              </a:ext>
            </a:extLst>
          </p:cNvPr>
          <p:cNvSpPr>
            <a:spLocks noGrp="1"/>
          </p:cNvSpPr>
          <p:nvPr/>
        </p:nvSpPr>
        <p:spPr>
          <a:xfrm>
            <a:off x="609600" y="573405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5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5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5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5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5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5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5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5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5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5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75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1750" b="1" dirty="0" err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当前定位：离线记录工具，无账号、云同步或应用主动网络请求</a:t>
            </a:r>
            <a:endParaRPr sz="1750" b="1" dirty="0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119717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1">
            <a:extLst>
              <a:ext uri="{FF2B5EF4-FFF2-40B4-BE49-F238E27FC236}">
                <a16:creationId xmlns:a16="http://schemas.microsoft.com/office/drawing/2014/main" id="{C0EBB880-7DAA-4A44-8F05-4A0EA921D6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def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buNone/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fld id="{388657AE-30A1-5A7A-6A7F-315D84436430}" type="slidenum">
              <a: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9</a:t>
            </a:fld>
            <a:endParaRPr dirty="0"/>
          </a:p>
        </p:txBody>
      </p:sp>
      <p:sp>
        <p:nvSpPr>
          <p:cNvPr id="32" name="文本占位符 2">
            <a:extLst>
              <a:ext uri="{FF2B5EF4-FFF2-40B4-BE49-F238E27FC236}">
                <a16:creationId xmlns:a16="http://schemas.microsoft.com/office/drawing/2014/main" id="{5D8D87FD-4CF2-4227-8A84-80E097F71E0B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lIns="91440" tIns="45720" rIns="91440" bIns="45720"/>
          <a:lstStyle>
            <a:def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商业价值</a:t>
            </a:r>
            <a:endParaRPr/>
          </a:p>
        </p:txBody>
      </p:sp>
      <p:sp>
        <p:nvSpPr>
          <p:cNvPr id="33" name="content-45">
            <a:extLst>
              <a:ext uri="{FF2B5EF4-FFF2-40B4-BE49-F238E27FC236}">
                <a16:creationId xmlns:a16="http://schemas.microsoft.com/office/drawing/2014/main" id="{8982EA0F-A246-4EE2-84C5-4F90DC482CAA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21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 dirty="0" err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项目需求调研与商业探索</a:t>
            </a:r>
            <a:endParaRPr sz="2100" b="1" dirty="0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content-46">
            <a:extLst>
              <a:ext uri="{FF2B5EF4-FFF2-40B4-BE49-F238E27FC236}">
                <a16:creationId xmlns:a16="http://schemas.microsoft.com/office/drawing/2014/main" id="{86535235-EA7F-437C-8D50-0B6D97C897F8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5715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 dirty="0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问卷汇总（70 份）</a:t>
            </a:r>
          </a:p>
        </p:txBody>
      </p:sp>
      <p:graphicFrame>
        <p:nvGraphicFramePr>
          <p:cNvPr id="35" name="表格 34">
            <a:extLst>
              <a:ext uri="{FF2B5EF4-FFF2-40B4-BE49-F238E27FC236}">
                <a16:creationId xmlns:a16="http://schemas.microsoft.com/office/drawing/2014/main" id="{1EE4F1A2-8F6C-4F5B-9B0E-BABF7EE702E1}"/>
              </a:ext>
            </a:extLst>
          </p:cNvPr>
          <p:cNvGraphicFramePr/>
          <p:nvPr/>
        </p:nvGraphicFramePr>
        <p:xfrm>
          <a:off x="609600" y="2171700"/>
          <a:ext cx="5715000" cy="2114552"/>
        </p:xfrm>
        <a:graphic>
          <a:graphicData uri="http://schemas.openxmlformats.org/drawingml/2006/table">
            <a:tbl>
              <a:tblPr firstRow="1"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8638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buNone/>
                      </a:pPr>
                      <a:r>
                        <a:rPr sz="1600" b="1">
                          <a:solidFill>
                            <a:srgbClr val="0F142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需求反馈</a:t>
                      </a:r>
                    </a:p>
                  </a:txBody>
                  <a:tcPr anchor="ctr">
                    <a:lnL w="7620">
                      <a:solidFill>
                        <a:srgbClr val="DFEBEF"/>
                      </a:solidFill>
                      <a:prstDash val="solid"/>
                    </a:lnL>
                    <a:lnR w="7620">
                      <a:solidFill>
                        <a:srgbClr val="DFEBEF"/>
                      </a:solidFill>
                      <a:prstDash val="solid"/>
                    </a:lnR>
                    <a:lnT w="7620">
                      <a:solidFill>
                        <a:srgbClr val="DFEBEF"/>
                      </a:solidFill>
                      <a:prstDash val="solid"/>
                    </a:lnT>
                    <a:lnB w="7620">
                      <a:solidFill>
                        <a:srgbClr val="DFEBEF"/>
                      </a:solidFill>
                      <a:prstDash val="solid"/>
                    </a:lnB>
                    <a:solidFill>
                      <a:srgbClr val="E4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buNone/>
                      </a:pPr>
                      <a:r>
                        <a:rPr sz="1600" b="1">
                          <a:solidFill>
                            <a:srgbClr val="0F142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人数/样本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FEBEF"/>
                      </a:solidFill>
                      <a:prstDash val="solid"/>
                    </a:lnR>
                    <a:lnT w="7620">
                      <a:solidFill>
                        <a:srgbClr val="DFEBEF"/>
                      </a:solidFill>
                      <a:prstDash val="solid"/>
                    </a:lnT>
                    <a:lnB w="7620">
                      <a:solidFill>
                        <a:srgbClr val="DFEBEF"/>
                      </a:solidFill>
                      <a:prstDash val="solid"/>
                    </a:lnB>
                    <a:solidFill>
                      <a:srgbClr val="E4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buNone/>
                      </a:pPr>
                      <a:r>
                        <a:rPr sz="1600" b="1">
                          <a:solidFill>
                            <a:srgbClr val="0F142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占比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FEBEF"/>
                      </a:solidFill>
                      <a:prstDash val="solid"/>
                    </a:lnR>
                    <a:lnT w="7620">
                      <a:solidFill>
                        <a:srgbClr val="DFEBEF"/>
                      </a:solidFill>
                      <a:prstDash val="solid"/>
                    </a:lnT>
                    <a:lnB w="7620">
                      <a:solidFill>
                        <a:srgbClr val="DFEBEF"/>
                      </a:solidFill>
                      <a:prstDash val="solid"/>
                    </a:lnB>
                    <a:solidFill>
                      <a:srgbClr val="E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638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buNone/>
                      </a:pPr>
                      <a:r>
                        <a:rPr sz="1600" b="0">
                          <a:solidFill>
                            <a:srgbClr val="0F142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愿尝试图谱记录</a:t>
                      </a:r>
                    </a:p>
                  </a:txBody>
                  <a:tcPr anchor="ctr">
                    <a:lnL w="7620">
                      <a:solidFill>
                        <a:srgbClr val="DFEBEF"/>
                      </a:solidFill>
                      <a:prstDash val="solid"/>
                    </a:lnL>
                    <a:lnR w="7620">
                      <a:solidFill>
                        <a:srgbClr val="DFEBEF"/>
                      </a:solidFill>
                      <a:prstDash val="solid"/>
                    </a:lnR>
                    <a:lnT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FEB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buNone/>
                      </a:pPr>
                      <a:r>
                        <a:rPr sz="1600" b="0">
                          <a:solidFill>
                            <a:srgbClr val="0F142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51 / 70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FEBEF"/>
                      </a:solidFill>
                      <a:prstDash val="solid"/>
                    </a:lnR>
                    <a:lnT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FEB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buNone/>
                      </a:pPr>
                      <a:r>
                        <a:rPr sz="1600" b="0">
                          <a:solidFill>
                            <a:srgbClr val="0F142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72.9%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FEBEF"/>
                      </a:solidFill>
                      <a:prstDash val="solid"/>
                    </a:lnR>
                    <a:lnT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FEB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638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buNone/>
                      </a:pPr>
                      <a:r>
                        <a:rPr sz="1600" b="0">
                          <a:solidFill>
                            <a:srgbClr val="0F142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较需要共同记忆</a:t>
                      </a:r>
                    </a:p>
                  </a:txBody>
                  <a:tcPr anchor="ctr">
                    <a:lnL w="7620">
                      <a:solidFill>
                        <a:srgbClr val="DFEBEF"/>
                      </a:solidFill>
                      <a:prstDash val="solid"/>
                    </a:lnL>
                    <a:lnR w="7620">
                      <a:solidFill>
                        <a:srgbClr val="DFEBEF"/>
                      </a:solidFill>
                      <a:prstDash val="solid"/>
                    </a:lnR>
                    <a:lnT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FEBEF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buNone/>
                      </a:pPr>
                      <a:r>
                        <a:rPr sz="1600" b="0">
                          <a:solidFill>
                            <a:srgbClr val="0F142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47 / 70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FEBEF"/>
                      </a:solidFill>
                      <a:prstDash val="solid"/>
                    </a:lnR>
                    <a:lnT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FEBEF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buNone/>
                      </a:pPr>
                      <a:r>
                        <a:rPr sz="1600" b="0">
                          <a:solidFill>
                            <a:srgbClr val="0F142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67.1%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FEBEF"/>
                      </a:solidFill>
                      <a:prstDash val="solid"/>
                    </a:lnR>
                    <a:lnT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FEBEF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638"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buNone/>
                      </a:pPr>
                      <a:r>
                        <a:rPr sz="1600" b="0">
                          <a:solidFill>
                            <a:srgbClr val="0F142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愿为高级功能付费</a:t>
                      </a:r>
                    </a:p>
                  </a:txBody>
                  <a:tcPr anchor="ctr">
                    <a:lnL w="7620">
                      <a:solidFill>
                        <a:srgbClr val="DFEBEF"/>
                      </a:solidFill>
                      <a:prstDash val="solid"/>
                    </a:lnL>
                    <a:lnR w="7620">
                      <a:solidFill>
                        <a:srgbClr val="DFEBEF"/>
                      </a:solidFill>
                      <a:prstDash val="solid"/>
                    </a:lnR>
                    <a:lnT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FEB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buNone/>
                      </a:pPr>
                      <a:r>
                        <a:rPr sz="1600" b="0">
                          <a:solidFill>
                            <a:srgbClr val="0F142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 / 70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FEBEF"/>
                      </a:solidFill>
                      <a:prstDash val="solid"/>
                    </a:lnR>
                    <a:lnT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FEB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  <a:buNone/>
                      </a:pPr>
                      <a:r>
                        <a:rPr sz="1600" b="0">
                          <a:solidFill>
                            <a:srgbClr val="0F142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18.6%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FEBEF"/>
                      </a:solidFill>
                      <a:prstDash val="solid"/>
                    </a:lnR>
                    <a:lnT w="7620" cap="flat" cmpd="sng" algn="ctr">
                      <a:solidFill>
                        <a:srgbClr val="DF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FEB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content-47">
            <a:extLst>
              <a:ext uri="{FF2B5EF4-FFF2-40B4-BE49-F238E27FC236}">
                <a16:creationId xmlns:a16="http://schemas.microsoft.com/office/drawing/2014/main" id="{FB602B18-4DFF-4203-B8B9-9B1CB2B86F10}"/>
              </a:ext>
            </a:extLst>
          </p:cNvPr>
          <p:cNvSpPr>
            <a:spLocks noGrp="1"/>
          </p:cNvSpPr>
          <p:nvPr/>
        </p:nvSpPr>
        <p:spPr>
          <a:xfrm>
            <a:off x="609600" y="4543425"/>
            <a:ext cx="5715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pPr>
            <a:r>
              <a:rPr sz="1400" b="0" dirty="0">
                <a:solidFill>
                  <a:srgbClr val="566370"/>
                </a:solidFill>
                <a:latin typeface="微软雅黑"/>
                <a:ea typeface="微软雅黑"/>
                <a:cs typeface="微软雅黑"/>
              </a:rPr>
              <a:t>2026年收集，学生占 60 / 70。</a:t>
            </a:r>
          </a:p>
          <a:p>
            <a:pPr algn="l">
              <a:lnSpc>
                <a:spcPct val="123000"/>
              </a:lnSpc>
              <a:buNone/>
              <a:defRPr sz="1400" b="0">
                <a:solidFill>
                  <a:srgbClr val="566370"/>
                </a:solidFill>
                <a:latin typeface="微软雅黑"/>
                <a:ea typeface="微软雅黑"/>
                <a:cs typeface="微软雅黑"/>
              </a:defRPr>
            </a:pPr>
            <a:endParaRPr sz="1400" b="0" dirty="0">
              <a:solidFill>
                <a:srgbClr val="5663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content-48">
            <a:extLst>
              <a:ext uri="{FF2B5EF4-FFF2-40B4-BE49-F238E27FC236}">
                <a16:creationId xmlns:a16="http://schemas.microsoft.com/office/drawing/2014/main" id="{FDE6B7CD-7783-499F-B3ED-2DC24BA40BF4}"/>
              </a:ext>
            </a:extLst>
          </p:cNvPr>
          <p:cNvSpPr>
            <a:spLocks noGrp="1"/>
          </p:cNvSpPr>
          <p:nvPr/>
        </p:nvSpPr>
        <p:spPr>
          <a:xfrm>
            <a:off x="609600" y="5372100"/>
            <a:ext cx="5715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5 </a:t>
            </a:r>
            <a:r>
              <a:rPr sz="1600" b="0" dirty="0" err="1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人访谈提到记录难找、整理麻烦，也有人觉得图谱复杂</a:t>
            </a:r>
            <a:r>
              <a:rPr sz="1600" b="0" dirty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38" name="content-49">
            <a:extLst>
              <a:ext uri="{FF2B5EF4-FFF2-40B4-BE49-F238E27FC236}">
                <a16:creationId xmlns:a16="http://schemas.microsoft.com/office/drawing/2014/main" id="{296C0600-69D1-42BA-A004-B3499B9DB06F}"/>
              </a:ext>
            </a:extLst>
          </p:cNvPr>
          <p:cNvSpPr>
            <a:spLocks noGrp="1"/>
          </p:cNvSpPr>
          <p:nvPr/>
        </p:nvSpPr>
        <p:spPr>
          <a:xfrm>
            <a:off x="7010400" y="1666875"/>
            <a:ext cx="4572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优先用户</a:t>
            </a:r>
          </a:p>
        </p:txBody>
      </p:sp>
      <p:sp>
        <p:nvSpPr>
          <p:cNvPr id="39" name="content-50">
            <a:extLst>
              <a:ext uri="{FF2B5EF4-FFF2-40B4-BE49-F238E27FC236}">
                <a16:creationId xmlns:a16="http://schemas.microsoft.com/office/drawing/2014/main" id="{56D3A206-06EE-42E8-B8E8-DED4B72B2CDC}"/>
              </a:ext>
            </a:extLst>
          </p:cNvPr>
          <p:cNvSpPr>
            <a:spLocks noGrp="1"/>
          </p:cNvSpPr>
          <p:nvPr/>
        </p:nvSpPr>
        <p:spPr>
          <a:xfrm>
            <a:off x="7010400" y="2076450"/>
            <a:ext cx="4572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有记录习惯的学生与年轻人，关注与朋友、家人、同事的共同经历。</a:t>
            </a:r>
          </a:p>
        </p:txBody>
      </p:sp>
      <p:sp>
        <p:nvSpPr>
          <p:cNvPr id="40" name="content-51">
            <a:extLst>
              <a:ext uri="{FF2B5EF4-FFF2-40B4-BE49-F238E27FC236}">
                <a16:creationId xmlns:a16="http://schemas.microsoft.com/office/drawing/2014/main" id="{7F595A44-5C05-4162-A85D-D0895FBBA181}"/>
              </a:ext>
            </a:extLst>
          </p:cNvPr>
          <p:cNvSpPr>
            <a:spLocks noGrp="1"/>
          </p:cNvSpPr>
          <p:nvPr/>
        </p:nvSpPr>
        <p:spPr>
          <a:xfrm>
            <a:off x="7010400" y="3162300"/>
            <a:ext cx="4572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商业探索</a:t>
            </a:r>
          </a:p>
        </p:txBody>
      </p:sp>
      <p:sp>
        <p:nvSpPr>
          <p:cNvPr id="41" name="content-52">
            <a:extLst>
              <a:ext uri="{FF2B5EF4-FFF2-40B4-BE49-F238E27FC236}">
                <a16:creationId xmlns:a16="http://schemas.microsoft.com/office/drawing/2014/main" id="{D5AF28D8-C26C-4FEB-96E8-A657F26E0445}"/>
              </a:ext>
            </a:extLst>
          </p:cNvPr>
          <p:cNvSpPr>
            <a:spLocks noGrp="1"/>
          </p:cNvSpPr>
          <p:nvPr/>
        </p:nvSpPr>
        <p:spPr>
          <a:xfrm>
            <a:off x="7010400" y="3571875"/>
            <a:ext cx="4572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拟免费提供核心记录与关联浏览，探索主题、回忆导出等可选增值。先验证持续使用。</a:t>
            </a:r>
          </a:p>
        </p:txBody>
      </p:sp>
      <p:sp>
        <p:nvSpPr>
          <p:cNvPr id="42" name="content-53">
            <a:extLst>
              <a:ext uri="{FF2B5EF4-FFF2-40B4-BE49-F238E27FC236}">
                <a16:creationId xmlns:a16="http://schemas.microsoft.com/office/drawing/2014/main" id="{2877240D-1B31-49D8-89E9-7BD6C45E5C97}"/>
              </a:ext>
            </a:extLst>
          </p:cNvPr>
          <p:cNvSpPr>
            <a:spLocks noGrp="1"/>
          </p:cNvSpPr>
          <p:nvPr/>
        </p:nvSpPr>
        <p:spPr>
          <a:xfrm>
            <a:off x="7010400" y="4857750"/>
            <a:ext cx="4572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下一步验证</a:t>
            </a:r>
          </a:p>
        </p:txBody>
      </p:sp>
      <p:sp>
        <p:nvSpPr>
          <p:cNvPr id="43" name="content-54">
            <a:extLst>
              <a:ext uri="{FF2B5EF4-FFF2-40B4-BE49-F238E27FC236}">
                <a16:creationId xmlns:a16="http://schemas.microsoft.com/office/drawing/2014/main" id="{60007A88-0C67-45DE-BA44-1F0EDAD1E57D}"/>
              </a:ext>
            </a:extLst>
          </p:cNvPr>
          <p:cNvSpPr>
            <a:spLocks noGrp="1"/>
          </p:cNvSpPr>
          <p:nvPr/>
        </p:nvSpPr>
        <p:spPr>
          <a:xfrm>
            <a:off x="7010400" y="5267325"/>
            <a:ext cx="4572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23000"/>
              </a:lnSpc>
              <a:buNone/>
              <a:def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0F1423"/>
                </a:solidFill>
                <a:latin typeface="微软雅黑"/>
                <a:ea typeface="微软雅黑"/>
                <a:cs typeface="微软雅黑"/>
              </a:rPr>
              <a:t>通过小规模试用观察记录完成率、回顾频次和持续记录情况，再决定收费方式。</a:t>
            </a:r>
          </a:p>
        </p:txBody>
      </p:sp>
    </p:spTree>
    <p:extLst>
      <p:ext uri="{BB962C8B-B14F-4D97-AF65-F5344CB8AC3E}">
        <p14:creationId xmlns:p14="http://schemas.microsoft.com/office/powerpoint/2010/main" val="1476450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灯片编号占位符 1">
            <a:extLst>
              <a:ext uri="{FF2B5EF4-FFF2-40B4-BE49-F238E27FC236}">
                <a16:creationId xmlns:a16="http://schemas.microsoft.com/office/drawing/2014/main" id="{54419A1C-DAE5-4940-B181-29779FA861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def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buNone/>
              <a:def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fld id="{DB7BEEEC-A170-5376-2B6E-CB54687B0CB1}" type="slidenum">
              <a:rPr sz="12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10</a:t>
            </a:fld>
            <a:endParaRPr/>
          </a:p>
        </p:txBody>
      </p:sp>
      <p:sp>
        <p:nvSpPr>
          <p:cNvPr id="36" name="文本占位符 2">
            <a:extLst>
              <a:ext uri="{FF2B5EF4-FFF2-40B4-BE49-F238E27FC236}">
                <a16:creationId xmlns:a16="http://schemas.microsoft.com/office/drawing/2014/main" id="{4EA24CC7-E119-412F-9A29-92DAC86D3F10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lIns="91440" tIns="45720" rIns="91440" bIns="45720"/>
          <a:lstStyle>
            <a:def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buNone/>
              <a:def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Demo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2938D1-CF6A-44AC-8393-836EDA451D8B}"/>
              </a:ext>
            </a:extLst>
          </p:cNvPr>
          <p:cNvSpPr txBox="1"/>
          <p:nvPr/>
        </p:nvSpPr>
        <p:spPr>
          <a:xfrm>
            <a:off x="7693573" y="1261241"/>
            <a:ext cx="2932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i="1" dirty="0">
                <a:latin typeface="+mn-ea"/>
                <a:ea typeface="+mn-ea"/>
              </a:rPr>
              <a:t>注：演示视频为模拟器中的录制结果，为使观看时当前交互位置更清晰，保留了鼠标指针</a:t>
            </a:r>
          </a:p>
        </p:txBody>
      </p:sp>
      <p:pic>
        <p:nvPicPr>
          <p:cNvPr id="4" name="演示视频">
            <a:hlinkClick r:id="" action="ppaction://media"/>
            <a:extLst>
              <a:ext uri="{FF2B5EF4-FFF2-40B4-BE49-F238E27FC236}">
                <a16:creationId xmlns:a16="http://schemas.microsoft.com/office/drawing/2014/main" id="{BAFEAA68-8C9E-43D9-8D77-B3C43543A8A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048230" y="831943"/>
            <a:ext cx="3290617" cy="602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4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591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A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8">
            <a:extLst>
              <a:ext uri="{FF2B5EF4-FFF2-40B4-BE49-F238E27FC236}">
                <a16:creationId xmlns:a16="http://schemas.microsoft.com/office/drawing/2014/main" id="{BC20CC54-C0C8-491C-A96B-EDDFD7C15D62}"/>
              </a:ext>
            </a:extLst>
          </p:cNvPr>
          <p:cNvSpPr>
            <a:spLocks noGrp="1"/>
          </p:cNvSpPr>
          <p:nvPr/>
        </p:nvSpPr>
        <p:spPr>
          <a:xfrm>
            <a:off x="3557237" y="1942121"/>
            <a:ext cx="507752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</a:pPr>
            <a:r>
              <a:rPr sz="6600" b="1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谢  谢</a:t>
            </a:r>
            <a:endParaRPr sz="6600" b="1" i="0" u="none" strike="noStrike" kern="1200" cap="none" spc="0" baseline="0">
              <a:ln>
                <a:noFill/>
              </a:ln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灯片编号占位符 2">
            <a:extLst>
              <a:ext uri="{FF2B5EF4-FFF2-40B4-BE49-F238E27FC236}">
                <a16:creationId xmlns:a16="http://schemas.microsoft.com/office/drawing/2014/main" id="{A5710BC1-BD6C-44BF-9927-C5F27DF425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defPPr>
              <a:def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buNone/>
              <a:def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30394428-F1DC-E5F6-DB0C-7DE31F3D8A23}" type="slidenum">
              <a: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7159277"/>
      </p:ext>
    </p:extLst>
  </p:cSld>
  <p:clrMapOvr>
    <a:masterClrMapping/>
  </p:clrMapOvr>
</p:sld>
</file>

<file path=ppt/theme/theme1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489</Words>
  <Application>Microsoft Office PowerPoint</Application>
  <DocSecurity>0</DocSecurity>
  <PresentationFormat>宽屏</PresentationFormat>
  <Paragraphs>118</Paragraphs>
  <Slides>11</Slides>
  <Notes>11</Notes>
  <HiddenSlides>0</HiddenSlides>
  <MMClips>1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Source Han Sans CN Normal</vt:lpstr>
      <vt:lpstr>宋体</vt:lpstr>
      <vt:lpstr>微软雅黑</vt:lpstr>
      <vt:lpstr>Arial</vt:lpstr>
      <vt:lpstr>Calibri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>LifeGraph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生活脉络（Life Graph 鸿蒙版）</dc:title>
  <dc:subject>OH创新大赛赛道三作品提交</dc:subject>
  <dc:creator>LifeGraph</dc:creator>
  <cp:keywords>生活脉络,鸿蒙,离线记录,关系图谱</cp:keywords>
  <dc:description>离线生活记录、人物关系与共同经历回顾</dc:description>
  <cp:lastModifiedBy>陈柯男</cp:lastModifiedBy>
  <cp:revision>25</cp:revision>
  <dcterms:created xsi:type="dcterms:W3CDTF">2026-10-28T09:11:51Z</dcterms:created>
  <dcterms:modified xsi:type="dcterms:W3CDTF">2026-10-30T11:49:03Z</dcterms:modified>
</cp:coreProperties>
</file>