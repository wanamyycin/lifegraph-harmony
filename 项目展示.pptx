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13.svg" ContentType="image/svg+xml"/>
  <Override PartName="/ppt/media/image18.svg" ContentType="image/svg+xml"/>
  <Override PartName="/ppt/media/image2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7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/>
          </p:nvPr>
        </p:nvSpPr>
        <p:spPr>
          <a:xfrm>
            <a:off x="662016" y="5242000"/>
            <a:ext cx="5296132" cy="4288909"/>
          </a:xfrm>
          <a:prstGeom prst="rect">
            <a:avLst/>
          </a:prstGeom>
        </p:spPr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svg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svg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0" Type="http://schemas.openxmlformats.org/officeDocument/2006/relationships/notesSlide" Target="../notesSlides/notesSlide1.xml"/><Relationship Id="rId2" Type="http://schemas.openxmlformats.org/officeDocument/2006/relationships/tags" Target="../tags/tag2.xml"/><Relationship Id="rId19" Type="http://schemas.openxmlformats.org/officeDocument/2006/relationships/slideLayout" Target="../slideLayouts/slideLayout1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8.svg"/><Relationship Id="rId1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0372D"/>
          </a:solidFill>
        </p:spPr>
        <p:txBody>
          <a:bodyPr/>
          <a:p/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alphaModFix amt="55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67500" y="0"/>
            <a:ext cx="5524500" cy="6858000"/>
          </a:xfrm>
          <a:prstGeom prst="rect">
            <a:avLst/>
          </a:prstGeom>
        </p:spPr>
      </p:pic>
      <p:sp>
        <p:nvSpPr>
          <p:cNvPr id="4" name="文本框 3" descr="{&quot;isTemplate&quot;:true,&quot;type&quot;:&quot;text&quot;}"/>
          <p:cNvSpPr txBox="1"/>
          <p:nvPr/>
        </p:nvSpPr>
        <p:spPr>
          <a:xfrm>
            <a:off x="762000" y="990600"/>
            <a:ext cx="76200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9DB3A2"/>
                </a:solidFill>
                <a:latin typeface="微软雅黑" panose="020B0503020204020204" charset="-122"/>
                <a:ea typeface="微软雅黑" panose="020B0503020204020204" charset="-122"/>
              </a:rPr>
              <a:t>2026 </a:t>
            </a:r>
            <a:r>
              <a:rPr lang="zh-CN" sz="1125" spc="75">
                <a:solidFill>
                  <a:srgbClr val="9DB3A2"/>
                </a:solidFill>
                <a:latin typeface="微软雅黑" panose="020B0503020204020204" charset="-122"/>
                <a:ea typeface="微软雅黑" panose="020B0503020204020204" charset="-122"/>
              </a:rPr>
              <a:t>开源鸿蒙大学生创新大赛　｜　赛道三</a:t>
            </a:r>
            <a:r>
              <a:rPr lang="en-US" sz="1125" spc="75">
                <a:solidFill>
                  <a:srgbClr val="9DB3A2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125" spc="75">
                <a:solidFill>
                  <a:srgbClr val="9DB3A2"/>
                </a:solidFill>
                <a:latin typeface="微软雅黑" panose="020B0503020204020204" charset="-122"/>
                <a:ea typeface="微软雅黑" panose="020B0503020204020204" charset="-122"/>
              </a:rPr>
              <a:t>校园与创新应用</a:t>
            </a:r>
            <a:endParaRPr lang="zh-CN" sz="1125" spc="75">
              <a:solidFill>
                <a:srgbClr val="9DB3A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 descr="{&quot;isTemplate&quot;:true,&quot;type&quot;:&quot;text&quot;}"/>
          <p:cNvSpPr txBox="1"/>
          <p:nvPr/>
        </p:nvSpPr>
        <p:spPr>
          <a:xfrm>
            <a:off x="762000" y="1390650"/>
            <a:ext cx="7620000" cy="11620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5000"/>
              </a:lnSpc>
            </a:pPr>
            <a:r>
              <a:rPr lang="zh-CN" sz="6600" b="1" spc="300">
                <a:solidFill>
                  <a:srgbClr val="F5F2E8"/>
                </a:solidFill>
                <a:latin typeface="微软雅黑" panose="020B0503020204020204" charset="-122"/>
                <a:ea typeface="微软雅黑" panose="020B0503020204020204" charset="-122"/>
              </a:rPr>
              <a:t>生活脉络</a:t>
            </a:r>
            <a:endParaRPr lang="zh-CN" sz="6600" b="1" spc="300">
              <a:solidFill>
                <a:srgbClr val="F5F2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 descr="{&quot;isTemplate&quot;:true,&quot;type&quot;:&quot;text&quot;}"/>
          <p:cNvSpPr txBox="1"/>
          <p:nvPr/>
        </p:nvSpPr>
        <p:spPr>
          <a:xfrm>
            <a:off x="762000" y="2686050"/>
            <a:ext cx="76200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spc="675">
                <a:solidFill>
                  <a:srgbClr val="D79A73"/>
                </a:solidFill>
                <a:latin typeface="微软雅黑" panose="020B0503020204020204" charset="-122"/>
                <a:ea typeface="微软雅黑" panose="020B0503020204020204" charset="-122"/>
              </a:rPr>
              <a:t>LIFE GRAPH</a:t>
            </a:r>
            <a:endParaRPr lang="en-US" sz="1650" spc="675">
              <a:solidFill>
                <a:srgbClr val="D79A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762000" y="3190875"/>
            <a:ext cx="533400" cy="19050"/>
          </a:xfrm>
          <a:prstGeom prst="rect">
            <a:avLst/>
          </a:prstGeom>
          <a:solidFill>
            <a:srgbClr val="4E6B5C"/>
          </a:solidFill>
        </p:spPr>
        <p:txBody>
          <a:bodyPr/>
          <a:p/>
        </p:txBody>
      </p:sp>
      <p:sp>
        <p:nvSpPr>
          <p:cNvPr id="8" name="文本框 7" descr="{&quot;isTemplate&quot;:true,&quot;type&quot;:&quot;text&quot;}"/>
          <p:cNvSpPr txBox="1"/>
          <p:nvPr/>
        </p:nvSpPr>
        <p:spPr>
          <a:xfrm>
            <a:off x="762000" y="3419475"/>
            <a:ext cx="5334000" cy="8858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800">
                <a:solidFill>
                  <a:srgbClr val="C6D3C7"/>
                </a:solidFill>
                <a:latin typeface="微软雅黑" panose="020B0503020204020204" charset="-122"/>
                <a:ea typeface="微软雅黑" panose="020B0503020204020204" charset="-122"/>
              </a:rPr>
              <a:t>把重要的人与事，</a:t>
            </a:r>
            <a:endParaRPr lang="zh-CN" sz="1800">
              <a:solidFill>
                <a:srgbClr val="C6D3C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60000"/>
              </a:lnSpc>
            </a:pPr>
            <a:r>
              <a:rPr lang="zh-CN" sz="1800">
                <a:solidFill>
                  <a:srgbClr val="C6D3C7"/>
                </a:solidFill>
                <a:latin typeface="微软雅黑" panose="020B0503020204020204" charset="-122"/>
                <a:ea typeface="微软雅黑" panose="020B0503020204020204" charset="-122"/>
              </a:rPr>
              <a:t>留在生活的脉络里。</a:t>
            </a:r>
            <a:endParaRPr lang="zh-CN" sz="1800">
              <a:solidFill>
                <a:srgbClr val="C6D3C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762000" y="5676900"/>
            <a:ext cx="5905500" cy="9525"/>
          </a:xfrm>
          <a:prstGeom prst="rect">
            <a:avLst/>
          </a:prstGeom>
          <a:solidFill>
            <a:srgbClr val="3A5346"/>
          </a:solidFill>
        </p:spPr>
        <p:txBody>
          <a:bodyPr/>
          <a:p/>
        </p:txBody>
      </p:sp>
      <p:sp>
        <p:nvSpPr>
          <p:cNvPr id="10" name="文本框 9" descr="{&quot;isTemplate&quot;:true,&quot;type&quot;:&quot;text&quot;}"/>
          <p:cNvSpPr txBox="1"/>
          <p:nvPr/>
        </p:nvSpPr>
        <p:spPr>
          <a:xfrm>
            <a:off x="762000" y="5857875"/>
            <a:ext cx="59055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8FA695"/>
                </a:solidFill>
                <a:latin typeface="微软雅黑" panose="020B0503020204020204" charset="-122"/>
                <a:ea typeface="微软雅黑" panose="020B0503020204020204" charset="-122"/>
              </a:rPr>
              <a:t>HarmonyOS </a:t>
            </a:r>
            <a:r>
              <a:rPr lang="zh-CN" sz="1050">
                <a:solidFill>
                  <a:srgbClr val="8FA695"/>
                </a:solidFill>
                <a:latin typeface="微软雅黑" panose="020B0503020204020204" charset="-122"/>
                <a:ea typeface="微软雅黑" panose="020B0503020204020204" charset="-122"/>
              </a:rPr>
              <a:t>原生应用　｜　版本</a:t>
            </a:r>
            <a:r>
              <a:rPr lang="en-US" sz="1050">
                <a:solidFill>
                  <a:srgbClr val="8FA695"/>
                </a:solidFill>
                <a:latin typeface="微软雅黑" panose="020B0503020204020204" charset="-122"/>
                <a:ea typeface="微软雅黑" panose="020B0503020204020204" charset="-122"/>
              </a:rPr>
              <a:t> 1.0.0</a:t>
            </a:r>
            <a:r>
              <a:rPr lang="zh-CN" sz="1050">
                <a:solidFill>
                  <a:srgbClr val="8FA695"/>
                </a:solidFill>
                <a:latin typeface="微软雅黑" panose="020B0503020204020204" charset="-122"/>
                <a:ea typeface="微软雅黑" panose="020B0503020204020204" charset="-122"/>
              </a:rPr>
              <a:t>，已上架华为应用市场</a:t>
            </a:r>
            <a:endParaRPr lang="zh-CN" sz="1050">
              <a:solidFill>
                <a:srgbClr val="8FA69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60000"/>
              </a:lnSpc>
            </a:pPr>
            <a:r>
              <a:rPr lang="en-US" sz="1050">
                <a:solidFill>
                  <a:srgbClr val="8FA695"/>
                </a:solidFill>
                <a:latin typeface="微软雅黑" panose="020B0503020204020204" charset="-122"/>
                <a:ea typeface="微软雅黑" panose="020B0503020204020204" charset="-122"/>
              </a:rPr>
              <a:t>LifeGraph </a:t>
            </a:r>
            <a:r>
              <a:rPr lang="zh-CN" sz="1050">
                <a:solidFill>
                  <a:srgbClr val="8FA695"/>
                </a:solidFill>
                <a:latin typeface="微软雅黑" panose="020B0503020204020204" charset="-122"/>
                <a:ea typeface="微软雅黑" panose="020B0503020204020204" charset="-122"/>
              </a:rPr>
              <a:t>团队　｜　</a:t>
            </a:r>
            <a:r>
              <a:rPr lang="en-US" sz="1050">
                <a:solidFill>
                  <a:srgbClr val="8FA695"/>
                </a:solidFill>
                <a:latin typeface="微软雅黑" panose="020B0503020204020204" charset="-122"/>
                <a:ea typeface="微软雅黑" panose="020B0503020204020204" charset="-122"/>
              </a:rPr>
              <a:t>2026 </a:t>
            </a:r>
            <a:r>
              <a:rPr lang="zh-CN" sz="1050">
                <a:solidFill>
                  <a:srgbClr val="8FA695"/>
                </a:solidFill>
                <a:latin typeface="微软雅黑" panose="020B0503020204020204" charset="-122"/>
                <a:ea typeface="微软雅黑" panose="020B0503020204020204" charset="-122"/>
              </a:rPr>
              <a:t>年</a:t>
            </a:r>
            <a:r>
              <a:rPr lang="en-US" sz="1050">
                <a:solidFill>
                  <a:srgbClr val="8FA695"/>
                </a:solidFill>
                <a:latin typeface="微软雅黑" panose="020B0503020204020204" charset="-122"/>
                <a:ea typeface="微软雅黑" panose="020B0503020204020204" charset="-122"/>
              </a:rPr>
              <a:t> 10 </a:t>
            </a:r>
            <a:r>
              <a:rPr lang="zh-CN" sz="1050">
                <a:solidFill>
                  <a:srgbClr val="8FA695"/>
                </a:solidFill>
                <a:latin typeface="微软雅黑" panose="020B0503020204020204" charset="-122"/>
                <a:ea typeface="微软雅黑" panose="020B0503020204020204" charset="-122"/>
              </a:rPr>
              <a:t>月</a:t>
            </a:r>
            <a:endParaRPr lang="zh-CN" sz="1050">
              <a:solidFill>
                <a:srgbClr val="8FA69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rcRect t="82" b="82"/>
          <a:stretch>
            <a:fillRect/>
          </a:stretch>
        </p:blipFill>
        <p:spPr>
          <a:xfrm>
            <a:off x="8858250" y="762000"/>
            <a:ext cx="2628900" cy="5334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矩形 28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8F2"/>
          </a:solidFill>
        </p:spPr>
        <p:txBody>
          <a:bodyPr/>
          <a:p/>
        </p:txBody>
      </p:sp>
      <p:sp>
        <p:nvSpPr>
          <p:cNvPr id="289" name="文本框 288" descr="{&quot;isTemplate&quot;:true,&quot;type&quot;:&quot;text&quot;}"/>
          <p:cNvSpPr txBox="1"/>
          <p:nvPr/>
        </p:nvSpPr>
        <p:spPr>
          <a:xfrm>
            <a:off x="571500" y="1257300"/>
            <a:ext cx="2857500" cy="647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200" b="1" spc="450">
                <a:solidFill>
                  <a:srgbClr val="1F2B26"/>
                </a:solidFill>
                <a:latin typeface="微软雅黑" panose="020B0503020204020204" charset="-122"/>
                <a:ea typeface="微软雅黑" panose="020B0503020204020204" charset="-122"/>
              </a:rPr>
              <a:t>目录</a:t>
            </a:r>
            <a:endParaRPr lang="zh-CN" sz="4200" b="1" spc="450">
              <a:solidFill>
                <a:srgbClr val="1F2B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0" name="文本框 289" descr="{&quot;isTemplate&quot;:true,&quot;type&quot;:&quot;text&quot;}"/>
          <p:cNvSpPr txBox="1"/>
          <p:nvPr/>
        </p:nvSpPr>
        <p:spPr>
          <a:xfrm>
            <a:off x="571500" y="2057400"/>
            <a:ext cx="28575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450">
                <a:solidFill>
                  <a:srgbClr val="9AA69D"/>
                </a:solidFill>
                <a:latin typeface="微软雅黑" panose="020B0503020204020204" charset="-122"/>
                <a:ea typeface="微软雅黑" panose="020B0503020204020204" charset="-122"/>
              </a:rPr>
              <a:t>CONTENTS</a:t>
            </a:r>
            <a:endParaRPr lang="en-US" sz="975" spc="450">
              <a:solidFill>
                <a:srgbClr val="9AA69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1" name="矩形 290"/>
          <p:cNvSpPr/>
          <p:nvPr/>
        </p:nvSpPr>
        <p:spPr>
          <a:xfrm>
            <a:off x="571500" y="2457450"/>
            <a:ext cx="457200" cy="19050"/>
          </a:xfrm>
          <a:prstGeom prst="rect">
            <a:avLst/>
          </a:prstGeom>
          <a:solidFill>
            <a:srgbClr val="C05F38"/>
          </a:solidFill>
        </p:spPr>
        <p:txBody>
          <a:bodyPr/>
          <a:p/>
        </p:txBody>
      </p:sp>
      <p:sp>
        <p:nvSpPr>
          <p:cNvPr id="292" name="任意多边形 291"/>
          <p:cNvSpPr/>
          <p:nvPr/>
        </p:nvSpPr>
        <p:spPr>
          <a:xfrm>
            <a:off x="4095750" y="1219200"/>
            <a:ext cx="7524750" cy="742950"/>
          </a:xfrm>
          <a:custGeom>
            <a:avLst/>
            <a:gdLst/>
            <a:ahLst/>
            <a:cxnLst/>
            <a:pathLst>
              <a:path w="790" h="78">
                <a:moveTo>
                  <a:pt x="0" y="77"/>
                </a:moveTo>
                <a:lnTo>
                  <a:pt x="790" y="77"/>
                </a:lnTo>
                <a:lnTo>
                  <a:pt x="790" y="78"/>
                </a:lnTo>
                <a:lnTo>
                  <a:pt x="0" y="78"/>
                </a:lnTo>
                <a:close/>
              </a:path>
            </a:pathLst>
          </a:custGeom>
          <a:solidFill>
            <a:srgbClr val="E2E6DF"/>
          </a:solidFill>
        </p:spPr>
        <p:txBody>
          <a:bodyPr/>
          <a:p/>
        </p:txBody>
      </p:sp>
      <p:sp>
        <p:nvSpPr>
          <p:cNvPr id="293" name="文本框 292" descr="{&quot;isTemplate&quot;:true,&quot;type&quot;:&quot;text&quot;}"/>
          <p:cNvSpPr txBox="1"/>
          <p:nvPr/>
        </p:nvSpPr>
        <p:spPr>
          <a:xfrm>
            <a:off x="4095750" y="1457325"/>
            <a:ext cx="7048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C05F38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sz="1650" b="1">
              <a:solidFill>
                <a:srgbClr val="C05F3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4" name="文本框 293" descr="{&quot;isTemplate&quot;:true,&quot;type&quot;:&quot;text&quot;}"/>
          <p:cNvSpPr txBox="1"/>
          <p:nvPr/>
        </p:nvSpPr>
        <p:spPr>
          <a:xfrm>
            <a:off x="4800600" y="1428750"/>
            <a:ext cx="6638925" cy="3238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1F2B26"/>
                </a:solidFill>
                <a:latin typeface="微软雅黑" panose="020B0503020204020204" charset="-122"/>
                <a:ea typeface="微软雅黑" panose="020B0503020204020204" charset="-122"/>
              </a:rPr>
              <a:t>项目概览</a:t>
            </a:r>
            <a:endParaRPr lang="zh-CN" sz="2100" b="1">
              <a:solidFill>
                <a:srgbClr val="1F2B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5" name="文本框 294" descr="{&quot;isTemplate&quot;:true,&quot;type&quot;:&quot;text&quot;}"/>
          <p:cNvSpPr txBox="1"/>
          <p:nvPr/>
        </p:nvSpPr>
        <p:spPr>
          <a:xfrm>
            <a:off x="11439525" y="1495425"/>
            <a:ext cx="1809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9AA69D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sz="1200">
              <a:solidFill>
                <a:srgbClr val="9AA69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6" name="任意多边形 295"/>
          <p:cNvSpPr/>
          <p:nvPr/>
        </p:nvSpPr>
        <p:spPr>
          <a:xfrm>
            <a:off x="4095750" y="1962150"/>
            <a:ext cx="7524750" cy="742950"/>
          </a:xfrm>
          <a:custGeom>
            <a:avLst/>
            <a:gdLst/>
            <a:ahLst/>
            <a:cxnLst/>
            <a:pathLst>
              <a:path w="790" h="78">
                <a:moveTo>
                  <a:pt x="0" y="77"/>
                </a:moveTo>
                <a:lnTo>
                  <a:pt x="790" y="77"/>
                </a:lnTo>
                <a:lnTo>
                  <a:pt x="790" y="78"/>
                </a:lnTo>
                <a:lnTo>
                  <a:pt x="0" y="78"/>
                </a:lnTo>
                <a:close/>
              </a:path>
            </a:pathLst>
          </a:custGeom>
          <a:solidFill>
            <a:srgbClr val="E2E6DF"/>
          </a:solidFill>
        </p:spPr>
        <p:txBody>
          <a:bodyPr/>
          <a:p/>
        </p:txBody>
      </p:sp>
      <p:sp>
        <p:nvSpPr>
          <p:cNvPr id="297" name="文本框 296" descr="{&quot;isTemplate&quot;:true,&quot;type&quot;:&quot;text&quot;}"/>
          <p:cNvSpPr txBox="1"/>
          <p:nvPr/>
        </p:nvSpPr>
        <p:spPr>
          <a:xfrm>
            <a:off x="4095750" y="2200275"/>
            <a:ext cx="7048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C05F38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sz="1650" b="1">
              <a:solidFill>
                <a:srgbClr val="C05F3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8" name="文本框 297" descr="{&quot;isTemplate&quot;:true,&quot;type&quot;:&quot;text&quot;}"/>
          <p:cNvSpPr txBox="1"/>
          <p:nvPr/>
        </p:nvSpPr>
        <p:spPr>
          <a:xfrm>
            <a:off x="4800600" y="2171700"/>
            <a:ext cx="6638925" cy="3238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1F2B26"/>
                </a:solidFill>
                <a:latin typeface="微软雅黑" panose="020B0503020204020204" charset="-122"/>
                <a:ea typeface="微软雅黑" panose="020B0503020204020204" charset="-122"/>
              </a:rPr>
              <a:t>用户洞察</a:t>
            </a:r>
            <a:endParaRPr lang="zh-CN" sz="2100" b="1">
              <a:solidFill>
                <a:srgbClr val="1F2B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9" name="文本框 298" descr="{&quot;isTemplate&quot;:true,&quot;type&quot;:&quot;text&quot;}"/>
          <p:cNvSpPr txBox="1"/>
          <p:nvPr/>
        </p:nvSpPr>
        <p:spPr>
          <a:xfrm>
            <a:off x="11439525" y="2238375"/>
            <a:ext cx="1809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9AA69D"/>
                </a:solidFill>
                <a:latin typeface="微软雅黑" panose="020B0503020204020204" charset="-122"/>
                <a:ea typeface="微软雅黑" panose="020B0503020204020204" charset="-122"/>
              </a:rPr>
              <a:t>06</a:t>
            </a:r>
            <a:endParaRPr lang="en-US" sz="1200">
              <a:solidFill>
                <a:srgbClr val="9AA69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0" name="任意多边形 299"/>
          <p:cNvSpPr/>
          <p:nvPr/>
        </p:nvSpPr>
        <p:spPr>
          <a:xfrm>
            <a:off x="4095750" y="2705100"/>
            <a:ext cx="7524750" cy="742950"/>
          </a:xfrm>
          <a:custGeom>
            <a:avLst/>
            <a:gdLst/>
            <a:ahLst/>
            <a:cxnLst/>
            <a:pathLst>
              <a:path w="790" h="78">
                <a:moveTo>
                  <a:pt x="0" y="77"/>
                </a:moveTo>
                <a:lnTo>
                  <a:pt x="790" y="77"/>
                </a:lnTo>
                <a:lnTo>
                  <a:pt x="790" y="78"/>
                </a:lnTo>
                <a:lnTo>
                  <a:pt x="0" y="78"/>
                </a:lnTo>
                <a:close/>
              </a:path>
            </a:pathLst>
          </a:custGeom>
          <a:solidFill>
            <a:srgbClr val="E2E6DF"/>
          </a:solidFill>
        </p:spPr>
        <p:txBody>
          <a:bodyPr/>
          <a:p/>
        </p:txBody>
      </p:sp>
      <p:sp>
        <p:nvSpPr>
          <p:cNvPr id="301" name="文本框 300" descr="{&quot;isTemplate&quot;:true,&quot;type&quot;:&quot;text&quot;}"/>
          <p:cNvSpPr txBox="1"/>
          <p:nvPr/>
        </p:nvSpPr>
        <p:spPr>
          <a:xfrm>
            <a:off x="4095750" y="2943225"/>
            <a:ext cx="7048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C05F38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sz="1650" b="1">
              <a:solidFill>
                <a:srgbClr val="C05F3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2" name="文本框 301" descr="{&quot;isTemplate&quot;:true,&quot;type&quot;:&quot;text&quot;}"/>
          <p:cNvSpPr txBox="1"/>
          <p:nvPr/>
        </p:nvSpPr>
        <p:spPr>
          <a:xfrm>
            <a:off x="4800600" y="2914650"/>
            <a:ext cx="6638925" cy="3238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1F2B26"/>
                </a:solidFill>
                <a:latin typeface="微软雅黑" panose="020B0503020204020204" charset="-122"/>
                <a:ea typeface="微软雅黑" panose="020B0503020204020204" charset="-122"/>
              </a:rPr>
              <a:t>创新设计</a:t>
            </a:r>
            <a:endParaRPr lang="zh-CN" sz="2100" b="1">
              <a:solidFill>
                <a:srgbClr val="1F2B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3" name="文本框 302" descr="{&quot;isTemplate&quot;:true,&quot;type&quot;:&quot;text&quot;}"/>
          <p:cNvSpPr txBox="1"/>
          <p:nvPr/>
        </p:nvSpPr>
        <p:spPr>
          <a:xfrm>
            <a:off x="11439525" y="2981325"/>
            <a:ext cx="1809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9AA69D"/>
                </a:solidFill>
                <a:latin typeface="微软雅黑" panose="020B0503020204020204" charset="-122"/>
                <a:ea typeface="微软雅黑" panose="020B0503020204020204" charset="-122"/>
              </a:rPr>
              <a:t>09</a:t>
            </a:r>
            <a:endParaRPr lang="en-US" sz="1200">
              <a:solidFill>
                <a:srgbClr val="9AA69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4" name="任意多边形 303"/>
          <p:cNvSpPr/>
          <p:nvPr/>
        </p:nvSpPr>
        <p:spPr>
          <a:xfrm>
            <a:off x="4095750" y="3448050"/>
            <a:ext cx="7524750" cy="742950"/>
          </a:xfrm>
          <a:custGeom>
            <a:avLst/>
            <a:gdLst/>
            <a:ahLst/>
            <a:cxnLst/>
            <a:pathLst>
              <a:path w="790" h="78">
                <a:moveTo>
                  <a:pt x="0" y="77"/>
                </a:moveTo>
                <a:lnTo>
                  <a:pt x="790" y="77"/>
                </a:lnTo>
                <a:lnTo>
                  <a:pt x="790" y="78"/>
                </a:lnTo>
                <a:lnTo>
                  <a:pt x="0" y="78"/>
                </a:lnTo>
                <a:close/>
              </a:path>
            </a:pathLst>
          </a:custGeom>
          <a:solidFill>
            <a:srgbClr val="E2E6DF"/>
          </a:solidFill>
        </p:spPr>
        <p:txBody>
          <a:bodyPr/>
          <a:p/>
        </p:txBody>
      </p:sp>
      <p:sp>
        <p:nvSpPr>
          <p:cNvPr id="305" name="文本框 304" descr="{&quot;isTemplate&quot;:true,&quot;type&quot;:&quot;text&quot;}"/>
          <p:cNvSpPr txBox="1"/>
          <p:nvPr/>
        </p:nvSpPr>
        <p:spPr>
          <a:xfrm>
            <a:off x="4095750" y="3686175"/>
            <a:ext cx="7048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C05F38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lang="en-US" sz="1650" b="1">
              <a:solidFill>
                <a:srgbClr val="C05F3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6" name="文本框 305" descr="{&quot;isTemplate&quot;:true,&quot;type&quot;:&quot;text&quot;}"/>
          <p:cNvSpPr txBox="1"/>
          <p:nvPr/>
        </p:nvSpPr>
        <p:spPr>
          <a:xfrm>
            <a:off x="4800600" y="3657600"/>
            <a:ext cx="6638925" cy="3238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1F2B26"/>
                </a:solidFill>
                <a:latin typeface="微软雅黑" panose="020B0503020204020204" charset="-122"/>
                <a:ea typeface="微软雅黑" panose="020B0503020204020204" charset="-122"/>
              </a:rPr>
              <a:t>技术实现</a:t>
            </a:r>
            <a:endParaRPr lang="zh-CN" sz="2100" b="1">
              <a:solidFill>
                <a:srgbClr val="1F2B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7" name="文本框 306" descr="{&quot;isTemplate&quot;:true,&quot;type&quot;:&quot;text&quot;}"/>
          <p:cNvSpPr txBox="1"/>
          <p:nvPr/>
        </p:nvSpPr>
        <p:spPr>
          <a:xfrm>
            <a:off x="11439525" y="3724275"/>
            <a:ext cx="1809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9AA69D"/>
                </a:solidFill>
                <a:latin typeface="微软雅黑" panose="020B0503020204020204" charset="-122"/>
                <a:ea typeface="微软雅黑" panose="020B0503020204020204" charset="-122"/>
              </a:rPr>
              <a:t>13</a:t>
            </a:r>
            <a:endParaRPr lang="en-US" sz="1200">
              <a:solidFill>
                <a:srgbClr val="9AA69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8" name="任意多边形 307"/>
          <p:cNvSpPr/>
          <p:nvPr/>
        </p:nvSpPr>
        <p:spPr>
          <a:xfrm>
            <a:off x="4095750" y="4191000"/>
            <a:ext cx="7524750" cy="742950"/>
          </a:xfrm>
          <a:custGeom>
            <a:avLst/>
            <a:gdLst/>
            <a:ahLst/>
            <a:cxnLst/>
            <a:pathLst>
              <a:path w="790" h="78">
                <a:moveTo>
                  <a:pt x="0" y="77"/>
                </a:moveTo>
                <a:lnTo>
                  <a:pt x="790" y="77"/>
                </a:lnTo>
                <a:lnTo>
                  <a:pt x="790" y="78"/>
                </a:lnTo>
                <a:lnTo>
                  <a:pt x="0" y="78"/>
                </a:lnTo>
                <a:close/>
              </a:path>
            </a:pathLst>
          </a:custGeom>
          <a:solidFill>
            <a:srgbClr val="E2E6DF"/>
          </a:solidFill>
        </p:spPr>
        <p:txBody>
          <a:bodyPr/>
          <a:p/>
        </p:txBody>
      </p:sp>
      <p:sp>
        <p:nvSpPr>
          <p:cNvPr id="309" name="文本框 308" descr="{&quot;isTemplate&quot;:true,&quot;type&quot;:&quot;text&quot;}"/>
          <p:cNvSpPr txBox="1"/>
          <p:nvPr/>
        </p:nvSpPr>
        <p:spPr>
          <a:xfrm>
            <a:off x="4095750" y="4429125"/>
            <a:ext cx="7048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C05F38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lang="en-US" sz="1650" b="1">
              <a:solidFill>
                <a:srgbClr val="C05F3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0" name="文本框 309" descr="{&quot;isTemplate&quot;:true,&quot;type&quot;:&quot;text&quot;}"/>
          <p:cNvSpPr txBox="1"/>
          <p:nvPr/>
        </p:nvSpPr>
        <p:spPr>
          <a:xfrm>
            <a:off x="4800600" y="4400550"/>
            <a:ext cx="6638925" cy="3238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1F2B26"/>
                </a:solidFill>
                <a:latin typeface="微软雅黑" panose="020B0503020204020204" charset="-122"/>
                <a:ea typeface="微软雅黑" panose="020B0503020204020204" charset="-122"/>
              </a:rPr>
              <a:t>工程质量</a:t>
            </a:r>
            <a:endParaRPr lang="zh-CN" sz="2100" b="1">
              <a:solidFill>
                <a:srgbClr val="1F2B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1" name="文本框 310" descr="{&quot;isTemplate&quot;:true,&quot;type&quot;:&quot;text&quot;}"/>
          <p:cNvSpPr txBox="1"/>
          <p:nvPr/>
        </p:nvSpPr>
        <p:spPr>
          <a:xfrm>
            <a:off x="11439525" y="4467225"/>
            <a:ext cx="1809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9AA69D"/>
                </a:solidFill>
                <a:latin typeface="微软雅黑" panose="020B0503020204020204" charset="-122"/>
                <a:ea typeface="微软雅黑" panose="020B0503020204020204" charset="-122"/>
              </a:rPr>
              <a:t>16</a:t>
            </a:r>
            <a:endParaRPr lang="en-US" sz="1200">
              <a:solidFill>
                <a:srgbClr val="9AA69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2" name="文本框 311" descr="{&quot;isTemplate&quot;:true,&quot;type&quot;:&quot;text&quot;}"/>
          <p:cNvSpPr txBox="1"/>
          <p:nvPr/>
        </p:nvSpPr>
        <p:spPr>
          <a:xfrm>
            <a:off x="4095750" y="5181600"/>
            <a:ext cx="7048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C05F38"/>
                </a:solidFill>
                <a:latin typeface="微软雅黑" panose="020B0503020204020204" charset="-122"/>
                <a:ea typeface="微软雅黑" panose="020B0503020204020204" charset="-122"/>
              </a:rPr>
              <a:t>06</a:t>
            </a:r>
            <a:endParaRPr lang="en-US" sz="1650" b="1">
              <a:solidFill>
                <a:srgbClr val="C05F3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3" name="文本框 312" descr="{&quot;isTemplate&quot;:true,&quot;type&quot;:&quot;text&quot;}"/>
          <p:cNvSpPr txBox="1"/>
          <p:nvPr/>
        </p:nvSpPr>
        <p:spPr>
          <a:xfrm>
            <a:off x="4800600" y="5143500"/>
            <a:ext cx="6638925" cy="3238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1F2B26"/>
                </a:solidFill>
                <a:latin typeface="微软雅黑" panose="020B0503020204020204" charset="-122"/>
                <a:ea typeface="微软雅黑" panose="020B0503020204020204" charset="-122"/>
              </a:rPr>
              <a:t>商业价值与团队</a:t>
            </a:r>
            <a:endParaRPr lang="zh-CN" sz="2100" b="1">
              <a:solidFill>
                <a:srgbClr val="1F2B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4" name="文本框 313" descr="{&quot;isTemplate&quot;:true,&quot;type&quot;:&quot;text&quot;}"/>
          <p:cNvSpPr txBox="1"/>
          <p:nvPr/>
        </p:nvSpPr>
        <p:spPr>
          <a:xfrm>
            <a:off x="11439525" y="5210175"/>
            <a:ext cx="1809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9AA69D"/>
                </a:solidFill>
                <a:latin typeface="微软雅黑" panose="020B0503020204020204" charset="-122"/>
                <a:ea typeface="微软雅黑" panose="020B0503020204020204" charset="-122"/>
              </a:rPr>
              <a:t>20</a:t>
            </a:r>
            <a:endParaRPr lang="en-US" sz="1200">
              <a:solidFill>
                <a:srgbClr val="9AA69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8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矩形 39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8F2"/>
          </a:solidFill>
        </p:spPr>
        <p:txBody>
          <a:bodyPr/>
          <a:p/>
        </p:txBody>
      </p:sp>
      <p:sp>
        <p:nvSpPr>
          <p:cNvPr id="482" name="文本框 395" descr="{&quot;isTemplate&quot;:true,&quot;type&quot;:&quot;text&quot;}"/>
          <p:cNvSpPr txBox="1"/>
          <p:nvPr/>
        </p:nvSpPr>
        <p:spPr>
          <a:xfrm>
            <a:off x="533400" y="1866900"/>
            <a:ext cx="2400300" cy="2400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0" b="1" spc="-300">
                <a:solidFill>
                  <a:srgbClr val="DFE8DB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sz="15750" b="1" spc="-300">
              <a:solidFill>
                <a:srgbClr val="DFE8D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3" name="文本框 396" descr="{&quot;isTemplate&quot;:true,&quot;type&quot;:&quot;text&quot;}"/>
          <p:cNvSpPr txBox="1"/>
          <p:nvPr/>
        </p:nvSpPr>
        <p:spPr>
          <a:xfrm>
            <a:off x="4762500" y="2495550"/>
            <a:ext cx="6286500" cy="600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900" b="1" spc="225">
                <a:solidFill>
                  <a:srgbClr val="1F2B26"/>
                </a:solidFill>
                <a:latin typeface="微软雅黑" panose="020B0503020204020204" charset="-122"/>
                <a:ea typeface="微软雅黑" panose="020B0503020204020204" charset="-122"/>
              </a:rPr>
              <a:t>项目概览</a:t>
            </a:r>
            <a:endParaRPr lang="zh-CN" sz="3900" b="1" spc="225">
              <a:solidFill>
                <a:srgbClr val="1F2B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4" name="文本框 397" descr="{&quot;isTemplate&quot;:true,&quot;type&quot;:&quot;text&quot;}"/>
          <p:cNvSpPr txBox="1"/>
          <p:nvPr/>
        </p:nvSpPr>
        <p:spPr>
          <a:xfrm>
            <a:off x="4762500" y="3305175"/>
            <a:ext cx="533400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350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从一次课程调研出发，做成一款已上架华为应用市场的鸿蒙应用。</a:t>
            </a:r>
            <a:endParaRPr lang="zh-CN" sz="1350">
              <a:solidFill>
                <a:srgbClr val="7C8A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5" name="矩形 398"/>
          <p:cNvSpPr/>
          <p:nvPr/>
        </p:nvSpPr>
        <p:spPr>
          <a:xfrm>
            <a:off x="571500" y="4476750"/>
            <a:ext cx="11049000" cy="9525"/>
          </a:xfrm>
          <a:prstGeom prst="rect">
            <a:avLst/>
          </a:prstGeom>
          <a:solidFill>
            <a:srgbClr val="DCE3DA"/>
          </a:solidFill>
        </p:spPr>
        <p:txBody>
          <a:bodyPr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8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矩形 40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8F2"/>
          </a:solidFill>
        </p:spPr>
        <p:txBody>
          <a:bodyPr/>
          <a:p/>
        </p:txBody>
      </p:sp>
      <p:sp>
        <p:nvSpPr>
          <p:cNvPr id="488" name="圆角矩形 401"/>
          <p:cNvSpPr/>
          <p:nvPr/>
        </p:nvSpPr>
        <p:spPr>
          <a:xfrm>
            <a:off x="571500" y="6286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C05F38"/>
          </a:solidFill>
        </p:spPr>
        <p:txBody>
          <a:bodyPr/>
          <a:p/>
        </p:txBody>
      </p:sp>
      <p:sp>
        <p:nvSpPr>
          <p:cNvPr id="489" name="文本框 402" descr="{&quot;isTemplate&quot;:true,&quot;type&quot;:&quot;text&quot;}"/>
          <p:cNvSpPr txBox="1"/>
          <p:nvPr/>
        </p:nvSpPr>
        <p:spPr>
          <a:xfrm>
            <a:off x="723900" y="571500"/>
            <a:ext cx="10477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13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01 — </a:t>
            </a:r>
            <a:r>
              <a:rPr lang="zh-CN" sz="1050" spc="113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项目概览</a:t>
            </a:r>
            <a:endParaRPr lang="zh-CN" sz="1050" spc="113">
              <a:solidFill>
                <a:srgbClr val="7C8A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0" name="文本框 403" descr="{&quot;isTemplate&quot;:true,&quot;type&quot;:&quot;text&quot;}"/>
          <p:cNvSpPr txBox="1"/>
          <p:nvPr/>
        </p:nvSpPr>
        <p:spPr>
          <a:xfrm>
            <a:off x="571500" y="809625"/>
            <a:ext cx="11049000" cy="4667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F2B26"/>
                </a:solidFill>
                <a:latin typeface="微软雅黑" panose="020B0503020204020204" charset="-122"/>
                <a:ea typeface="微软雅黑" panose="020B0503020204020204" charset="-122"/>
              </a:rPr>
              <a:t>把「人」和「事」放进同一张图里</a:t>
            </a:r>
            <a:endParaRPr lang="zh-CN" sz="2550" b="1">
              <a:solidFill>
                <a:srgbClr val="1F2B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1" name="矩形 404"/>
          <p:cNvSpPr/>
          <p:nvPr/>
        </p:nvSpPr>
        <p:spPr>
          <a:xfrm>
            <a:off x="571500" y="1428750"/>
            <a:ext cx="11049000" cy="9525"/>
          </a:xfrm>
          <a:prstGeom prst="rect">
            <a:avLst/>
          </a:prstGeom>
          <a:solidFill>
            <a:srgbClr val="D9DFD7"/>
          </a:solidFill>
        </p:spPr>
        <p:txBody>
          <a:bodyPr/>
          <a:p/>
        </p:txBody>
      </p:sp>
      <p:sp>
        <p:nvSpPr>
          <p:cNvPr id="492" name="文本框 405" descr="{&quot;isTemplate&quot;:true,&quot;type&quot;:&quot;text&quot;}"/>
          <p:cNvSpPr txBox="1"/>
          <p:nvPr/>
        </p:nvSpPr>
        <p:spPr>
          <a:xfrm>
            <a:off x="571500" y="1685925"/>
            <a:ext cx="6000750" cy="13239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en-US" sz="1650">
                <a:solidFill>
                  <a:srgbClr val="2E3B34"/>
                </a:solidFill>
                <a:latin typeface="微软雅黑" panose="020B0503020204020204" charset="-122"/>
                <a:ea typeface="微软雅黑" panose="020B0503020204020204" charset="-122"/>
              </a:rPr>
              <a:t>Life Graph </a:t>
            </a:r>
            <a:r>
              <a:rPr lang="zh-CN" sz="1650">
                <a:solidFill>
                  <a:srgbClr val="2E3B34"/>
                </a:solidFill>
                <a:latin typeface="微软雅黑" panose="020B0503020204020204" charset="-122"/>
                <a:ea typeface="微软雅黑" panose="020B0503020204020204" charset="-122"/>
              </a:rPr>
              <a:t>用人物、事件和两者之间的联系组织记录。一次聚餐、一段旅行、一位老朋友，都能从「时间」和「关系」两个方向重新找到。</a:t>
            </a:r>
            <a:endParaRPr lang="zh-CN" sz="1650">
              <a:solidFill>
                <a:srgbClr val="2E3B3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3" name="任意多边形 406"/>
          <p:cNvSpPr/>
          <p:nvPr/>
        </p:nvSpPr>
        <p:spPr>
          <a:xfrm>
            <a:off x="571500" y="3295650"/>
            <a:ext cx="6096000" cy="771525"/>
          </a:xfrm>
          <a:custGeom>
            <a:avLst/>
            <a:gdLst/>
            <a:ahLst/>
            <a:cxnLst/>
            <a:pathLst>
              <a:path w="640" h="81">
                <a:moveTo>
                  <a:pt x="0" y="0"/>
                </a:moveTo>
                <a:lnTo>
                  <a:pt x="640" y="0"/>
                </a:lnTo>
                <a:lnTo>
                  <a:pt x="64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6DF"/>
          </a:solidFill>
        </p:spPr>
        <p:txBody>
          <a:bodyPr/>
          <a:p/>
        </p:txBody>
      </p:sp>
      <p:sp>
        <p:nvSpPr>
          <p:cNvPr id="494" name="文本框 407" descr="{&quot;isTemplate&quot;:true,&quot;type&quot;:&quot;text&quot;}"/>
          <p:cNvSpPr txBox="1"/>
          <p:nvPr/>
        </p:nvSpPr>
        <p:spPr>
          <a:xfrm>
            <a:off x="571500" y="3514725"/>
            <a:ext cx="6096000" cy="3524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 b="1">
                <a:solidFill>
                  <a:srgbClr val="2E3B34"/>
                </a:solidFill>
                <a:latin typeface="微软雅黑" panose="020B0503020204020204" charset="-122"/>
                <a:ea typeface="微软雅黑" panose="020B0503020204020204" charset="-122"/>
              </a:rPr>
              <a:t>记录的对象不是内容，是和谁</a:t>
            </a:r>
            <a:r>
              <a:rPr lang="zh-CN" sz="1350">
                <a:solidFill>
                  <a:srgbClr val="2E3B34"/>
                </a:solidFill>
                <a:latin typeface="微软雅黑" panose="020B0503020204020204" charset="-122"/>
                <a:ea typeface="微软雅黑" panose="020B0503020204020204" charset="-122"/>
              </a:rPr>
              <a:t>　先有人，再有故事</a:t>
            </a:r>
            <a:endParaRPr lang="zh-CN" sz="1350">
              <a:solidFill>
                <a:srgbClr val="2E3B3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5" name="任意多边形 408"/>
          <p:cNvSpPr/>
          <p:nvPr/>
        </p:nvSpPr>
        <p:spPr>
          <a:xfrm>
            <a:off x="571500" y="4057650"/>
            <a:ext cx="6096000" cy="771525"/>
          </a:xfrm>
          <a:custGeom>
            <a:avLst/>
            <a:gdLst/>
            <a:ahLst/>
            <a:cxnLst/>
            <a:pathLst>
              <a:path w="640" h="81">
                <a:moveTo>
                  <a:pt x="0" y="0"/>
                </a:moveTo>
                <a:lnTo>
                  <a:pt x="640" y="0"/>
                </a:lnTo>
                <a:lnTo>
                  <a:pt x="64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6DF"/>
          </a:solidFill>
        </p:spPr>
        <p:txBody>
          <a:bodyPr/>
          <a:p/>
        </p:txBody>
      </p:sp>
      <p:sp>
        <p:nvSpPr>
          <p:cNvPr id="496" name="文本框 409" descr="{&quot;isTemplate&quot;:true,&quot;type&quot;:&quot;text&quot;}"/>
          <p:cNvSpPr txBox="1"/>
          <p:nvPr/>
        </p:nvSpPr>
        <p:spPr>
          <a:xfrm>
            <a:off x="571500" y="4276725"/>
            <a:ext cx="6096000" cy="3524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 b="1">
                <a:solidFill>
                  <a:srgbClr val="2E3B34"/>
                </a:solidFill>
                <a:latin typeface="微软雅黑" panose="020B0503020204020204" charset="-122"/>
                <a:ea typeface="微软雅黑" panose="020B0503020204020204" charset="-122"/>
              </a:rPr>
              <a:t>图谱不是唯一入口</a:t>
            </a:r>
            <a:r>
              <a:rPr lang="zh-CN" sz="1350">
                <a:solidFill>
                  <a:srgbClr val="2E3B34"/>
                </a:solidFill>
                <a:latin typeface="微软雅黑" panose="020B0503020204020204" charset="-122"/>
                <a:ea typeface="微软雅黑" panose="020B0503020204020204" charset="-122"/>
              </a:rPr>
              <a:t>　图形看联系，列表负责准确找回</a:t>
            </a:r>
            <a:endParaRPr lang="zh-CN" sz="1350">
              <a:solidFill>
                <a:srgbClr val="2E3B3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7" name="任意多边形 410"/>
          <p:cNvSpPr/>
          <p:nvPr/>
        </p:nvSpPr>
        <p:spPr>
          <a:xfrm>
            <a:off x="571500" y="4819650"/>
            <a:ext cx="6096000" cy="771525"/>
          </a:xfrm>
          <a:custGeom>
            <a:avLst/>
            <a:gdLst/>
            <a:ahLst/>
            <a:cxnLst/>
            <a:pathLst>
              <a:path w="640" h="81">
                <a:moveTo>
                  <a:pt x="0" y="0"/>
                </a:moveTo>
                <a:lnTo>
                  <a:pt x="640" y="0"/>
                </a:lnTo>
                <a:lnTo>
                  <a:pt x="64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6DF"/>
          </a:solidFill>
        </p:spPr>
        <p:txBody>
          <a:bodyPr/>
          <a:p/>
        </p:txBody>
      </p:sp>
      <p:sp>
        <p:nvSpPr>
          <p:cNvPr id="498" name="文本框 411" descr="{&quot;isTemplate&quot;:true,&quot;type&quot;:&quot;text&quot;}"/>
          <p:cNvSpPr txBox="1"/>
          <p:nvPr/>
        </p:nvSpPr>
        <p:spPr>
          <a:xfrm>
            <a:off x="571500" y="5038725"/>
            <a:ext cx="6096000" cy="3524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 b="1">
                <a:solidFill>
                  <a:srgbClr val="2E3B34"/>
                </a:solidFill>
                <a:latin typeface="微软雅黑" panose="020B0503020204020204" charset="-122"/>
                <a:ea typeface="微软雅黑" panose="020B0503020204020204" charset="-122"/>
              </a:rPr>
              <a:t>记录留在本机</a:t>
            </a:r>
            <a:r>
              <a:rPr lang="zh-CN" sz="1350">
                <a:solidFill>
                  <a:srgbClr val="2E3B34"/>
                </a:solidFill>
                <a:latin typeface="微软雅黑" panose="020B0503020204020204" charset="-122"/>
                <a:ea typeface="微软雅黑" panose="020B0503020204020204" charset="-122"/>
              </a:rPr>
              <a:t>　不注册、不联网，备份由用户自己导出</a:t>
            </a:r>
            <a:endParaRPr lang="zh-CN" sz="1350">
              <a:solidFill>
                <a:srgbClr val="2E3B3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9" name="任意多边形 412"/>
          <p:cNvSpPr/>
          <p:nvPr/>
        </p:nvSpPr>
        <p:spPr>
          <a:xfrm>
            <a:off x="571500" y="5581650"/>
            <a:ext cx="6096000" cy="581025"/>
          </a:xfrm>
          <a:custGeom>
            <a:avLst/>
            <a:gdLst/>
            <a:ahLst/>
            <a:cxnLst/>
            <a:pathLst>
              <a:path w="640" h="61">
                <a:moveTo>
                  <a:pt x="0" y="0"/>
                </a:moveTo>
                <a:lnTo>
                  <a:pt x="640" y="0"/>
                </a:lnTo>
                <a:lnTo>
                  <a:pt x="64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6DF"/>
          </a:solidFill>
        </p:spPr>
        <p:txBody>
          <a:bodyPr/>
          <a:p/>
        </p:txBody>
      </p:sp>
      <p:sp>
        <p:nvSpPr>
          <p:cNvPr id="500" name="文本框 413" descr="{&quot;isTemplate&quot;:true,&quot;type&quot;:&quot;text&quot;}"/>
          <p:cNvSpPr txBox="1"/>
          <p:nvPr/>
        </p:nvSpPr>
        <p:spPr>
          <a:xfrm>
            <a:off x="571500" y="5800725"/>
            <a:ext cx="6096000" cy="3524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 b="1">
                <a:solidFill>
                  <a:srgbClr val="2E3B34"/>
                </a:solidFill>
                <a:latin typeface="微软雅黑" panose="020B0503020204020204" charset="-122"/>
                <a:ea typeface="微软雅黑" panose="020B0503020204020204" charset="-122"/>
              </a:rPr>
              <a:t>不做社交</a:t>
            </a:r>
            <a:r>
              <a:rPr lang="en-US" altLang="zh-CN" sz="1350" b="1">
                <a:solidFill>
                  <a:srgbClr val="2E3B34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sz="1350" b="1">
                <a:solidFill>
                  <a:srgbClr val="2E3B34"/>
                </a:solidFill>
                <a:latin typeface="微软雅黑" panose="020B0503020204020204" charset="-122"/>
                <a:ea typeface="微软雅黑" panose="020B0503020204020204" charset="-122"/>
              </a:rPr>
              <a:t>推荐流</a:t>
            </a:r>
            <a:r>
              <a:rPr lang="zh-CN" sz="1350">
                <a:solidFill>
                  <a:srgbClr val="2E3B34"/>
                </a:solidFill>
                <a:latin typeface="微软雅黑" panose="020B0503020204020204" charset="-122"/>
                <a:ea typeface="微软雅黑" panose="020B0503020204020204" charset="-122"/>
              </a:rPr>
              <a:t>　只有你自己的记录</a:t>
            </a:r>
            <a:endParaRPr lang="zh-CN" sz="1350">
              <a:solidFill>
                <a:srgbClr val="2E3B3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1" name="圆角矩形 414"/>
          <p:cNvSpPr/>
          <p:nvPr/>
        </p:nvSpPr>
        <p:spPr>
          <a:xfrm>
            <a:off x="7200900" y="1685925"/>
            <a:ext cx="4381500" cy="3524250"/>
          </a:xfrm>
          <a:prstGeom prst="roundRect">
            <a:avLst>
              <a:gd name="adj" fmla="val 2703"/>
            </a:avLst>
          </a:prstGeom>
          <a:solidFill>
            <a:srgbClr val="2C4A3F"/>
          </a:solidFill>
        </p:spPr>
        <p:txBody>
          <a:bodyPr/>
          <a:p/>
        </p:txBody>
      </p:sp>
      <p:sp>
        <p:nvSpPr>
          <p:cNvPr id="502" name="文本框 415" descr="{&quot;isTemplate&quot;:true,&quot;type&quot;:&quot;text&quot;}"/>
          <p:cNvSpPr txBox="1"/>
          <p:nvPr/>
        </p:nvSpPr>
        <p:spPr>
          <a:xfrm>
            <a:off x="7581900" y="2066925"/>
            <a:ext cx="36195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9DB3A2"/>
                </a:solidFill>
                <a:latin typeface="微软雅黑" panose="020B0503020204020204" charset="-122"/>
                <a:ea typeface="微软雅黑" panose="020B0503020204020204" charset="-122"/>
              </a:rPr>
              <a:t>上线状态</a:t>
            </a:r>
            <a:endParaRPr lang="zh-CN" sz="1050" spc="150">
              <a:solidFill>
                <a:srgbClr val="9DB3A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3" name="文本框 416" descr="{&quot;isTemplate&quot;:true,&quot;type&quot;:&quot;text&quot;}"/>
          <p:cNvSpPr txBox="1"/>
          <p:nvPr/>
        </p:nvSpPr>
        <p:spPr>
          <a:xfrm>
            <a:off x="7581900" y="2381250"/>
            <a:ext cx="3619500" cy="7048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zh-CN" sz="4200" b="1" spc="150">
                <a:solidFill>
                  <a:srgbClr val="F5F2E8"/>
                </a:solidFill>
                <a:latin typeface="微软雅黑" panose="020B0503020204020204" charset="-122"/>
                <a:ea typeface="微软雅黑" panose="020B0503020204020204" charset="-122"/>
              </a:rPr>
              <a:t>已上架</a:t>
            </a:r>
            <a:endParaRPr lang="zh-CN" sz="4200" b="1" spc="150">
              <a:solidFill>
                <a:srgbClr val="F5F2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4" name="文本框 417" descr="{&quot;isTemplate&quot;:true,&quot;type&quot;:&quot;text&quot;}"/>
          <p:cNvSpPr txBox="1"/>
          <p:nvPr/>
        </p:nvSpPr>
        <p:spPr>
          <a:xfrm>
            <a:off x="7581900" y="3200400"/>
            <a:ext cx="36195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BE"/>
                </a:solidFill>
                <a:latin typeface="微软雅黑" panose="020B0503020204020204" charset="-122"/>
                <a:ea typeface="微软雅黑" panose="020B0503020204020204" charset="-122"/>
              </a:rPr>
              <a:t>华为应用市场　·　版本</a:t>
            </a:r>
            <a:r>
              <a:rPr lang="en-US" sz="1050">
                <a:solidFill>
                  <a:srgbClr val="B9CBBE"/>
                </a:solidFill>
                <a:latin typeface="微软雅黑" panose="020B0503020204020204" charset="-122"/>
                <a:ea typeface="微软雅黑" panose="020B0503020204020204" charset="-122"/>
              </a:rPr>
              <a:t> 1.0.0</a:t>
            </a:r>
            <a:endParaRPr lang="en-US" sz="1050">
              <a:solidFill>
                <a:srgbClr val="B9CBB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5" name="矩形 418"/>
          <p:cNvSpPr/>
          <p:nvPr/>
        </p:nvSpPr>
        <p:spPr>
          <a:xfrm>
            <a:off x="7581900" y="3629025"/>
            <a:ext cx="3619500" cy="9525"/>
          </a:xfrm>
          <a:prstGeom prst="rect">
            <a:avLst/>
          </a:prstGeom>
          <a:solidFill>
            <a:srgbClr val="42604F"/>
          </a:solidFill>
        </p:spPr>
        <p:txBody>
          <a:bodyPr/>
          <a:p/>
        </p:txBody>
      </p:sp>
      <p:sp>
        <p:nvSpPr>
          <p:cNvPr id="506" name="文本框 419" descr="{&quot;isTemplate&quot;:true,&quot;type&quot;:&quot;text&quot;}"/>
          <p:cNvSpPr txBox="1"/>
          <p:nvPr/>
        </p:nvSpPr>
        <p:spPr>
          <a:xfrm>
            <a:off x="7581900" y="3829050"/>
            <a:ext cx="36195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C6D6C9"/>
                </a:solidFill>
                <a:latin typeface="微软雅黑" panose="020B0503020204020204" charset="-122"/>
                <a:ea typeface="微软雅黑" panose="020B0503020204020204" charset="-122"/>
              </a:rPr>
              <a:t>无需注册，安装后即可记录</a:t>
            </a:r>
            <a:endParaRPr lang="zh-CN" sz="1050">
              <a:solidFill>
                <a:srgbClr val="C6D6C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7" name="文本框 420" descr="{&quot;isTemplate&quot;:true,&quot;type&quot;:&quot;text&quot;}"/>
          <p:cNvSpPr txBox="1"/>
          <p:nvPr/>
        </p:nvSpPr>
        <p:spPr>
          <a:xfrm>
            <a:off x="7581900" y="4200525"/>
            <a:ext cx="36195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C6D6C9"/>
                </a:solidFill>
                <a:latin typeface="微软雅黑" panose="020B0503020204020204" charset="-122"/>
                <a:ea typeface="微软雅黑" panose="020B0503020204020204" charset="-122"/>
              </a:rPr>
              <a:t>ArkData RDB </a:t>
            </a:r>
            <a:r>
              <a:rPr lang="zh-CN" sz="1050">
                <a:solidFill>
                  <a:srgbClr val="C6D6C9"/>
                </a:solidFill>
                <a:latin typeface="微软雅黑" panose="020B0503020204020204" charset="-122"/>
                <a:ea typeface="微软雅黑" panose="020B0503020204020204" charset="-122"/>
              </a:rPr>
              <a:t>本地存储，业务数据不出设备</a:t>
            </a:r>
            <a:endParaRPr lang="zh-CN" sz="1050">
              <a:solidFill>
                <a:srgbClr val="C6D6C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8" name="文本框 421" descr="{&quot;isTemplate&quot;:true,&quot;type&quot;:&quot;text&quot;}"/>
          <p:cNvSpPr txBox="1"/>
          <p:nvPr/>
        </p:nvSpPr>
        <p:spPr>
          <a:xfrm>
            <a:off x="7581900" y="4572000"/>
            <a:ext cx="36195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C6D6C9"/>
                </a:solidFill>
                <a:latin typeface="微软雅黑" panose="020B0503020204020204" charset="-122"/>
                <a:ea typeface="微软雅黑" panose="020B0503020204020204" charset="-122"/>
              </a:rPr>
              <a:t>签名包体积</a:t>
            </a:r>
            <a:r>
              <a:rPr lang="en-US" sz="1050">
                <a:solidFill>
                  <a:srgbClr val="C6D6C9"/>
                </a:solidFill>
                <a:latin typeface="微软雅黑" panose="020B0503020204020204" charset="-122"/>
                <a:ea typeface="微软雅黑" panose="020B0503020204020204" charset="-122"/>
              </a:rPr>
              <a:t> 0.49 MB</a:t>
            </a:r>
            <a:endParaRPr lang="en-US" sz="1050">
              <a:solidFill>
                <a:srgbClr val="C6D6C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9" name="文本框 422" descr="{&quot;isTemplate&quot;:true,&quot;type&quot;:&quot;text&quot;}"/>
          <p:cNvSpPr txBox="1"/>
          <p:nvPr/>
        </p:nvSpPr>
        <p:spPr>
          <a:xfrm>
            <a:off x="7200900" y="5495925"/>
            <a:ext cx="4286250" cy="7239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35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上架测试覆盖</a:t>
            </a:r>
            <a:r>
              <a:rPr lang="en-US" sz="135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 6 </a:t>
            </a:r>
            <a:r>
              <a:rPr lang="zh-CN" sz="135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台设备、</a:t>
            </a:r>
            <a:r>
              <a:rPr lang="en-US" sz="135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128 </a:t>
            </a:r>
            <a:r>
              <a:rPr lang="zh-CN" sz="135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个用例，全部通过；软件包检测</a:t>
            </a:r>
            <a:r>
              <a:rPr lang="zh-CN" sz="135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通过。</a:t>
            </a:r>
            <a:endParaRPr lang="zh-CN" sz="1350">
              <a:solidFill>
                <a:srgbClr val="5C6B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0" name="文本框 423" descr="{&quot;isTemplate&quot;:true,&quot;type&quot;:&quot;text&quot;}"/>
          <p:cNvSpPr txBox="1"/>
          <p:nvPr/>
        </p:nvSpPr>
        <p:spPr>
          <a:xfrm>
            <a:off x="571500" y="6400800"/>
            <a:ext cx="13049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AA69D"/>
                </a:solidFill>
                <a:latin typeface="微软雅黑" panose="020B0503020204020204" charset="-122"/>
                <a:ea typeface="微软雅黑" panose="020B0503020204020204" charset="-122"/>
              </a:rPr>
              <a:t>Life Graph · </a:t>
            </a:r>
            <a:r>
              <a:rPr lang="zh-CN" sz="1050">
                <a:solidFill>
                  <a:srgbClr val="9AA69D"/>
                </a:solidFill>
                <a:latin typeface="微软雅黑" panose="020B0503020204020204" charset="-122"/>
                <a:ea typeface="微软雅黑" panose="020B0503020204020204" charset="-122"/>
              </a:rPr>
              <a:t>生活脉络</a:t>
            </a:r>
            <a:endParaRPr lang="zh-CN" sz="1050">
              <a:solidFill>
                <a:srgbClr val="9AA69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1" name="文本框 424" descr="{&quot;isTemplate&quot;:true,&quot;type&quot;:&quot;text&quot;}"/>
          <p:cNvSpPr txBox="1"/>
          <p:nvPr/>
        </p:nvSpPr>
        <p:spPr>
          <a:xfrm>
            <a:off x="11458575" y="6400800"/>
            <a:ext cx="1619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AA69D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lang="en-US" sz="1050">
              <a:solidFill>
                <a:srgbClr val="9AA69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矩形 42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8F2"/>
          </a:solidFill>
        </p:spPr>
        <p:txBody>
          <a:bodyPr/>
          <a:p/>
        </p:txBody>
      </p:sp>
      <p:sp>
        <p:nvSpPr>
          <p:cNvPr id="514" name="圆角矩形 427"/>
          <p:cNvSpPr/>
          <p:nvPr/>
        </p:nvSpPr>
        <p:spPr>
          <a:xfrm>
            <a:off x="571500" y="6286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C05F38"/>
          </a:solidFill>
        </p:spPr>
        <p:txBody>
          <a:bodyPr/>
          <a:p/>
        </p:txBody>
      </p:sp>
      <p:sp>
        <p:nvSpPr>
          <p:cNvPr id="515" name="文本框 428" descr="{&quot;isTemplate&quot;:true,&quot;type&quot;:&quot;text&quot;}"/>
          <p:cNvSpPr txBox="1"/>
          <p:nvPr/>
        </p:nvSpPr>
        <p:spPr>
          <a:xfrm>
            <a:off x="723900" y="571500"/>
            <a:ext cx="10477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13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01 — </a:t>
            </a:r>
            <a:r>
              <a:rPr lang="zh-CN" sz="1050" spc="113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项目概览</a:t>
            </a:r>
            <a:endParaRPr lang="zh-CN" sz="1050" spc="113">
              <a:solidFill>
                <a:srgbClr val="7C8A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6" name="文本框 429" descr="{&quot;isTemplate&quot;:true,&quot;type&quot;:&quot;text&quot;}"/>
          <p:cNvSpPr txBox="1"/>
          <p:nvPr/>
        </p:nvSpPr>
        <p:spPr>
          <a:xfrm>
            <a:off x="571500" y="809625"/>
            <a:ext cx="11049000" cy="4667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F2B26"/>
                </a:solidFill>
                <a:latin typeface="微软雅黑" panose="020B0503020204020204" charset="-122"/>
                <a:ea typeface="微软雅黑" panose="020B0503020204020204" charset="-122"/>
              </a:rPr>
              <a:t>从记录到回顾，六件事在一处完成</a:t>
            </a:r>
            <a:endParaRPr lang="zh-CN" sz="2550" b="1">
              <a:solidFill>
                <a:srgbClr val="1F2B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7" name="矩形 430"/>
          <p:cNvSpPr/>
          <p:nvPr/>
        </p:nvSpPr>
        <p:spPr>
          <a:xfrm>
            <a:off x="571500" y="1428750"/>
            <a:ext cx="11049000" cy="9525"/>
          </a:xfrm>
          <a:prstGeom prst="rect">
            <a:avLst/>
          </a:prstGeom>
          <a:solidFill>
            <a:srgbClr val="D9DFD7"/>
          </a:solidFill>
        </p:spPr>
        <p:txBody>
          <a:bodyPr/>
          <a:p/>
        </p:txBody>
      </p:sp>
      <p:pic>
        <p:nvPicPr>
          <p:cNvPr id="518" name="图片 431"/>
          <p:cNvPicPr>
            <a:picLocks noChangeAspect="1"/>
          </p:cNvPicPr>
          <p:nvPr/>
        </p:nvPicPr>
        <p:blipFill>
          <a:blip r:embed="rId1"/>
          <a:srcRect l="158" r="158"/>
          <a:stretch>
            <a:fillRect/>
          </a:stretch>
        </p:blipFill>
        <p:spPr>
          <a:xfrm>
            <a:off x="571500" y="1685925"/>
            <a:ext cx="1962150" cy="4000500"/>
          </a:xfrm>
          <a:prstGeom prst="rect">
            <a:avLst/>
          </a:prstGeom>
        </p:spPr>
      </p:pic>
      <p:pic>
        <p:nvPicPr>
          <p:cNvPr id="519" name="图片 432"/>
          <p:cNvPicPr>
            <a:picLocks noChangeAspect="1"/>
          </p:cNvPicPr>
          <p:nvPr/>
        </p:nvPicPr>
        <p:blipFill>
          <a:blip r:embed="rId2"/>
          <a:srcRect l="158" r="158"/>
          <a:stretch>
            <a:fillRect/>
          </a:stretch>
        </p:blipFill>
        <p:spPr>
          <a:xfrm>
            <a:off x="2667000" y="1685925"/>
            <a:ext cx="1962150" cy="4000500"/>
          </a:xfrm>
          <a:prstGeom prst="rect">
            <a:avLst/>
          </a:prstGeom>
        </p:spPr>
      </p:pic>
      <p:pic>
        <p:nvPicPr>
          <p:cNvPr id="520" name="图片 433"/>
          <p:cNvPicPr>
            <a:picLocks noChangeAspect="1"/>
          </p:cNvPicPr>
          <p:nvPr/>
        </p:nvPicPr>
        <p:blipFill>
          <a:blip r:embed="rId3"/>
          <a:srcRect l="158" r="158"/>
          <a:stretch>
            <a:fillRect/>
          </a:stretch>
        </p:blipFill>
        <p:spPr>
          <a:xfrm>
            <a:off x="4762500" y="1685925"/>
            <a:ext cx="1962150" cy="4000500"/>
          </a:xfrm>
          <a:prstGeom prst="rect">
            <a:avLst/>
          </a:prstGeom>
        </p:spPr>
      </p:pic>
      <p:sp>
        <p:nvSpPr>
          <p:cNvPr id="521" name="文本框 434" descr="{&quot;isTemplate&quot;:true,&quot;type&quot;:&quot;text&quot;}"/>
          <p:cNvSpPr txBox="1"/>
          <p:nvPr/>
        </p:nvSpPr>
        <p:spPr>
          <a:xfrm>
            <a:off x="571500" y="5819775"/>
            <a:ext cx="1962150" cy="16192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050">
                <a:solidFill>
                  <a:srgbClr val="9AA69D"/>
                </a:solidFill>
                <a:latin typeface="微软雅黑" panose="020B0503020204020204" charset="-122"/>
                <a:ea typeface="微软雅黑" panose="020B0503020204020204" charset="-122"/>
              </a:rPr>
              <a:t>人际图谱</a:t>
            </a:r>
            <a:endParaRPr lang="zh-CN" sz="1050">
              <a:solidFill>
                <a:srgbClr val="9AA69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2" name="文本框 435" descr="{&quot;isTemplate&quot;:true,&quot;type&quot;:&quot;text&quot;}"/>
          <p:cNvSpPr txBox="1"/>
          <p:nvPr/>
        </p:nvSpPr>
        <p:spPr>
          <a:xfrm>
            <a:off x="2667000" y="5819775"/>
            <a:ext cx="1962150" cy="16192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050">
                <a:solidFill>
                  <a:srgbClr val="9AA69D"/>
                </a:solidFill>
                <a:latin typeface="微软雅黑" panose="020B0503020204020204" charset="-122"/>
                <a:ea typeface="微软雅黑" panose="020B0503020204020204" charset="-122"/>
              </a:rPr>
              <a:t>生活记录</a:t>
            </a:r>
            <a:endParaRPr lang="zh-CN" sz="1050">
              <a:solidFill>
                <a:srgbClr val="9AA69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3" name="文本框 436" descr="{&quot;isTemplate&quot;:true,&quot;type&quot;:&quot;text&quot;}"/>
          <p:cNvSpPr txBox="1"/>
          <p:nvPr/>
        </p:nvSpPr>
        <p:spPr>
          <a:xfrm>
            <a:off x="4762500" y="5819775"/>
            <a:ext cx="1962150" cy="16192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050">
                <a:solidFill>
                  <a:srgbClr val="9AA69D"/>
                </a:solidFill>
                <a:latin typeface="微软雅黑" panose="020B0503020204020204" charset="-122"/>
                <a:ea typeface="微软雅黑" panose="020B0503020204020204" charset="-122"/>
              </a:rPr>
              <a:t>人物档案</a:t>
            </a:r>
            <a:endParaRPr lang="zh-CN" sz="1050">
              <a:solidFill>
                <a:srgbClr val="9AA69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4" name="任意多边形 437"/>
          <p:cNvSpPr/>
          <p:nvPr/>
        </p:nvSpPr>
        <p:spPr>
          <a:xfrm>
            <a:off x="7105650" y="1685925"/>
            <a:ext cx="4514850" cy="866775"/>
          </a:xfrm>
          <a:custGeom>
            <a:avLst/>
            <a:gdLst/>
            <a:ahLst/>
            <a:cxnLst/>
            <a:pathLst>
              <a:path w="474" h="91">
                <a:moveTo>
                  <a:pt x="0" y="0"/>
                </a:moveTo>
                <a:lnTo>
                  <a:pt x="474" y="0"/>
                </a:lnTo>
                <a:lnTo>
                  <a:pt x="474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6DF"/>
          </a:solidFill>
        </p:spPr>
        <p:txBody>
          <a:bodyPr/>
          <a:p/>
        </p:txBody>
      </p:sp>
      <p:sp>
        <p:nvSpPr>
          <p:cNvPr id="525" name="文本框 438" descr="{&quot;isTemplate&quot;:true,&quot;type&quot;:&quot;text&quot;}"/>
          <p:cNvSpPr txBox="1"/>
          <p:nvPr/>
        </p:nvSpPr>
        <p:spPr>
          <a:xfrm>
            <a:off x="7105650" y="1809750"/>
            <a:ext cx="451485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350" b="1">
                <a:solidFill>
                  <a:srgbClr val="1F2B26"/>
                </a:solidFill>
                <a:latin typeface="微软雅黑" panose="020B0503020204020204" charset="-122"/>
                <a:ea typeface="微软雅黑" panose="020B0503020204020204" charset="-122"/>
              </a:rPr>
              <a:t>人物与关系</a:t>
            </a:r>
            <a:endParaRPr lang="zh-CN" sz="1350" b="1">
              <a:solidFill>
                <a:srgbClr val="1F2B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6" name="文本框 439" descr="{&quot;isTemplate&quot;:true,&quot;type&quot;:&quot;text&quot;}"/>
          <p:cNvSpPr txBox="1"/>
          <p:nvPr/>
        </p:nvSpPr>
        <p:spPr>
          <a:xfrm>
            <a:off x="7105650" y="2133600"/>
            <a:ext cx="451485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35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任意两人之间的关系类型与</a:t>
            </a:r>
            <a:r>
              <a:rPr lang="en-US" sz="135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 1–5 </a:t>
            </a:r>
            <a:r>
              <a:rPr lang="zh-CN" sz="135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级强度</a:t>
            </a:r>
            <a:endParaRPr lang="zh-CN" sz="1350">
              <a:solidFill>
                <a:srgbClr val="5C6B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7" name="任意多边形 440"/>
          <p:cNvSpPr/>
          <p:nvPr/>
        </p:nvSpPr>
        <p:spPr>
          <a:xfrm>
            <a:off x="7105650" y="2543175"/>
            <a:ext cx="4514850" cy="866775"/>
          </a:xfrm>
          <a:custGeom>
            <a:avLst/>
            <a:gdLst/>
            <a:ahLst/>
            <a:cxnLst/>
            <a:pathLst>
              <a:path w="474" h="91">
                <a:moveTo>
                  <a:pt x="0" y="0"/>
                </a:moveTo>
                <a:lnTo>
                  <a:pt x="474" y="0"/>
                </a:lnTo>
                <a:lnTo>
                  <a:pt x="474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6DF"/>
          </a:solidFill>
        </p:spPr>
        <p:txBody>
          <a:bodyPr/>
          <a:p/>
        </p:txBody>
      </p:sp>
      <p:sp>
        <p:nvSpPr>
          <p:cNvPr id="528" name="文本框 441" descr="{&quot;isTemplate&quot;:true,&quot;type&quot;:&quot;text&quot;}"/>
          <p:cNvSpPr txBox="1"/>
          <p:nvPr/>
        </p:nvSpPr>
        <p:spPr>
          <a:xfrm>
            <a:off x="7105650" y="2667000"/>
            <a:ext cx="451485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350" b="1">
                <a:solidFill>
                  <a:srgbClr val="1F2B26"/>
                </a:solidFill>
                <a:latin typeface="微软雅黑" panose="020B0503020204020204" charset="-122"/>
                <a:ea typeface="微软雅黑" panose="020B0503020204020204" charset="-122"/>
              </a:rPr>
              <a:t>事件与媒体</a:t>
            </a:r>
            <a:endParaRPr lang="zh-CN" sz="1350" b="1">
              <a:solidFill>
                <a:srgbClr val="1F2B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9" name="文本框 442" descr="{&quot;isTemplate&quot;:true,&quot;type&quot;:&quot;text&quot;}"/>
          <p:cNvSpPr txBox="1"/>
          <p:nvPr/>
        </p:nvSpPr>
        <p:spPr>
          <a:xfrm>
            <a:off x="7105650" y="2990850"/>
            <a:ext cx="451485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35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文字、照片、录音关联多位参与者</a:t>
            </a:r>
            <a:endParaRPr lang="zh-CN" sz="1350">
              <a:solidFill>
                <a:srgbClr val="5C6B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0" name="任意多边形 443"/>
          <p:cNvSpPr/>
          <p:nvPr/>
        </p:nvSpPr>
        <p:spPr>
          <a:xfrm>
            <a:off x="7105650" y="3400425"/>
            <a:ext cx="4514850" cy="866775"/>
          </a:xfrm>
          <a:custGeom>
            <a:avLst/>
            <a:gdLst/>
            <a:ahLst/>
            <a:cxnLst/>
            <a:pathLst>
              <a:path w="474" h="91">
                <a:moveTo>
                  <a:pt x="0" y="0"/>
                </a:moveTo>
                <a:lnTo>
                  <a:pt x="474" y="0"/>
                </a:lnTo>
                <a:lnTo>
                  <a:pt x="474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6DF"/>
          </a:solidFill>
        </p:spPr>
        <p:txBody>
          <a:bodyPr/>
          <a:p/>
        </p:txBody>
      </p:sp>
      <p:sp>
        <p:nvSpPr>
          <p:cNvPr id="531" name="文本框 444" descr="{&quot;isTemplate&quot;:true,&quot;type&quot;:&quot;text&quot;}"/>
          <p:cNvSpPr txBox="1"/>
          <p:nvPr/>
        </p:nvSpPr>
        <p:spPr>
          <a:xfrm>
            <a:off x="7105650" y="3524250"/>
            <a:ext cx="451485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350" b="1">
                <a:solidFill>
                  <a:srgbClr val="1F2B26"/>
                </a:solidFill>
                <a:latin typeface="微软雅黑" panose="020B0503020204020204" charset="-122"/>
                <a:ea typeface="微软雅黑" panose="020B0503020204020204" charset="-122"/>
              </a:rPr>
              <a:t>三种图谱视角</a:t>
            </a:r>
            <a:endParaRPr lang="zh-CN" sz="1350" b="1">
              <a:solidFill>
                <a:srgbClr val="1F2B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2" name="文本框 445" descr="{&quot;isTemplate&quot;:true,&quot;type&quot;:&quot;text&quot;}"/>
          <p:cNvSpPr txBox="1"/>
          <p:nvPr/>
        </p:nvSpPr>
        <p:spPr>
          <a:xfrm>
            <a:off x="7105650" y="3848100"/>
            <a:ext cx="451485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35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人际、人物—事件、个人生活</a:t>
            </a:r>
            <a:endParaRPr lang="zh-CN" sz="1350">
              <a:solidFill>
                <a:srgbClr val="5C6B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3" name="任意多边形 446"/>
          <p:cNvSpPr/>
          <p:nvPr/>
        </p:nvSpPr>
        <p:spPr>
          <a:xfrm>
            <a:off x="7105650" y="4257675"/>
            <a:ext cx="4514850" cy="866775"/>
          </a:xfrm>
          <a:custGeom>
            <a:avLst/>
            <a:gdLst/>
            <a:ahLst/>
            <a:cxnLst/>
            <a:pathLst>
              <a:path w="474" h="91">
                <a:moveTo>
                  <a:pt x="0" y="0"/>
                </a:moveTo>
                <a:lnTo>
                  <a:pt x="474" y="0"/>
                </a:lnTo>
                <a:lnTo>
                  <a:pt x="474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6DF"/>
          </a:solidFill>
        </p:spPr>
        <p:txBody>
          <a:bodyPr/>
          <a:p/>
        </p:txBody>
      </p:sp>
      <p:sp>
        <p:nvSpPr>
          <p:cNvPr id="534" name="文本框 447" descr="{&quot;isTemplate&quot;:true,&quot;type&quot;:&quot;text&quot;}"/>
          <p:cNvSpPr txBox="1"/>
          <p:nvPr/>
        </p:nvSpPr>
        <p:spPr>
          <a:xfrm>
            <a:off x="7105650" y="4381500"/>
            <a:ext cx="451485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350" b="1">
                <a:solidFill>
                  <a:srgbClr val="1F2B26"/>
                </a:solidFill>
                <a:latin typeface="微软雅黑" panose="020B0503020204020204" charset="-122"/>
                <a:ea typeface="微软雅黑" panose="020B0503020204020204" charset="-122"/>
              </a:rPr>
              <a:t>时间线与搜索</a:t>
            </a:r>
            <a:endParaRPr lang="zh-CN" sz="1350" b="1">
              <a:solidFill>
                <a:srgbClr val="1F2B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5" name="文本框 448" descr="{&quot;isTemplate&quot;:true,&quot;type&quot;:&quot;text&quot;}"/>
          <p:cNvSpPr txBox="1"/>
          <p:nvPr/>
        </p:nvSpPr>
        <p:spPr>
          <a:xfrm>
            <a:off x="7105650" y="4705350"/>
            <a:ext cx="451485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35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按月回顾，关键词与分支筛选</a:t>
            </a:r>
            <a:endParaRPr lang="zh-CN" sz="1350">
              <a:solidFill>
                <a:srgbClr val="5C6B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6" name="任意多边形 449"/>
          <p:cNvSpPr/>
          <p:nvPr/>
        </p:nvSpPr>
        <p:spPr>
          <a:xfrm>
            <a:off x="7105650" y="5114925"/>
            <a:ext cx="4514850" cy="866775"/>
          </a:xfrm>
          <a:custGeom>
            <a:avLst/>
            <a:gdLst/>
            <a:ahLst/>
            <a:cxnLst/>
            <a:pathLst>
              <a:path w="474" h="91">
                <a:moveTo>
                  <a:pt x="0" y="0"/>
                </a:moveTo>
                <a:lnTo>
                  <a:pt x="474" y="0"/>
                </a:lnTo>
                <a:lnTo>
                  <a:pt x="474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6DF"/>
          </a:solidFill>
        </p:spPr>
        <p:txBody>
          <a:bodyPr/>
          <a:p/>
        </p:txBody>
      </p:sp>
      <p:sp>
        <p:nvSpPr>
          <p:cNvPr id="537" name="文本框 450" descr="{&quot;isTemplate&quot;:true,&quot;type&quot;:&quot;text&quot;}"/>
          <p:cNvSpPr txBox="1"/>
          <p:nvPr/>
        </p:nvSpPr>
        <p:spPr>
          <a:xfrm>
            <a:off x="7105650" y="5238750"/>
            <a:ext cx="451485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350" b="1">
                <a:solidFill>
                  <a:srgbClr val="1F2B26"/>
                </a:solidFill>
                <a:latin typeface="微软雅黑" panose="020B0503020204020204" charset="-122"/>
                <a:ea typeface="微软雅黑" panose="020B0503020204020204" charset="-122"/>
              </a:rPr>
              <a:t>桌面关系微图</a:t>
            </a:r>
            <a:endParaRPr lang="zh-CN" sz="1350" b="1">
              <a:solidFill>
                <a:srgbClr val="1F2B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8" name="文本框 451" descr="{&quot;isTemplate&quot;:true,&quot;type&quot;:&quot;text&quot;}"/>
          <p:cNvSpPr txBox="1"/>
          <p:nvPr/>
        </p:nvSpPr>
        <p:spPr>
          <a:xfrm>
            <a:off x="7105650" y="5562600"/>
            <a:ext cx="451485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35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2×2 </a:t>
            </a:r>
            <a:r>
              <a:rPr lang="zh-CN" sz="135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卡片，默认隐藏姓名</a:t>
            </a:r>
            <a:endParaRPr lang="zh-CN" sz="1350">
              <a:solidFill>
                <a:srgbClr val="5C6B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9" name="任意多边形 452"/>
          <p:cNvSpPr/>
          <p:nvPr/>
        </p:nvSpPr>
        <p:spPr>
          <a:xfrm>
            <a:off x="7105650" y="5972175"/>
            <a:ext cx="4514850" cy="885825"/>
          </a:xfrm>
          <a:custGeom>
            <a:avLst/>
            <a:gdLst/>
            <a:ahLst/>
            <a:cxnLst/>
            <a:pathLst>
              <a:path w="474" h="93">
                <a:moveTo>
                  <a:pt x="0" y="0"/>
                </a:moveTo>
                <a:lnTo>
                  <a:pt x="474" y="0"/>
                </a:lnTo>
                <a:lnTo>
                  <a:pt x="474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6DF"/>
          </a:solidFill>
        </p:spPr>
        <p:txBody>
          <a:bodyPr/>
          <a:p/>
        </p:txBody>
      </p:sp>
      <p:sp>
        <p:nvSpPr>
          <p:cNvPr id="540" name="任意多边形 453"/>
          <p:cNvSpPr/>
          <p:nvPr/>
        </p:nvSpPr>
        <p:spPr>
          <a:xfrm>
            <a:off x="7105650" y="5972175"/>
            <a:ext cx="4514850" cy="885825"/>
          </a:xfrm>
          <a:custGeom>
            <a:avLst/>
            <a:gdLst/>
            <a:ahLst/>
            <a:cxnLst/>
            <a:pathLst>
              <a:path w="474" h="93">
                <a:moveTo>
                  <a:pt x="0" y="92"/>
                </a:moveTo>
                <a:lnTo>
                  <a:pt x="474" y="92"/>
                </a:lnTo>
                <a:lnTo>
                  <a:pt x="474" y="93"/>
                </a:lnTo>
                <a:lnTo>
                  <a:pt x="0" y="93"/>
                </a:lnTo>
                <a:close/>
              </a:path>
            </a:pathLst>
          </a:custGeom>
          <a:solidFill>
            <a:srgbClr val="E2E6DF"/>
          </a:solidFill>
        </p:spPr>
        <p:txBody>
          <a:bodyPr/>
          <a:p/>
        </p:txBody>
      </p:sp>
      <p:sp>
        <p:nvSpPr>
          <p:cNvPr id="541" name="文本框 454" descr="{&quot;isTemplate&quot;:true,&quot;type&quot;:&quot;text&quot;}"/>
          <p:cNvSpPr txBox="1"/>
          <p:nvPr/>
        </p:nvSpPr>
        <p:spPr>
          <a:xfrm>
            <a:off x="7105650" y="6096000"/>
            <a:ext cx="451485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350" b="1">
                <a:solidFill>
                  <a:srgbClr val="1F2B26"/>
                </a:solidFill>
                <a:latin typeface="微软雅黑" panose="020B0503020204020204" charset="-122"/>
                <a:ea typeface="微软雅黑" panose="020B0503020204020204" charset="-122"/>
              </a:rPr>
              <a:t>本机备份恢复</a:t>
            </a:r>
            <a:endParaRPr lang="zh-CN" sz="1350" b="1">
              <a:solidFill>
                <a:srgbClr val="1F2B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2" name="文本框 455" descr="{&quot;isTemplate&quot;:true,&quot;type&quot;:&quot;text&quot;}"/>
          <p:cNvSpPr txBox="1"/>
          <p:nvPr/>
        </p:nvSpPr>
        <p:spPr>
          <a:xfrm>
            <a:off x="7105650" y="6419850"/>
            <a:ext cx="451485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35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12 </a:t>
            </a:r>
            <a:r>
              <a:rPr lang="zh-CN" sz="135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张表与媒体的</a:t>
            </a:r>
            <a:r>
              <a:rPr lang="en-US" sz="135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 ZIP </a:t>
            </a:r>
            <a:r>
              <a:rPr lang="zh-CN" sz="135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往返</a:t>
            </a:r>
            <a:endParaRPr lang="zh-CN" sz="1350">
              <a:solidFill>
                <a:srgbClr val="5C6B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3" name="文本框 456" descr="{&quot;isTemplate&quot;:true,&quot;type&quot;:&quot;text&quot;}"/>
          <p:cNvSpPr txBox="1"/>
          <p:nvPr/>
        </p:nvSpPr>
        <p:spPr>
          <a:xfrm>
            <a:off x="571500" y="6400800"/>
            <a:ext cx="13049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AA69D"/>
                </a:solidFill>
                <a:latin typeface="微软雅黑" panose="020B0503020204020204" charset="-122"/>
                <a:ea typeface="微软雅黑" panose="020B0503020204020204" charset="-122"/>
              </a:rPr>
              <a:t>Life Graph · </a:t>
            </a:r>
            <a:r>
              <a:rPr lang="zh-CN" sz="1050">
                <a:solidFill>
                  <a:srgbClr val="9AA69D"/>
                </a:solidFill>
                <a:latin typeface="微软雅黑" panose="020B0503020204020204" charset="-122"/>
                <a:ea typeface="微软雅黑" panose="020B0503020204020204" charset="-122"/>
              </a:rPr>
              <a:t>生活脉络</a:t>
            </a:r>
            <a:endParaRPr lang="zh-CN" sz="1050">
              <a:solidFill>
                <a:srgbClr val="9AA69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4" name="文本框 457" descr="{&quot;isTemplate&quot;:true,&quot;type&quot;:&quot;text&quot;}"/>
          <p:cNvSpPr txBox="1"/>
          <p:nvPr/>
        </p:nvSpPr>
        <p:spPr>
          <a:xfrm>
            <a:off x="11458575" y="6400800"/>
            <a:ext cx="1619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AA69D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lang="en-US" sz="1050">
              <a:solidFill>
                <a:srgbClr val="9AA69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矩形 45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8F2"/>
          </a:solidFill>
        </p:spPr>
        <p:txBody>
          <a:bodyPr/>
          <a:p/>
        </p:txBody>
      </p:sp>
      <p:sp>
        <p:nvSpPr>
          <p:cNvPr id="547" name="文本框 460" descr="{&quot;isTemplate&quot;:true,&quot;type&quot;:&quot;text&quot;}"/>
          <p:cNvSpPr txBox="1"/>
          <p:nvPr/>
        </p:nvSpPr>
        <p:spPr>
          <a:xfrm>
            <a:off x="533400" y="1866900"/>
            <a:ext cx="2400300" cy="2400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0" b="1" spc="-300">
                <a:solidFill>
                  <a:srgbClr val="DFE8DB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sz="15750" b="1" spc="-300">
              <a:solidFill>
                <a:srgbClr val="DFE8D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8" name="文本框 461" descr="{&quot;isTemplate&quot;:true,&quot;type&quot;:&quot;text&quot;}"/>
          <p:cNvSpPr txBox="1"/>
          <p:nvPr/>
        </p:nvSpPr>
        <p:spPr>
          <a:xfrm>
            <a:off x="4762500" y="2495550"/>
            <a:ext cx="6286500" cy="600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900" b="1" spc="225">
                <a:solidFill>
                  <a:srgbClr val="1F2B26"/>
                </a:solidFill>
                <a:latin typeface="微软雅黑" panose="020B0503020204020204" charset="-122"/>
                <a:ea typeface="微软雅黑" panose="020B0503020204020204" charset="-122"/>
              </a:rPr>
              <a:t>用户洞察</a:t>
            </a:r>
            <a:endParaRPr lang="zh-CN" sz="3900" b="1" spc="225">
              <a:solidFill>
                <a:srgbClr val="1F2B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9" name="文本框 462" descr="{&quot;isTemplate&quot;:true,&quot;type&quot;:&quot;text&quot;}"/>
          <p:cNvSpPr txBox="1"/>
          <p:nvPr/>
        </p:nvSpPr>
        <p:spPr>
          <a:xfrm>
            <a:off x="4762500" y="3305175"/>
            <a:ext cx="533400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350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70 </a:t>
            </a:r>
            <a:r>
              <a:rPr lang="zh-CN" sz="1350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条问卷、</a:t>
            </a:r>
            <a:r>
              <a:rPr lang="en-US" sz="1350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5 </a:t>
            </a:r>
            <a:r>
              <a:rPr lang="zh-CN" sz="1350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位受访者，决定了这个产品该做什么、不该做什么。</a:t>
            </a:r>
            <a:endParaRPr lang="zh-CN" sz="1350">
              <a:solidFill>
                <a:srgbClr val="7C8A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0" name="矩形 463"/>
          <p:cNvSpPr/>
          <p:nvPr/>
        </p:nvSpPr>
        <p:spPr>
          <a:xfrm>
            <a:off x="571500" y="4476750"/>
            <a:ext cx="11049000" cy="9525"/>
          </a:xfrm>
          <a:prstGeom prst="rect">
            <a:avLst/>
          </a:prstGeom>
          <a:solidFill>
            <a:srgbClr val="DCE3DA"/>
          </a:solidFill>
        </p:spPr>
        <p:txBody>
          <a:bodyPr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矩形 46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8F2"/>
          </a:solidFill>
        </p:spPr>
        <p:txBody>
          <a:bodyPr/>
          <a:p/>
        </p:txBody>
      </p:sp>
      <p:sp>
        <p:nvSpPr>
          <p:cNvPr id="553" name="圆角矩形 466"/>
          <p:cNvSpPr/>
          <p:nvPr/>
        </p:nvSpPr>
        <p:spPr>
          <a:xfrm>
            <a:off x="571500" y="6286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C05F38"/>
          </a:solidFill>
        </p:spPr>
        <p:txBody>
          <a:bodyPr/>
          <a:p/>
        </p:txBody>
      </p:sp>
      <p:sp>
        <p:nvSpPr>
          <p:cNvPr id="554" name="文本框 467" descr="{&quot;isTemplate&quot;:true,&quot;type&quot;:&quot;text&quot;}"/>
          <p:cNvSpPr txBox="1"/>
          <p:nvPr/>
        </p:nvSpPr>
        <p:spPr>
          <a:xfrm>
            <a:off x="723900" y="571500"/>
            <a:ext cx="10477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13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02 — </a:t>
            </a:r>
            <a:r>
              <a:rPr lang="zh-CN" sz="1050" spc="113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用户洞察</a:t>
            </a:r>
            <a:endParaRPr lang="zh-CN" sz="1050" spc="113">
              <a:solidFill>
                <a:srgbClr val="7C8A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5" name="文本框 468" descr="{&quot;isTemplate&quot;:true,&quot;type&quot;:&quot;text&quot;}"/>
          <p:cNvSpPr txBox="1"/>
          <p:nvPr/>
        </p:nvSpPr>
        <p:spPr>
          <a:xfrm>
            <a:off x="571500" y="809625"/>
            <a:ext cx="11049000" cy="4667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F2B26"/>
                </a:solidFill>
                <a:latin typeface="微软雅黑" panose="020B0503020204020204" charset="-122"/>
                <a:ea typeface="微软雅黑" panose="020B0503020204020204" charset="-122"/>
              </a:rPr>
              <a:t>需求不是想出来的：</a:t>
            </a:r>
            <a:r>
              <a:rPr lang="en-US" sz="2550" b="1">
                <a:solidFill>
                  <a:srgbClr val="1F2B26"/>
                </a:solidFill>
                <a:latin typeface="微软雅黑" panose="020B0503020204020204" charset="-122"/>
                <a:ea typeface="微软雅黑" panose="020B0503020204020204" charset="-122"/>
              </a:rPr>
              <a:t>70 </a:t>
            </a:r>
            <a:r>
              <a:rPr lang="zh-CN" sz="2550" b="1">
                <a:solidFill>
                  <a:srgbClr val="1F2B26"/>
                </a:solidFill>
                <a:latin typeface="微软雅黑" panose="020B0503020204020204" charset="-122"/>
                <a:ea typeface="微软雅黑" panose="020B0503020204020204" charset="-122"/>
              </a:rPr>
              <a:t>份问卷指向同一件事</a:t>
            </a:r>
            <a:endParaRPr lang="zh-CN" sz="2550" b="1">
              <a:solidFill>
                <a:srgbClr val="1F2B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6" name="矩形 469"/>
          <p:cNvSpPr/>
          <p:nvPr/>
        </p:nvSpPr>
        <p:spPr>
          <a:xfrm>
            <a:off x="571500" y="1428750"/>
            <a:ext cx="11049000" cy="9525"/>
          </a:xfrm>
          <a:prstGeom prst="rect">
            <a:avLst/>
          </a:prstGeom>
          <a:solidFill>
            <a:srgbClr val="D9DFD7"/>
          </a:solidFill>
        </p:spPr>
        <p:txBody>
          <a:bodyPr/>
          <a:p/>
        </p:txBody>
      </p:sp>
      <p:sp>
        <p:nvSpPr>
          <p:cNvPr id="557" name="文本框 470" descr="{&quot;isTemplate&quot;:true,&quot;type&quot;:&quot;text&quot;}"/>
          <p:cNvSpPr txBox="1"/>
          <p:nvPr/>
        </p:nvSpPr>
        <p:spPr>
          <a:xfrm>
            <a:off x="571500" y="1685925"/>
            <a:ext cx="59055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关键需求　·　选择「比较需要」或「非常需要」的比例（</a:t>
            </a:r>
            <a:r>
              <a:rPr lang="en-US" sz="1050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n = 70</a:t>
            </a:r>
            <a:r>
              <a:rPr lang="zh-CN" sz="1050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sz="1050">
              <a:solidFill>
                <a:srgbClr val="7C8A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8" name="文本框 471" descr="{&quot;isTemplate&quot;:true,&quot;type&quot;:&quot;text&quot;}"/>
          <p:cNvSpPr txBox="1"/>
          <p:nvPr/>
        </p:nvSpPr>
        <p:spPr>
          <a:xfrm>
            <a:off x="571500" y="2343150"/>
            <a:ext cx="40005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E3B34"/>
                </a:solidFill>
                <a:latin typeface="微软雅黑" panose="020B0503020204020204" charset="-122"/>
                <a:ea typeface="微软雅黑" panose="020B0503020204020204" charset="-122"/>
              </a:rPr>
              <a:t>把事件关联到多个人物</a:t>
            </a:r>
            <a:endParaRPr lang="zh-CN" sz="1350">
              <a:solidFill>
                <a:srgbClr val="2E3B3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9" name="文本框 472" descr="{&quot;isTemplate&quot;:true,&quot;type&quot;:&quot;text&quot;}"/>
          <p:cNvSpPr txBox="1"/>
          <p:nvPr/>
        </p:nvSpPr>
        <p:spPr>
          <a:xfrm>
            <a:off x="5124450" y="2019300"/>
            <a:ext cx="1352550" cy="533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450" b="1">
                <a:solidFill>
                  <a:srgbClr val="C05F38"/>
                </a:solidFill>
                <a:latin typeface="微软雅黑" panose="020B0503020204020204" charset="-122"/>
                <a:ea typeface="微软雅黑" panose="020B0503020204020204" charset="-122"/>
              </a:rPr>
              <a:t>67.1%</a:t>
            </a:r>
            <a:endParaRPr lang="en-US" sz="3450" b="1">
              <a:solidFill>
                <a:srgbClr val="C05F3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0" name="圆角矩形 473"/>
          <p:cNvSpPr/>
          <p:nvPr/>
        </p:nvSpPr>
        <p:spPr>
          <a:xfrm>
            <a:off x="571500" y="2667000"/>
            <a:ext cx="5905500" cy="57150"/>
          </a:xfrm>
          <a:prstGeom prst="roundRect">
            <a:avLst>
              <a:gd name="adj" fmla="val 50000"/>
            </a:avLst>
          </a:prstGeom>
          <a:solidFill>
            <a:srgbClr val="E3E9DF"/>
          </a:solidFill>
        </p:spPr>
        <p:txBody>
          <a:bodyPr/>
          <a:p/>
        </p:txBody>
      </p:sp>
      <p:sp>
        <p:nvSpPr>
          <p:cNvPr id="561" name="圆角矩形 474"/>
          <p:cNvSpPr/>
          <p:nvPr/>
        </p:nvSpPr>
        <p:spPr>
          <a:xfrm>
            <a:off x="571500" y="2667000"/>
            <a:ext cx="3952875" cy="57150"/>
          </a:xfrm>
          <a:prstGeom prst="roundRect">
            <a:avLst>
              <a:gd name="adj" fmla="val 50000"/>
            </a:avLst>
          </a:prstGeom>
          <a:solidFill>
            <a:srgbClr val="C05F38"/>
          </a:solidFill>
        </p:spPr>
        <p:txBody>
          <a:bodyPr/>
          <a:p/>
        </p:txBody>
      </p:sp>
      <p:sp>
        <p:nvSpPr>
          <p:cNvPr id="562" name="文本框 475" descr="{&quot;isTemplate&quot;:true,&quot;type&quot;:&quot;text&quot;}"/>
          <p:cNvSpPr txBox="1"/>
          <p:nvPr/>
        </p:nvSpPr>
        <p:spPr>
          <a:xfrm>
            <a:off x="571500" y="3295650"/>
            <a:ext cx="40005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E3B34"/>
                </a:solidFill>
                <a:latin typeface="微软雅黑" panose="020B0503020204020204" charset="-122"/>
                <a:ea typeface="微软雅黑" panose="020B0503020204020204" charset="-122"/>
              </a:rPr>
              <a:t>设置关系类型与强度</a:t>
            </a:r>
            <a:endParaRPr lang="zh-CN" sz="1350">
              <a:solidFill>
                <a:srgbClr val="2E3B3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3" name="文本框 476" descr="{&quot;isTemplate&quot;:true,&quot;type&quot;:&quot;text&quot;}"/>
          <p:cNvSpPr txBox="1"/>
          <p:nvPr/>
        </p:nvSpPr>
        <p:spPr>
          <a:xfrm>
            <a:off x="5124450" y="2971800"/>
            <a:ext cx="1352550" cy="533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450" b="1">
                <a:solidFill>
                  <a:srgbClr val="C05F38"/>
                </a:solidFill>
                <a:latin typeface="微软雅黑" panose="020B0503020204020204" charset="-122"/>
                <a:ea typeface="微软雅黑" panose="020B0503020204020204" charset="-122"/>
              </a:rPr>
              <a:t>68.6%</a:t>
            </a:r>
            <a:endParaRPr lang="en-US" sz="3450" b="1">
              <a:solidFill>
                <a:srgbClr val="C05F3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4" name="圆角矩形 477"/>
          <p:cNvSpPr/>
          <p:nvPr/>
        </p:nvSpPr>
        <p:spPr>
          <a:xfrm>
            <a:off x="571500" y="3619500"/>
            <a:ext cx="5905500" cy="57150"/>
          </a:xfrm>
          <a:prstGeom prst="roundRect">
            <a:avLst>
              <a:gd name="adj" fmla="val 50000"/>
            </a:avLst>
          </a:prstGeom>
          <a:solidFill>
            <a:srgbClr val="E3E9DF"/>
          </a:solidFill>
        </p:spPr>
        <p:txBody>
          <a:bodyPr/>
          <a:p/>
        </p:txBody>
      </p:sp>
      <p:sp>
        <p:nvSpPr>
          <p:cNvPr id="565" name="圆角矩形 478"/>
          <p:cNvSpPr/>
          <p:nvPr/>
        </p:nvSpPr>
        <p:spPr>
          <a:xfrm>
            <a:off x="571500" y="3619500"/>
            <a:ext cx="4048125" cy="57150"/>
          </a:xfrm>
          <a:prstGeom prst="roundRect">
            <a:avLst>
              <a:gd name="adj" fmla="val 50000"/>
            </a:avLst>
          </a:prstGeom>
          <a:solidFill>
            <a:srgbClr val="C05F38"/>
          </a:solidFill>
        </p:spPr>
        <p:txBody>
          <a:bodyPr/>
          <a:p/>
        </p:txBody>
      </p:sp>
      <p:sp>
        <p:nvSpPr>
          <p:cNvPr id="566" name="文本框 479" descr="{&quot;isTemplate&quot;:true,&quot;type&quot;:&quot;text&quot;}"/>
          <p:cNvSpPr txBox="1"/>
          <p:nvPr/>
        </p:nvSpPr>
        <p:spPr>
          <a:xfrm>
            <a:off x="571500" y="4248150"/>
            <a:ext cx="40005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E3B34"/>
                </a:solidFill>
                <a:latin typeface="微软雅黑" panose="020B0503020204020204" charset="-122"/>
                <a:ea typeface="微软雅黑" panose="020B0503020204020204" charset="-122"/>
              </a:rPr>
              <a:t>愿意尝试图谱形式的记录应用</a:t>
            </a:r>
            <a:endParaRPr lang="zh-CN" sz="1350">
              <a:solidFill>
                <a:srgbClr val="2E3B3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7" name="文本框 480" descr="{&quot;isTemplate&quot;:true,&quot;type&quot;:&quot;text&quot;}"/>
          <p:cNvSpPr txBox="1"/>
          <p:nvPr/>
        </p:nvSpPr>
        <p:spPr>
          <a:xfrm>
            <a:off x="5124450" y="3924300"/>
            <a:ext cx="1352550" cy="533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450" b="1">
                <a:solidFill>
                  <a:srgbClr val="C05F38"/>
                </a:solidFill>
                <a:latin typeface="微软雅黑" panose="020B0503020204020204" charset="-122"/>
                <a:ea typeface="微软雅黑" panose="020B0503020204020204" charset="-122"/>
              </a:rPr>
              <a:t>72.9%</a:t>
            </a:r>
            <a:endParaRPr lang="en-US" sz="3450" b="1">
              <a:solidFill>
                <a:srgbClr val="C05F3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8" name="圆角矩形 481"/>
          <p:cNvSpPr/>
          <p:nvPr/>
        </p:nvSpPr>
        <p:spPr>
          <a:xfrm>
            <a:off x="571500" y="4572000"/>
            <a:ext cx="5905500" cy="57150"/>
          </a:xfrm>
          <a:prstGeom prst="roundRect">
            <a:avLst>
              <a:gd name="adj" fmla="val 50000"/>
            </a:avLst>
          </a:prstGeom>
          <a:solidFill>
            <a:srgbClr val="E3E9DF"/>
          </a:solidFill>
        </p:spPr>
        <p:txBody>
          <a:bodyPr/>
          <a:p/>
        </p:txBody>
      </p:sp>
      <p:sp>
        <p:nvSpPr>
          <p:cNvPr id="569" name="圆角矩形 482"/>
          <p:cNvSpPr/>
          <p:nvPr/>
        </p:nvSpPr>
        <p:spPr>
          <a:xfrm>
            <a:off x="571500" y="4572000"/>
            <a:ext cx="4305300" cy="57150"/>
          </a:xfrm>
          <a:prstGeom prst="roundRect">
            <a:avLst>
              <a:gd name="adj" fmla="val 50000"/>
            </a:avLst>
          </a:prstGeom>
          <a:solidFill>
            <a:srgbClr val="C05F38"/>
          </a:solidFill>
        </p:spPr>
        <p:txBody>
          <a:bodyPr/>
          <a:p/>
        </p:txBody>
      </p:sp>
      <p:sp>
        <p:nvSpPr>
          <p:cNvPr id="570" name="文本框 483" descr="{&quot;isTemplate&quot;:true,&quot;type&quot;:&quot;text&quot;}"/>
          <p:cNvSpPr txBox="1"/>
          <p:nvPr/>
        </p:nvSpPr>
        <p:spPr>
          <a:xfrm>
            <a:off x="571500" y="4895850"/>
            <a:ext cx="5905500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三项同时超过</a:t>
            </a:r>
            <a:r>
              <a:rPr lang="en-US" sz="135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 67%——</a:t>
            </a:r>
            <a:r>
              <a:rPr lang="zh-CN" sz="135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它们不是三个功能，是同一件事的三个面。</a:t>
            </a:r>
            <a:endParaRPr lang="zh-CN" sz="1350">
              <a:solidFill>
                <a:srgbClr val="5C6B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1" name="文本框 484" descr="{&quot;isTemplate&quot;:true,&quot;type&quot;:&quot;text&quot;}"/>
          <p:cNvSpPr txBox="1"/>
          <p:nvPr/>
        </p:nvSpPr>
        <p:spPr>
          <a:xfrm>
            <a:off x="7010400" y="1685925"/>
            <a:ext cx="46101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现在用什么记录　·　多选（</a:t>
            </a:r>
            <a:r>
              <a:rPr lang="en-US" sz="1050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n = 70</a:t>
            </a:r>
            <a:r>
              <a:rPr lang="zh-CN" sz="1050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sz="1050">
              <a:solidFill>
                <a:srgbClr val="7C8A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2" name="文本框 485" descr="{&quot;isTemplate&quot;:true,&quot;type&quot;:&quot;text&quot;}"/>
          <p:cNvSpPr txBox="1"/>
          <p:nvPr/>
        </p:nvSpPr>
        <p:spPr>
          <a:xfrm>
            <a:off x="7010400" y="2019300"/>
            <a:ext cx="6858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E3B34"/>
                </a:solidFill>
                <a:latin typeface="微软雅黑" panose="020B0503020204020204" charset="-122"/>
                <a:ea typeface="微软雅黑" panose="020B0503020204020204" charset="-122"/>
              </a:rPr>
              <a:t>手机相册</a:t>
            </a:r>
            <a:endParaRPr lang="zh-CN" sz="1350">
              <a:solidFill>
                <a:srgbClr val="2E3B3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3" name="文本框 486" descr="{&quot;isTemplate&quot;:true,&quot;type&quot;:&quot;text&quot;}"/>
          <p:cNvSpPr txBox="1"/>
          <p:nvPr/>
        </p:nvSpPr>
        <p:spPr>
          <a:xfrm>
            <a:off x="11087100" y="2019300"/>
            <a:ext cx="5334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3B4A41"/>
                </a:solidFill>
                <a:latin typeface="微软雅黑" panose="020B0503020204020204" charset="-122"/>
                <a:ea typeface="微软雅黑" panose="020B0503020204020204" charset="-122"/>
              </a:rPr>
              <a:t>72.9%</a:t>
            </a:r>
            <a:endParaRPr lang="en-US" sz="1350" b="1">
              <a:solidFill>
                <a:srgbClr val="3B4A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4" name="圆角矩形 487"/>
          <p:cNvSpPr/>
          <p:nvPr/>
        </p:nvSpPr>
        <p:spPr>
          <a:xfrm>
            <a:off x="7010400" y="2305050"/>
            <a:ext cx="4610100" cy="57150"/>
          </a:xfrm>
          <a:prstGeom prst="roundRect">
            <a:avLst>
              <a:gd name="adj" fmla="val 50000"/>
            </a:avLst>
          </a:prstGeom>
          <a:solidFill>
            <a:srgbClr val="E3E9DF"/>
          </a:solidFill>
        </p:spPr>
        <p:txBody>
          <a:bodyPr/>
          <a:p/>
        </p:txBody>
      </p:sp>
      <p:sp>
        <p:nvSpPr>
          <p:cNvPr id="575" name="圆角矩形 488"/>
          <p:cNvSpPr/>
          <p:nvPr/>
        </p:nvSpPr>
        <p:spPr>
          <a:xfrm>
            <a:off x="7010400" y="2305050"/>
            <a:ext cx="3362325" cy="57150"/>
          </a:xfrm>
          <a:prstGeom prst="roundRect">
            <a:avLst>
              <a:gd name="adj" fmla="val 50000"/>
            </a:avLst>
          </a:prstGeom>
          <a:solidFill>
            <a:srgbClr val="2C4A3F"/>
          </a:solidFill>
        </p:spPr>
        <p:txBody>
          <a:bodyPr/>
          <a:p/>
        </p:txBody>
      </p:sp>
      <p:sp>
        <p:nvSpPr>
          <p:cNvPr id="576" name="文本框 489" descr="{&quot;isTemplate&quot;:true,&quot;type&quot;:&quot;text&quot;}"/>
          <p:cNvSpPr txBox="1"/>
          <p:nvPr/>
        </p:nvSpPr>
        <p:spPr>
          <a:xfrm>
            <a:off x="7010400" y="2533650"/>
            <a:ext cx="6858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E3B34"/>
                </a:solidFill>
                <a:latin typeface="微软雅黑" panose="020B0503020204020204" charset="-122"/>
                <a:ea typeface="微软雅黑" panose="020B0503020204020204" charset="-122"/>
              </a:rPr>
              <a:t>社交媒体</a:t>
            </a:r>
            <a:endParaRPr lang="zh-CN" sz="1350">
              <a:solidFill>
                <a:srgbClr val="2E3B3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7" name="文本框 490" descr="{&quot;isTemplate&quot;:true,&quot;type&quot;:&quot;text&quot;}"/>
          <p:cNvSpPr txBox="1"/>
          <p:nvPr/>
        </p:nvSpPr>
        <p:spPr>
          <a:xfrm>
            <a:off x="11087100" y="2533650"/>
            <a:ext cx="5334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3B4A41"/>
                </a:solidFill>
                <a:latin typeface="微软雅黑" panose="020B0503020204020204" charset="-122"/>
                <a:ea typeface="微软雅黑" panose="020B0503020204020204" charset="-122"/>
              </a:rPr>
              <a:t>65.7%</a:t>
            </a:r>
            <a:endParaRPr lang="en-US" sz="1350" b="1">
              <a:solidFill>
                <a:srgbClr val="3B4A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8" name="圆角矩形 491"/>
          <p:cNvSpPr/>
          <p:nvPr/>
        </p:nvSpPr>
        <p:spPr>
          <a:xfrm>
            <a:off x="7010400" y="2819400"/>
            <a:ext cx="4610100" cy="57150"/>
          </a:xfrm>
          <a:prstGeom prst="roundRect">
            <a:avLst>
              <a:gd name="adj" fmla="val 50000"/>
            </a:avLst>
          </a:prstGeom>
          <a:solidFill>
            <a:srgbClr val="E3E9DF"/>
          </a:solidFill>
        </p:spPr>
        <p:txBody>
          <a:bodyPr/>
          <a:p/>
        </p:txBody>
      </p:sp>
      <p:sp>
        <p:nvSpPr>
          <p:cNvPr id="579" name="圆角矩形 492"/>
          <p:cNvSpPr/>
          <p:nvPr/>
        </p:nvSpPr>
        <p:spPr>
          <a:xfrm>
            <a:off x="7010400" y="2819400"/>
            <a:ext cx="3028950" cy="57150"/>
          </a:xfrm>
          <a:prstGeom prst="roundRect">
            <a:avLst>
              <a:gd name="adj" fmla="val 50000"/>
            </a:avLst>
          </a:prstGeom>
          <a:solidFill>
            <a:srgbClr val="2C4A3F"/>
          </a:solidFill>
        </p:spPr>
        <p:txBody>
          <a:bodyPr/>
          <a:p/>
        </p:txBody>
      </p:sp>
      <p:sp>
        <p:nvSpPr>
          <p:cNvPr id="580" name="文本框 493" descr="{&quot;isTemplate&quot;:true,&quot;type&quot;:&quot;text&quot;}"/>
          <p:cNvSpPr txBox="1"/>
          <p:nvPr/>
        </p:nvSpPr>
        <p:spPr>
          <a:xfrm>
            <a:off x="7010400" y="3048000"/>
            <a:ext cx="10287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E3B34"/>
                </a:solidFill>
                <a:latin typeface="微软雅黑" panose="020B0503020204020204" charset="-122"/>
                <a:ea typeface="微软雅黑" panose="020B0503020204020204" charset="-122"/>
              </a:rPr>
              <a:t>电子笔记应用</a:t>
            </a:r>
            <a:endParaRPr lang="zh-CN" sz="1350">
              <a:solidFill>
                <a:srgbClr val="2E3B3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1" name="文本框 494" descr="{&quot;isTemplate&quot;:true,&quot;type&quot;:&quot;text&quot;}"/>
          <p:cNvSpPr txBox="1"/>
          <p:nvPr/>
        </p:nvSpPr>
        <p:spPr>
          <a:xfrm>
            <a:off x="11087100" y="3048000"/>
            <a:ext cx="5334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3B4A41"/>
                </a:solidFill>
                <a:latin typeface="微软雅黑" panose="020B0503020204020204" charset="-122"/>
                <a:ea typeface="微软雅黑" panose="020B0503020204020204" charset="-122"/>
              </a:rPr>
              <a:t>45.7%</a:t>
            </a:r>
            <a:endParaRPr lang="en-US" sz="1350" b="1">
              <a:solidFill>
                <a:srgbClr val="3B4A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2" name="圆角矩形 495"/>
          <p:cNvSpPr/>
          <p:nvPr/>
        </p:nvSpPr>
        <p:spPr>
          <a:xfrm>
            <a:off x="7010400" y="3333750"/>
            <a:ext cx="4610100" cy="57150"/>
          </a:xfrm>
          <a:prstGeom prst="roundRect">
            <a:avLst>
              <a:gd name="adj" fmla="val 50000"/>
            </a:avLst>
          </a:prstGeom>
          <a:solidFill>
            <a:srgbClr val="E3E9DF"/>
          </a:solidFill>
        </p:spPr>
        <p:txBody>
          <a:bodyPr/>
          <a:p/>
        </p:txBody>
      </p:sp>
      <p:sp>
        <p:nvSpPr>
          <p:cNvPr id="583" name="圆角矩形 496"/>
          <p:cNvSpPr/>
          <p:nvPr/>
        </p:nvSpPr>
        <p:spPr>
          <a:xfrm>
            <a:off x="7010400" y="3333750"/>
            <a:ext cx="2105025" cy="57150"/>
          </a:xfrm>
          <a:prstGeom prst="roundRect">
            <a:avLst>
              <a:gd name="adj" fmla="val 50000"/>
            </a:avLst>
          </a:prstGeom>
          <a:solidFill>
            <a:srgbClr val="2C4A3F"/>
          </a:solidFill>
        </p:spPr>
        <p:txBody>
          <a:bodyPr/>
          <a:p/>
        </p:txBody>
      </p:sp>
      <p:sp>
        <p:nvSpPr>
          <p:cNvPr id="584" name="文本框 497" descr="{&quot;isTemplate&quot;:true,&quot;type&quot;:&quot;text&quot;}"/>
          <p:cNvSpPr txBox="1"/>
          <p:nvPr/>
        </p:nvSpPr>
        <p:spPr>
          <a:xfrm>
            <a:off x="7010400" y="3562350"/>
            <a:ext cx="12477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E3B34"/>
                </a:solidFill>
                <a:latin typeface="微软雅黑" panose="020B0503020204020204" charset="-122"/>
                <a:ea typeface="微软雅黑" panose="020B0503020204020204" charset="-122"/>
              </a:rPr>
              <a:t>专门的记录</a:t>
            </a:r>
            <a:r>
              <a:rPr lang="en-US" sz="1350">
                <a:solidFill>
                  <a:srgbClr val="2E3B34"/>
                </a:solidFill>
                <a:latin typeface="微软雅黑" panose="020B0503020204020204" charset="-122"/>
                <a:ea typeface="微软雅黑" panose="020B0503020204020204" charset="-122"/>
              </a:rPr>
              <a:t> App</a:t>
            </a:r>
            <a:endParaRPr lang="en-US" sz="1350">
              <a:solidFill>
                <a:srgbClr val="2E3B3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5" name="文本框 498" descr="{&quot;isTemplate&quot;:true,&quot;type&quot;:&quot;text&quot;}"/>
          <p:cNvSpPr txBox="1"/>
          <p:nvPr/>
        </p:nvSpPr>
        <p:spPr>
          <a:xfrm>
            <a:off x="11191875" y="3562350"/>
            <a:ext cx="4286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C05F38"/>
                </a:solidFill>
                <a:latin typeface="微软雅黑" panose="020B0503020204020204" charset="-122"/>
                <a:ea typeface="微软雅黑" panose="020B0503020204020204" charset="-122"/>
              </a:rPr>
              <a:t>7.1%</a:t>
            </a:r>
            <a:endParaRPr lang="en-US" sz="1350" b="1">
              <a:solidFill>
                <a:srgbClr val="C05F3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6" name="圆角矩形 499"/>
          <p:cNvSpPr/>
          <p:nvPr/>
        </p:nvSpPr>
        <p:spPr>
          <a:xfrm>
            <a:off x="7010400" y="3848100"/>
            <a:ext cx="4610100" cy="57150"/>
          </a:xfrm>
          <a:prstGeom prst="roundRect">
            <a:avLst>
              <a:gd name="adj" fmla="val 50000"/>
            </a:avLst>
          </a:prstGeom>
          <a:solidFill>
            <a:srgbClr val="E3E9DF"/>
          </a:solidFill>
        </p:spPr>
        <p:txBody>
          <a:bodyPr/>
          <a:p/>
        </p:txBody>
      </p:sp>
      <p:sp>
        <p:nvSpPr>
          <p:cNvPr id="587" name="圆角矩形 500"/>
          <p:cNvSpPr/>
          <p:nvPr/>
        </p:nvSpPr>
        <p:spPr>
          <a:xfrm>
            <a:off x="7010400" y="3848100"/>
            <a:ext cx="323850" cy="57150"/>
          </a:xfrm>
          <a:prstGeom prst="roundRect">
            <a:avLst>
              <a:gd name="adj" fmla="val 50000"/>
            </a:avLst>
          </a:prstGeom>
          <a:solidFill>
            <a:srgbClr val="9AA69D"/>
          </a:solidFill>
        </p:spPr>
        <p:txBody>
          <a:bodyPr/>
          <a:p/>
        </p:txBody>
      </p:sp>
      <p:sp>
        <p:nvSpPr>
          <p:cNvPr id="588" name="文本框 501" descr="{&quot;isTemplate&quot;:true,&quot;type&quot;:&quot;text&quot;}"/>
          <p:cNvSpPr txBox="1"/>
          <p:nvPr/>
        </p:nvSpPr>
        <p:spPr>
          <a:xfrm>
            <a:off x="7010400" y="4133850"/>
            <a:ext cx="4610100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记录散在不会被检索的地方，专用工具几乎没有被采用。</a:t>
            </a:r>
            <a:endParaRPr lang="zh-CN" sz="1350">
              <a:solidFill>
                <a:srgbClr val="5C6B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9" name="圆角矩形 502"/>
          <p:cNvSpPr/>
          <p:nvPr/>
        </p:nvSpPr>
        <p:spPr>
          <a:xfrm>
            <a:off x="600075" y="5467350"/>
            <a:ext cx="11020425" cy="762000"/>
          </a:xfrm>
          <a:prstGeom prst="roundRect">
            <a:avLst>
              <a:gd name="adj" fmla="val 5000"/>
            </a:avLst>
          </a:prstGeom>
          <a:solidFill>
            <a:srgbClr val="EDF2EA"/>
          </a:solidFill>
        </p:spPr>
        <p:txBody>
          <a:bodyPr/>
          <a:p/>
        </p:txBody>
      </p:sp>
      <p:sp>
        <p:nvSpPr>
          <p:cNvPr id="590" name="任意多边形 503"/>
          <p:cNvSpPr/>
          <p:nvPr/>
        </p:nvSpPr>
        <p:spPr>
          <a:xfrm>
            <a:off x="600075" y="5467350"/>
            <a:ext cx="11020425" cy="762000"/>
          </a:xfrm>
          <a:custGeom>
            <a:avLst/>
            <a:gdLst/>
            <a:ahLst/>
            <a:cxnLst/>
            <a:pathLst>
              <a:path w="1157" h="80">
                <a:moveTo>
                  <a:pt x="4" y="0"/>
                </a:moveTo>
                <a:cubicBezTo>
                  <a:pt x="3" y="0"/>
                  <a:pt x="3" y="0"/>
                  <a:pt x="3" y="1"/>
                </a:cubicBezTo>
                <a:lnTo>
                  <a:pt x="3" y="79"/>
                </a:lnTo>
                <a:cubicBezTo>
                  <a:pt x="3" y="79"/>
                  <a:pt x="3" y="80"/>
                  <a:pt x="4" y="80"/>
                </a:cubicBezTo>
                <a:cubicBezTo>
                  <a:pt x="2" y="80"/>
                  <a:pt x="0" y="78"/>
                  <a:pt x="0" y="76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C05F38"/>
          </a:solidFill>
        </p:spPr>
        <p:txBody>
          <a:bodyPr/>
          <a:p/>
        </p:txBody>
      </p:sp>
      <p:sp>
        <p:nvSpPr>
          <p:cNvPr id="591" name="文本框 504" descr="{&quot;isTemplate&quot;:true,&quot;type&quot;:&quot;text&quot;}"/>
          <p:cNvSpPr txBox="1"/>
          <p:nvPr/>
        </p:nvSpPr>
        <p:spPr>
          <a:xfrm>
            <a:off x="847725" y="5676900"/>
            <a:ext cx="10525125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00">
                <a:solidFill>
                  <a:srgbClr val="1F2B26"/>
                </a:solidFill>
                <a:latin typeface="微软雅黑" panose="020B0503020204020204" charset="-122"/>
                <a:ea typeface="微软雅黑" panose="020B0503020204020204" charset="-122"/>
              </a:rPr>
              <a:t>空白不在「愿不愿意记」，而在「记完找不回」——所以产品要解决的是结构，不是记录意愿。</a:t>
            </a:r>
            <a:endParaRPr lang="zh-CN" sz="1500">
              <a:solidFill>
                <a:srgbClr val="1F2B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2" name="文本框 505" descr="{&quot;isTemplate&quot;:true,&quot;type&quot;:&quot;text&quot;}"/>
          <p:cNvSpPr txBox="1"/>
          <p:nvPr/>
        </p:nvSpPr>
        <p:spPr>
          <a:xfrm>
            <a:off x="571500" y="6400800"/>
            <a:ext cx="13049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AA69D"/>
                </a:solidFill>
                <a:latin typeface="微软雅黑" panose="020B0503020204020204" charset="-122"/>
                <a:ea typeface="微软雅黑" panose="020B0503020204020204" charset="-122"/>
              </a:rPr>
              <a:t>Life Graph · </a:t>
            </a:r>
            <a:r>
              <a:rPr lang="zh-CN" sz="1050">
                <a:solidFill>
                  <a:srgbClr val="9AA69D"/>
                </a:solidFill>
                <a:latin typeface="微软雅黑" panose="020B0503020204020204" charset="-122"/>
                <a:ea typeface="微软雅黑" panose="020B0503020204020204" charset="-122"/>
              </a:rPr>
              <a:t>生活脉络</a:t>
            </a:r>
            <a:endParaRPr lang="zh-CN" sz="1050">
              <a:solidFill>
                <a:srgbClr val="9AA69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3" name="文本框 506" descr="{&quot;isTemplate&quot;:true,&quot;type&quot;:&quot;text&quot;}"/>
          <p:cNvSpPr txBox="1"/>
          <p:nvPr/>
        </p:nvSpPr>
        <p:spPr>
          <a:xfrm>
            <a:off x="11458575" y="6400800"/>
            <a:ext cx="1619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AA69D"/>
                </a:solidFill>
                <a:latin typeface="微软雅黑" panose="020B0503020204020204" charset="-122"/>
                <a:ea typeface="微软雅黑" panose="020B0503020204020204" charset="-122"/>
              </a:rPr>
              <a:t>07</a:t>
            </a:r>
            <a:endParaRPr lang="en-US" sz="1050">
              <a:solidFill>
                <a:srgbClr val="9AA69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94" name="" descr="&lt;Slide style={{ width: 1280, height: 720, background: '#FAF8F2', padding: '60px', display: 'flex', flexDirection: 'column', fontFamily: 'Microsoft YaHei' }}&gt;&#10;&#10;    &lt;Box style={{ flexDirection: 'row', alignItems: 'center', gap: 10 }}&gt;&#10;        &lt;Box style={{ width: 6, height: 6, borderRadius: 3, background: '#C05F38' }} /&gt;&#10;        &lt;Text style={{ fontSize: 14, color: '#7C8A81', letterSpacing: 1.5 }}&gt;02 — 用户洞察&lt;/Text&gt;&#10;    &lt;/Box&gt;&#10;    &lt;Text style={{ fontSize: 34, fontWeight: 'bold', color: '#1F2B26', lineHeight: 1.2, marginTop: 8 }}&gt;访谈里的反对意见，改掉了四个「想当然」&lt;/Text&gt;&#10;    &lt;Box style={{ height: 1, background: '#D9DFD7', marginTop: 16, marginBottom: 10 }} /&gt;&#10;&#10;    &lt;Box style={{ flexDirection: 'row', alignItems: 'flex-start', paddingTop: 20, paddingBottom: 20, borderBottom: '1px solid #E2E6DF' }}&gt;&#10;        &lt;Text style={{ width: 340, fontSize: 22, color: '#2C4A3F', lineHeight: 1.5 }}&gt;「图谱看起来像办案，太正式。」&lt;/Text&gt;&#10;        &lt;Box style={{ width: 56, alignItems: 'center', paddingTop: 6 }}&gt;&#10;            &lt;FAIcon name='arrow-right' style={{ fill: '#B9C4BC', width: 18, height: 18 }} /&gt;&#10;        &lt;/Box&gt;&#10;        &lt;Text style={{ width: 700, fontSize: 18, color: '#5C6B62', lineHeight: 1.6 }}&gt;保留生活化的视觉与语言，同时保留列表和底栏直接记录入口，图谱不是唯一路径。&lt;/Text&gt;&#10;    &lt;/Box&gt;&#10;&#10;    &lt;Box style={{ flexDirection: 'row', alignItems: 'flex-start', paddingTop: 20, paddingBottom: 20, borderBottom: '1px solid #E2E6DF' }}&gt;&#10;        &lt;Text style={{ width: 340, fontSize: 22, color: '#2C4A3F', lineHeight: 1.5 }}&gt;「亲疏怎么能用星级衡量。」&lt;/Text&gt;&#10;        &lt;Box style={{ width: 56, alignItems: 'center', paddingTop: 6 }}&gt;&#10;            &lt;FAIcon name='arrow-right' style={{ fill: '#B9C4BC', width: 18, height: 18 }} /&gt;&#10;        &lt;/Box&gt;&#10;        &lt;Text style={{ width: 700, fontSize: 18, color: '#5C6B62', lineHeight: 1.6 }}&gt;强度只是用户手动填写的 1–5 级，默认 3、可留空；产品不输出任何客观关系判断。&lt;/Text&gt;&#10;    &lt;/Box&gt;&#10;&#10;    &lt;Box style={{ flexDirection: 'row', alignItems: 'flex-start', paddingTop: 20, paddingBottom: 20, borderBottom: '1px solid #E2E6DF' }}&gt;&#10;        &lt;Text style={{ width: 340, fontSize: 22, color: '#2C4A3F', lineHeight: 1.5 }}&gt;「有些记录不想交给任何平台。」&lt;/Text&gt;&#10;        &lt;Box style={{ width: 56, alignItems: 'center', paddingTop: 6 }}&gt;&#10;            &lt;FAIcon name='arrow-right' style={{ fill: '#B9C4BC', width: 18, height: 18 }} /&gt;&#10;        &lt;/Box&gt;&#10;        &lt;Text style={{ width: 700, fontSize: 18, color: '#5C6B62', lineHeight: 1.6 }}&gt;不要求账号、应用清单不声明 INTERNET 权限，备份由用户自己导出成 ZIP 保管。&lt;/Text&gt;&#10;    &lt;/Box&gt;&#10;&#10;    &lt;Box style={{ flexDirection: 'row', alignItems: 'flex-start', paddingTop: 20, paddingBottom: 20, borderBottom: '1px solid #E2E6DF' }}&gt;&#10;        &lt;Text style={{ width: 340, fontSize: 22, color: '#2C4A3F', lineHeight: 1.5 }}&gt;「记录太碎，整理起来很累。」&lt;/Text&gt;&#10;        &lt;Box style={{ width: 56, alignItems: 'center', paddingTop: 6 }}&gt;&#10;            &lt;FAIcon name='arrow-right' style={{ fill: '#B9C4BC', width: 18, height: 18 }} /&gt;&#10;        &lt;/Box&gt;&#10;        &lt;Text style={{ width: 700, fontSize: 18, color: '#5C6B62', lineHeight: 1.6 }}&gt;用参与者与生活分支建立显式关联，记录发生时就把关系写进去，而不是事后建文件夹。&lt;/Text&gt;&#10;    &lt;/Box&gt;&#10;&#10;    &lt;Text style={{ fontSize: 18, color: '#3B4A41', lineHeight: 1.6, marginTop: 24 }}&gt;这四条意见最终变成了当下的产品边界：&lt;span style={{ fontWeight: 'bold', color: '#C05F38' }}&gt;离线可用、不做关系评判&lt;/span&gt;——将来即便开放会员，也只在用户自己选择时才联网。&lt;/Text&gt;&#10;&#10;    &lt;Box style={{ position: 'absolute', left: 60, right: 60, bottom: 30, height: 20, flexDirection: 'row', justifyContent: 'space-between', alignItems: 'center' }}&gt;&#10;        &lt;Text style={{ fontSize: 14, color: '#9AA69D' }}&gt;Life Graph · 生活脉络&lt;/Text&gt;&#10;        &lt;Text style={{ fontSize: 14, color: '#9AA69D' }}&gt;08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矩形 59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8F2"/>
          </a:solidFill>
        </p:spPr>
        <p:txBody>
          <a:bodyPr/>
          <a:p/>
        </p:txBody>
      </p:sp>
      <p:sp>
        <p:nvSpPr>
          <p:cNvPr id="596" name="圆角矩形 595"/>
          <p:cNvSpPr/>
          <p:nvPr/>
        </p:nvSpPr>
        <p:spPr>
          <a:xfrm>
            <a:off x="571500" y="6286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C05F38"/>
          </a:solidFill>
        </p:spPr>
        <p:txBody>
          <a:bodyPr/>
          <a:p/>
        </p:txBody>
      </p:sp>
      <p:sp>
        <p:nvSpPr>
          <p:cNvPr id="597" name="文本框 596" descr="{&quot;isTemplate&quot;:true,&quot;type&quot;:&quot;text&quot;}"/>
          <p:cNvSpPr txBox="1"/>
          <p:nvPr/>
        </p:nvSpPr>
        <p:spPr>
          <a:xfrm>
            <a:off x="723900" y="571500"/>
            <a:ext cx="10477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13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02 — </a:t>
            </a:r>
            <a:r>
              <a:rPr lang="zh-CN" sz="1050" spc="113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用户洞察</a:t>
            </a:r>
            <a:endParaRPr lang="zh-CN" sz="1050" spc="113">
              <a:solidFill>
                <a:srgbClr val="7C8A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8" name="文本框 597" descr="{&quot;isTemplate&quot;:true,&quot;type&quot;:&quot;text&quot;}"/>
          <p:cNvSpPr txBox="1"/>
          <p:nvPr/>
        </p:nvSpPr>
        <p:spPr>
          <a:xfrm>
            <a:off x="571500" y="809625"/>
            <a:ext cx="11049000" cy="4667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F2B26"/>
                </a:solidFill>
                <a:latin typeface="微软雅黑" panose="020B0503020204020204" charset="-122"/>
                <a:ea typeface="微软雅黑" panose="020B0503020204020204" charset="-122"/>
              </a:rPr>
              <a:t>访谈里的反对意见，改掉了四个「想当然」</a:t>
            </a:r>
            <a:endParaRPr lang="zh-CN" sz="2550" b="1">
              <a:solidFill>
                <a:srgbClr val="1F2B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9" name="矩形 598"/>
          <p:cNvSpPr/>
          <p:nvPr/>
        </p:nvSpPr>
        <p:spPr>
          <a:xfrm>
            <a:off x="571500" y="1428750"/>
            <a:ext cx="11049000" cy="9525"/>
          </a:xfrm>
          <a:prstGeom prst="rect">
            <a:avLst/>
          </a:prstGeom>
          <a:solidFill>
            <a:srgbClr val="D9DFD7"/>
          </a:solidFill>
        </p:spPr>
        <p:txBody>
          <a:bodyPr/>
          <a:p/>
        </p:txBody>
      </p:sp>
      <p:sp>
        <p:nvSpPr>
          <p:cNvPr id="600" name="任意多边形 599"/>
          <p:cNvSpPr/>
          <p:nvPr/>
        </p:nvSpPr>
        <p:spPr>
          <a:xfrm>
            <a:off x="571500" y="1533525"/>
            <a:ext cx="11049000" cy="781050"/>
          </a:xfrm>
          <a:custGeom>
            <a:avLst/>
            <a:gdLst/>
            <a:ahLst/>
            <a:cxnLst/>
            <a:pathLst>
              <a:path w="1160" h="82">
                <a:moveTo>
                  <a:pt x="0" y="81"/>
                </a:moveTo>
                <a:lnTo>
                  <a:pt x="1160" y="81"/>
                </a:lnTo>
                <a:lnTo>
                  <a:pt x="1160" y="82"/>
                </a:lnTo>
                <a:lnTo>
                  <a:pt x="0" y="82"/>
                </a:lnTo>
                <a:close/>
              </a:path>
            </a:pathLst>
          </a:custGeom>
          <a:solidFill>
            <a:srgbClr val="E2E6DF"/>
          </a:solidFill>
        </p:spPr>
        <p:txBody>
          <a:bodyPr/>
          <a:p/>
        </p:txBody>
      </p:sp>
      <p:sp>
        <p:nvSpPr>
          <p:cNvPr id="601" name="文本框 600" descr="{&quot;isTemplate&quot;:true,&quot;type&quot;:&quot;text&quot;}"/>
          <p:cNvSpPr txBox="1"/>
          <p:nvPr/>
        </p:nvSpPr>
        <p:spPr>
          <a:xfrm>
            <a:off x="571500" y="1724025"/>
            <a:ext cx="3238500" cy="3810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650">
                <a:solidFill>
                  <a:srgbClr val="2C4A3F"/>
                </a:solidFill>
                <a:latin typeface="微软雅黑" panose="020B0503020204020204" charset="-122"/>
                <a:ea typeface="微软雅黑" panose="020B0503020204020204" charset="-122"/>
              </a:rPr>
              <a:t>「图谱看起来像办案，太正式。」</a:t>
            </a:r>
            <a:endParaRPr lang="zh-CN" sz="1650">
              <a:solidFill>
                <a:srgbClr val="2C4A3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02" name="图片 601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90975" y="1781175"/>
            <a:ext cx="171450" cy="171450"/>
          </a:xfrm>
          <a:prstGeom prst="rect">
            <a:avLst/>
          </a:prstGeom>
        </p:spPr>
      </p:pic>
      <p:sp>
        <p:nvSpPr>
          <p:cNvPr id="603" name="文本框 602" descr="{&quot;isTemplate&quot;:true,&quot;type&quot;:&quot;text&quot;}"/>
          <p:cNvSpPr txBox="1"/>
          <p:nvPr/>
        </p:nvSpPr>
        <p:spPr>
          <a:xfrm>
            <a:off x="4343400" y="1724025"/>
            <a:ext cx="6667500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保留生活化的视觉与语言，同时保留列表和底栏直接记录入口，图谱不是唯一路径。</a:t>
            </a:r>
            <a:endParaRPr lang="zh-CN" sz="1350">
              <a:solidFill>
                <a:srgbClr val="5C6B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4" name="任意多边形 603"/>
          <p:cNvSpPr/>
          <p:nvPr/>
        </p:nvSpPr>
        <p:spPr>
          <a:xfrm>
            <a:off x="571500" y="2305050"/>
            <a:ext cx="11049000" cy="781050"/>
          </a:xfrm>
          <a:custGeom>
            <a:avLst/>
            <a:gdLst/>
            <a:ahLst/>
            <a:cxnLst/>
            <a:pathLst>
              <a:path w="1160" h="82">
                <a:moveTo>
                  <a:pt x="0" y="81"/>
                </a:moveTo>
                <a:lnTo>
                  <a:pt x="1160" y="81"/>
                </a:lnTo>
                <a:lnTo>
                  <a:pt x="1160" y="82"/>
                </a:lnTo>
                <a:lnTo>
                  <a:pt x="0" y="82"/>
                </a:lnTo>
                <a:close/>
              </a:path>
            </a:pathLst>
          </a:custGeom>
          <a:solidFill>
            <a:srgbClr val="E2E6DF"/>
          </a:solidFill>
        </p:spPr>
        <p:txBody>
          <a:bodyPr/>
          <a:p/>
        </p:txBody>
      </p:sp>
      <p:sp>
        <p:nvSpPr>
          <p:cNvPr id="605" name="文本框 604" descr="{&quot;isTemplate&quot;:true,&quot;type&quot;:&quot;text&quot;}"/>
          <p:cNvSpPr txBox="1"/>
          <p:nvPr/>
        </p:nvSpPr>
        <p:spPr>
          <a:xfrm>
            <a:off x="571500" y="2495550"/>
            <a:ext cx="3238500" cy="3810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650">
                <a:solidFill>
                  <a:srgbClr val="2C4A3F"/>
                </a:solidFill>
                <a:latin typeface="微软雅黑" panose="020B0503020204020204" charset="-122"/>
                <a:ea typeface="微软雅黑" panose="020B0503020204020204" charset="-122"/>
              </a:rPr>
              <a:t>「亲疏怎么能用星级衡量。」</a:t>
            </a:r>
            <a:endParaRPr lang="zh-CN" sz="1650">
              <a:solidFill>
                <a:srgbClr val="2C4A3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06" name="图片 605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90975" y="2552700"/>
            <a:ext cx="171450" cy="171450"/>
          </a:xfrm>
          <a:prstGeom prst="rect">
            <a:avLst/>
          </a:prstGeom>
        </p:spPr>
      </p:pic>
      <p:sp>
        <p:nvSpPr>
          <p:cNvPr id="607" name="文本框 606" descr="{&quot;isTemplate&quot;:true,&quot;type&quot;:&quot;text&quot;}"/>
          <p:cNvSpPr txBox="1"/>
          <p:nvPr/>
        </p:nvSpPr>
        <p:spPr>
          <a:xfrm>
            <a:off x="4343400" y="2495550"/>
            <a:ext cx="6667500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强度只是用户手动填写的</a:t>
            </a:r>
            <a:r>
              <a:rPr lang="en-US" sz="135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 1–5 </a:t>
            </a:r>
            <a:r>
              <a:rPr lang="zh-CN" sz="135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级，默认</a:t>
            </a:r>
            <a:r>
              <a:rPr lang="en-US" sz="135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 3</a:t>
            </a:r>
            <a:r>
              <a:rPr lang="zh-CN" sz="135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、可留空；产品不输出任何客观关系判断。</a:t>
            </a:r>
            <a:endParaRPr lang="zh-CN" sz="1350">
              <a:solidFill>
                <a:srgbClr val="5C6B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8" name="任意多边形 607"/>
          <p:cNvSpPr/>
          <p:nvPr/>
        </p:nvSpPr>
        <p:spPr>
          <a:xfrm>
            <a:off x="571500" y="3076575"/>
            <a:ext cx="11049000" cy="781050"/>
          </a:xfrm>
          <a:custGeom>
            <a:avLst/>
            <a:gdLst/>
            <a:ahLst/>
            <a:cxnLst/>
            <a:pathLst>
              <a:path w="1160" h="82">
                <a:moveTo>
                  <a:pt x="0" y="81"/>
                </a:moveTo>
                <a:lnTo>
                  <a:pt x="1160" y="81"/>
                </a:lnTo>
                <a:lnTo>
                  <a:pt x="1160" y="82"/>
                </a:lnTo>
                <a:lnTo>
                  <a:pt x="0" y="82"/>
                </a:lnTo>
                <a:close/>
              </a:path>
            </a:pathLst>
          </a:custGeom>
          <a:solidFill>
            <a:srgbClr val="E2E6DF"/>
          </a:solidFill>
        </p:spPr>
        <p:txBody>
          <a:bodyPr/>
          <a:p/>
        </p:txBody>
      </p:sp>
      <p:sp>
        <p:nvSpPr>
          <p:cNvPr id="609" name="文本框 608" descr="{&quot;isTemplate&quot;:true,&quot;type&quot;:&quot;text&quot;}"/>
          <p:cNvSpPr txBox="1"/>
          <p:nvPr/>
        </p:nvSpPr>
        <p:spPr>
          <a:xfrm>
            <a:off x="571500" y="3267075"/>
            <a:ext cx="3238500" cy="3810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650">
                <a:solidFill>
                  <a:srgbClr val="2C4A3F"/>
                </a:solidFill>
                <a:latin typeface="微软雅黑" panose="020B0503020204020204" charset="-122"/>
                <a:ea typeface="微软雅黑" panose="020B0503020204020204" charset="-122"/>
              </a:rPr>
              <a:t>「有些记录不想交给任何平台。」</a:t>
            </a:r>
            <a:endParaRPr lang="zh-CN" sz="1650">
              <a:solidFill>
                <a:srgbClr val="2C4A3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10" name="图片 609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90975" y="3324225"/>
            <a:ext cx="171450" cy="171450"/>
          </a:xfrm>
          <a:prstGeom prst="rect">
            <a:avLst/>
          </a:prstGeom>
        </p:spPr>
      </p:pic>
      <p:sp>
        <p:nvSpPr>
          <p:cNvPr id="611" name="文本框 610" descr="{&quot;isTemplate&quot;:true,&quot;type&quot;:&quot;text&quot;}"/>
          <p:cNvSpPr txBox="1"/>
          <p:nvPr/>
        </p:nvSpPr>
        <p:spPr>
          <a:xfrm>
            <a:off x="4343400" y="3267075"/>
            <a:ext cx="6667500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不要求账号、应用清单不声明</a:t>
            </a:r>
            <a:r>
              <a:rPr lang="en-US" sz="135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 INTERNET </a:t>
            </a:r>
            <a:r>
              <a:rPr lang="zh-CN" sz="135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权限，备份由用户自己导出成</a:t>
            </a:r>
            <a:r>
              <a:rPr lang="en-US" sz="135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 ZIP </a:t>
            </a:r>
            <a:r>
              <a:rPr lang="zh-CN" sz="135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保管。</a:t>
            </a:r>
            <a:endParaRPr lang="zh-CN" sz="1350">
              <a:solidFill>
                <a:srgbClr val="5C6B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2" name="任意多边形 611"/>
          <p:cNvSpPr/>
          <p:nvPr/>
        </p:nvSpPr>
        <p:spPr>
          <a:xfrm>
            <a:off x="571500" y="3848100"/>
            <a:ext cx="11049000" cy="1066800"/>
          </a:xfrm>
          <a:custGeom>
            <a:avLst/>
            <a:gdLst/>
            <a:ahLst/>
            <a:cxnLst/>
            <a:pathLst>
              <a:path w="1160" h="112">
                <a:moveTo>
                  <a:pt x="0" y="111"/>
                </a:moveTo>
                <a:lnTo>
                  <a:pt x="1160" y="111"/>
                </a:lnTo>
                <a:lnTo>
                  <a:pt x="1160" y="112"/>
                </a:lnTo>
                <a:lnTo>
                  <a:pt x="0" y="112"/>
                </a:lnTo>
                <a:close/>
              </a:path>
            </a:pathLst>
          </a:custGeom>
          <a:solidFill>
            <a:srgbClr val="E2E6DF"/>
          </a:solidFill>
        </p:spPr>
        <p:txBody>
          <a:bodyPr/>
          <a:p/>
        </p:txBody>
      </p:sp>
      <p:sp>
        <p:nvSpPr>
          <p:cNvPr id="613" name="文本框 612" descr="{&quot;isTemplate&quot;:true,&quot;type&quot;:&quot;text&quot;}"/>
          <p:cNvSpPr txBox="1"/>
          <p:nvPr/>
        </p:nvSpPr>
        <p:spPr>
          <a:xfrm>
            <a:off x="571500" y="4038600"/>
            <a:ext cx="3238500" cy="3810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650">
                <a:solidFill>
                  <a:srgbClr val="2C4A3F"/>
                </a:solidFill>
                <a:latin typeface="微软雅黑" panose="020B0503020204020204" charset="-122"/>
                <a:ea typeface="微软雅黑" panose="020B0503020204020204" charset="-122"/>
              </a:rPr>
              <a:t>「记录太碎，整理起来很累。」</a:t>
            </a:r>
            <a:endParaRPr lang="zh-CN" sz="1650">
              <a:solidFill>
                <a:srgbClr val="2C4A3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14" name="图片 613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90975" y="4095750"/>
            <a:ext cx="171450" cy="171450"/>
          </a:xfrm>
          <a:prstGeom prst="rect">
            <a:avLst/>
          </a:prstGeom>
        </p:spPr>
      </p:pic>
      <p:sp>
        <p:nvSpPr>
          <p:cNvPr id="615" name="文本框 614" descr="{&quot;isTemplate&quot;:true,&quot;type&quot;:&quot;text&quot;}"/>
          <p:cNvSpPr txBox="1"/>
          <p:nvPr/>
        </p:nvSpPr>
        <p:spPr>
          <a:xfrm>
            <a:off x="4343400" y="4038600"/>
            <a:ext cx="6667500" cy="6667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用参与者与生活分支建立显式关联，记录发生时就把关系写进去，而不是事后建文件夹。</a:t>
            </a:r>
            <a:endParaRPr lang="zh-CN" sz="1350">
              <a:solidFill>
                <a:srgbClr val="5C6B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6" name="文本框 615" descr="{&quot;isTemplate&quot;:true,&quot;type&quot;:&quot;text&quot;}"/>
          <p:cNvSpPr txBox="1"/>
          <p:nvPr/>
        </p:nvSpPr>
        <p:spPr>
          <a:xfrm>
            <a:off x="571500" y="5133975"/>
            <a:ext cx="11049000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3B4A41"/>
                </a:solidFill>
                <a:latin typeface="微软雅黑" panose="020B0503020204020204" charset="-122"/>
                <a:ea typeface="微软雅黑" panose="020B0503020204020204" charset="-122"/>
              </a:rPr>
              <a:t>这四条意见最终变成了当下的产品边界：</a:t>
            </a:r>
            <a:r>
              <a:rPr lang="zh-CN" sz="1350" b="1">
                <a:solidFill>
                  <a:srgbClr val="C05F38"/>
                </a:solidFill>
                <a:latin typeface="微软雅黑" panose="020B0503020204020204" charset="-122"/>
                <a:ea typeface="微软雅黑" panose="020B0503020204020204" charset="-122"/>
              </a:rPr>
              <a:t>离线可用、不做关系评判</a:t>
            </a:r>
            <a:r>
              <a:rPr lang="zh-CN" sz="1350">
                <a:solidFill>
                  <a:srgbClr val="3B4A41"/>
                </a:solidFill>
                <a:latin typeface="微软雅黑" panose="020B0503020204020204" charset="-122"/>
                <a:ea typeface="微软雅黑" panose="020B0503020204020204" charset="-122"/>
              </a:rPr>
              <a:t>——将来即便开放会员，也只在用户自己选择时才联网。</a:t>
            </a:r>
            <a:endParaRPr lang="zh-CN" sz="1350">
              <a:solidFill>
                <a:srgbClr val="3B4A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7" name="文本框 616" descr="{&quot;isTemplate&quot;:true,&quot;type&quot;:&quot;text&quot;}"/>
          <p:cNvSpPr txBox="1"/>
          <p:nvPr/>
        </p:nvSpPr>
        <p:spPr>
          <a:xfrm>
            <a:off x="571500" y="6400800"/>
            <a:ext cx="13049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AA69D"/>
                </a:solidFill>
                <a:latin typeface="微软雅黑" panose="020B0503020204020204" charset="-122"/>
                <a:ea typeface="微软雅黑" panose="020B0503020204020204" charset="-122"/>
              </a:rPr>
              <a:t>Life Graph · </a:t>
            </a:r>
            <a:r>
              <a:rPr lang="zh-CN" sz="1050">
                <a:solidFill>
                  <a:srgbClr val="9AA69D"/>
                </a:solidFill>
                <a:latin typeface="微软雅黑" panose="020B0503020204020204" charset="-122"/>
                <a:ea typeface="微软雅黑" panose="020B0503020204020204" charset="-122"/>
              </a:rPr>
              <a:t>生活脉络</a:t>
            </a:r>
            <a:endParaRPr lang="zh-CN" sz="1050">
              <a:solidFill>
                <a:srgbClr val="9AA69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8" name="文本框 617" descr="{&quot;isTemplate&quot;:true,&quot;type&quot;:&quot;text&quot;}"/>
          <p:cNvSpPr txBox="1"/>
          <p:nvPr/>
        </p:nvSpPr>
        <p:spPr>
          <a:xfrm>
            <a:off x="11458575" y="6400800"/>
            <a:ext cx="1619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AA69D"/>
                </a:solidFill>
                <a:latin typeface="微软雅黑" panose="020B0503020204020204" charset="-122"/>
                <a:ea typeface="微软雅黑" panose="020B0503020204020204" charset="-122"/>
              </a:rPr>
              <a:t>08</a:t>
            </a:r>
            <a:endParaRPr lang="en-US" sz="1050">
              <a:solidFill>
                <a:srgbClr val="9AA69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矩形 53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8F2"/>
          </a:solidFill>
        </p:spPr>
        <p:txBody>
          <a:bodyPr/>
          <a:p/>
        </p:txBody>
      </p:sp>
      <p:sp>
        <p:nvSpPr>
          <p:cNvPr id="621" name="文本框 534" descr="{&quot;isTemplate&quot;:true,&quot;type&quot;:&quot;text&quot;}"/>
          <p:cNvSpPr txBox="1"/>
          <p:nvPr/>
        </p:nvSpPr>
        <p:spPr>
          <a:xfrm>
            <a:off x="533400" y="1866900"/>
            <a:ext cx="2400300" cy="2400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0" b="1" spc="-300">
                <a:solidFill>
                  <a:srgbClr val="DFE8DB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sz="15750" b="1" spc="-300">
              <a:solidFill>
                <a:srgbClr val="DFE8D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2" name="文本框 535" descr="{&quot;isTemplate&quot;:true,&quot;type&quot;:&quot;text&quot;}"/>
          <p:cNvSpPr txBox="1"/>
          <p:nvPr/>
        </p:nvSpPr>
        <p:spPr>
          <a:xfrm>
            <a:off x="4762500" y="2495550"/>
            <a:ext cx="6286500" cy="600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900" b="1" spc="225">
                <a:solidFill>
                  <a:srgbClr val="1F2B26"/>
                </a:solidFill>
                <a:latin typeface="微软雅黑" panose="020B0503020204020204" charset="-122"/>
                <a:ea typeface="微软雅黑" panose="020B0503020204020204" charset="-122"/>
              </a:rPr>
              <a:t>创新设计</a:t>
            </a:r>
            <a:endParaRPr lang="zh-CN" sz="3900" b="1" spc="225">
              <a:solidFill>
                <a:srgbClr val="1F2B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3" name="文本框 536" descr="{&quot;isTemplate&quot;:true,&quot;type&quot;:&quot;text&quot;}"/>
          <p:cNvSpPr txBox="1"/>
          <p:nvPr/>
        </p:nvSpPr>
        <p:spPr>
          <a:xfrm>
            <a:off x="4762500" y="3305175"/>
            <a:ext cx="533400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350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三个设计决定：双轴图谱、桌面微图、原生与本地</a:t>
            </a:r>
            <a:r>
              <a:rPr lang="en-US" sz="1350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 Web </a:t>
            </a:r>
            <a:r>
              <a:rPr lang="zh-CN" sz="1350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的分工。</a:t>
            </a:r>
            <a:endParaRPr lang="zh-CN" sz="1350">
              <a:solidFill>
                <a:srgbClr val="7C8A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4" name="矩形 537"/>
          <p:cNvSpPr/>
          <p:nvPr/>
        </p:nvSpPr>
        <p:spPr>
          <a:xfrm>
            <a:off x="571500" y="4476750"/>
            <a:ext cx="11049000" cy="9525"/>
          </a:xfrm>
          <a:prstGeom prst="rect">
            <a:avLst/>
          </a:prstGeom>
          <a:solidFill>
            <a:srgbClr val="DCE3DA"/>
          </a:solidFill>
        </p:spPr>
        <p:txBody>
          <a:bodyPr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8F2"/>
          </a:solidFill>
        </p:spPr>
        <p:txBody>
          <a:bodyPr/>
          <a:p/>
        </p:txBody>
      </p:sp>
      <p:sp>
        <p:nvSpPr>
          <p:cNvPr id="14" name="圆角矩形 13"/>
          <p:cNvSpPr/>
          <p:nvPr/>
        </p:nvSpPr>
        <p:spPr>
          <a:xfrm>
            <a:off x="571500" y="6286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C05F38"/>
          </a:solidFill>
        </p:spPr>
        <p:txBody>
          <a:bodyPr/>
          <a:p/>
        </p:txBody>
      </p:sp>
      <p:sp>
        <p:nvSpPr>
          <p:cNvPr id="15" name="文本框 14" descr="{&quot;isTemplate&quot;:true,&quot;type&quot;:&quot;text&quot;}"/>
          <p:cNvSpPr txBox="1"/>
          <p:nvPr/>
        </p:nvSpPr>
        <p:spPr>
          <a:xfrm>
            <a:off x="723900" y="571500"/>
            <a:ext cx="18288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13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03 — </a:t>
            </a:r>
            <a:r>
              <a:rPr lang="zh-CN" sz="1050" spc="113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创新设计　·　创新一</a:t>
            </a:r>
            <a:endParaRPr lang="zh-CN" sz="1050" spc="113">
              <a:solidFill>
                <a:srgbClr val="7C8A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 descr="{&quot;isTemplate&quot;:true,&quot;type&quot;:&quot;text&quot;}"/>
          <p:cNvSpPr txBox="1"/>
          <p:nvPr/>
        </p:nvSpPr>
        <p:spPr>
          <a:xfrm>
            <a:off x="571500" y="809625"/>
            <a:ext cx="11049000" cy="4667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F2B26"/>
                </a:solidFill>
                <a:latin typeface="微软雅黑" panose="020B0503020204020204" charset="-122"/>
                <a:ea typeface="微软雅黑" panose="020B0503020204020204" charset="-122"/>
              </a:rPr>
              <a:t>一张图里同时有「人」和「事」</a:t>
            </a:r>
            <a:endParaRPr lang="zh-CN" sz="2550" b="1">
              <a:solidFill>
                <a:srgbClr val="1F2B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571500" y="1428750"/>
            <a:ext cx="11049000" cy="9525"/>
          </a:xfrm>
          <a:prstGeom prst="rect">
            <a:avLst/>
          </a:prstGeom>
          <a:solidFill>
            <a:srgbClr val="D9DFD7"/>
          </a:solidFill>
        </p:spPr>
        <p:txBody>
          <a:bodyPr/>
          <a:p/>
        </p:txBody>
      </p:sp>
      <p:sp>
        <p:nvSpPr>
          <p:cNvPr id="18" name="圆角矩形 17"/>
          <p:cNvSpPr/>
          <p:nvPr/>
        </p:nvSpPr>
        <p:spPr>
          <a:xfrm>
            <a:off x="571500" y="1666875"/>
            <a:ext cx="3429000" cy="2000250"/>
          </a:xfrm>
          <a:prstGeom prst="roundRect">
            <a:avLst>
              <a:gd name="adj" fmla="val 3810"/>
            </a:avLst>
          </a:prstGeom>
          <a:solidFill>
            <a:srgbClr val="F2F5EF"/>
          </a:solidFill>
        </p:spPr>
        <p:txBody>
          <a:bodyPr/>
          <a:p/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1500" y="1666875"/>
            <a:ext cx="3429000" cy="2000250"/>
          </a:xfrm>
          <a:prstGeom prst="rect">
            <a:avLst/>
          </a:prstGeom>
        </p:spPr>
      </p:pic>
      <p:sp>
        <p:nvSpPr>
          <p:cNvPr id="20" name="文本框 19" descr="{&quot;isTemplate&quot;:true,&quot;type&quot;:&quot;text&quot;}"/>
          <p:cNvSpPr txBox="1"/>
          <p:nvPr/>
        </p:nvSpPr>
        <p:spPr>
          <a:xfrm>
            <a:off x="571500" y="3800475"/>
            <a:ext cx="34290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F2B26"/>
                </a:solidFill>
                <a:latin typeface="微软雅黑" panose="020B0503020204020204" charset="-122"/>
                <a:ea typeface="微软雅黑" panose="020B0503020204020204" charset="-122"/>
              </a:rPr>
              <a:t>人际图</a:t>
            </a:r>
            <a:endParaRPr lang="zh-CN" sz="1350" b="1">
              <a:solidFill>
                <a:srgbClr val="1F2B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 descr="{&quot;isTemplate&quot;:true,&quot;type&quot;:&quot;text&quot;}"/>
          <p:cNvSpPr txBox="1"/>
          <p:nvPr/>
        </p:nvSpPr>
        <p:spPr>
          <a:xfrm>
            <a:off x="571500" y="4067175"/>
            <a:ext cx="34290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我，与我直接关联的人</a:t>
            </a:r>
            <a:endParaRPr lang="zh-CN" sz="1050">
              <a:solidFill>
                <a:srgbClr val="7C8A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圆角矩形 21"/>
          <p:cNvSpPr/>
          <p:nvPr/>
        </p:nvSpPr>
        <p:spPr>
          <a:xfrm>
            <a:off x="4381500" y="1666875"/>
            <a:ext cx="3429000" cy="2000250"/>
          </a:xfrm>
          <a:prstGeom prst="roundRect">
            <a:avLst>
              <a:gd name="adj" fmla="val 3810"/>
            </a:avLst>
          </a:prstGeom>
          <a:solidFill>
            <a:srgbClr val="F2F5EF"/>
          </a:solidFill>
        </p:spPr>
        <p:txBody>
          <a:bodyPr/>
          <a:p/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81500" y="1666875"/>
            <a:ext cx="3429000" cy="2000250"/>
          </a:xfrm>
          <a:prstGeom prst="rect">
            <a:avLst/>
          </a:prstGeom>
        </p:spPr>
      </p:pic>
      <p:sp>
        <p:nvSpPr>
          <p:cNvPr id="24" name="文本框 23" descr="{&quot;isTemplate&quot;:true,&quot;type&quot;:&quot;text&quot;}"/>
          <p:cNvSpPr txBox="1"/>
          <p:nvPr/>
        </p:nvSpPr>
        <p:spPr>
          <a:xfrm>
            <a:off x="4381500" y="3800475"/>
            <a:ext cx="34290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F2B26"/>
                </a:solidFill>
                <a:latin typeface="微软雅黑" panose="020B0503020204020204" charset="-122"/>
                <a:ea typeface="微软雅黑" panose="020B0503020204020204" charset="-122"/>
              </a:rPr>
              <a:t>人物—事件图</a:t>
            </a:r>
            <a:endParaRPr lang="zh-CN" sz="1350" b="1">
              <a:solidFill>
                <a:srgbClr val="1F2B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文本框 24" descr="{&quot;isTemplate&quot;:true,&quot;type&quot;:&quot;text&quot;}"/>
          <p:cNvSpPr txBox="1"/>
          <p:nvPr/>
        </p:nvSpPr>
        <p:spPr>
          <a:xfrm>
            <a:off x="4381500" y="4067175"/>
            <a:ext cx="34290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选中的人，与其参与的事</a:t>
            </a:r>
            <a:endParaRPr lang="zh-CN" sz="1050">
              <a:solidFill>
                <a:srgbClr val="7C8A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圆角矩形 25"/>
          <p:cNvSpPr/>
          <p:nvPr/>
        </p:nvSpPr>
        <p:spPr>
          <a:xfrm>
            <a:off x="8191500" y="1666875"/>
            <a:ext cx="3429000" cy="2000250"/>
          </a:xfrm>
          <a:prstGeom prst="roundRect">
            <a:avLst>
              <a:gd name="adj" fmla="val 3810"/>
            </a:avLst>
          </a:prstGeom>
          <a:solidFill>
            <a:srgbClr val="F2F5EF"/>
          </a:solidFill>
        </p:spPr>
        <p:txBody>
          <a:bodyPr/>
          <a:p/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91500" y="1666875"/>
            <a:ext cx="3429000" cy="2000250"/>
          </a:xfrm>
          <a:prstGeom prst="rect">
            <a:avLst/>
          </a:prstGeom>
        </p:spPr>
      </p:pic>
      <p:sp>
        <p:nvSpPr>
          <p:cNvPr id="28" name="文本框 27" descr="{&quot;isTemplate&quot;:true,&quot;type&quot;:&quot;text&quot;}"/>
          <p:cNvSpPr txBox="1"/>
          <p:nvPr/>
        </p:nvSpPr>
        <p:spPr>
          <a:xfrm>
            <a:off x="8191500" y="3800475"/>
            <a:ext cx="34290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F2B26"/>
                </a:solidFill>
                <a:latin typeface="微软雅黑" panose="020B0503020204020204" charset="-122"/>
                <a:ea typeface="微软雅黑" panose="020B0503020204020204" charset="-122"/>
              </a:rPr>
              <a:t>个人生活图</a:t>
            </a:r>
            <a:endParaRPr lang="zh-CN" sz="1350" b="1">
              <a:solidFill>
                <a:srgbClr val="1F2B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文本框 28" descr="{&quot;isTemplate&quot;:true,&quot;type&quot;:&quot;text&quot;}"/>
          <p:cNvSpPr txBox="1"/>
          <p:nvPr/>
        </p:nvSpPr>
        <p:spPr>
          <a:xfrm>
            <a:off x="8191500" y="4067175"/>
            <a:ext cx="34290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我参与的事，与同行的人</a:t>
            </a:r>
            <a:endParaRPr lang="zh-CN" sz="1050">
              <a:solidFill>
                <a:srgbClr val="7C8A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任意多边形 29"/>
          <p:cNvSpPr/>
          <p:nvPr/>
        </p:nvSpPr>
        <p:spPr>
          <a:xfrm>
            <a:off x="571500" y="4514850"/>
            <a:ext cx="11049000" cy="581025"/>
          </a:xfrm>
          <a:custGeom>
            <a:avLst/>
            <a:gdLst/>
            <a:ahLst/>
            <a:cxnLst/>
            <a:pathLst>
              <a:path w="1160" h="61">
                <a:moveTo>
                  <a:pt x="0" y="0"/>
                </a:moveTo>
                <a:lnTo>
                  <a:pt x="1160" y="0"/>
                </a:lnTo>
                <a:lnTo>
                  <a:pt x="116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6DF"/>
          </a:solidFill>
        </p:spPr>
        <p:txBody>
          <a:bodyPr/>
          <a:p/>
        </p:txBody>
      </p:sp>
      <p:sp>
        <p:nvSpPr>
          <p:cNvPr id="31" name="文本框 30" descr="{&quot;isTemplate&quot;:true,&quot;type&quot;:&quot;text&quot;}"/>
          <p:cNvSpPr txBox="1"/>
          <p:nvPr/>
        </p:nvSpPr>
        <p:spPr>
          <a:xfrm>
            <a:off x="571500" y="4657725"/>
            <a:ext cx="11049000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 b="1">
                <a:solidFill>
                  <a:srgbClr val="2E3B34"/>
                </a:solidFill>
                <a:latin typeface="微软雅黑" panose="020B0503020204020204" charset="-122"/>
                <a:ea typeface="微软雅黑" panose="020B0503020204020204" charset="-122"/>
              </a:rPr>
              <a:t>生活分支只做筛选，不生成独立节点</a:t>
            </a:r>
            <a:r>
              <a:rPr lang="zh-CN" sz="1350">
                <a:solidFill>
                  <a:srgbClr val="2E3B34"/>
                </a:solidFill>
                <a:latin typeface="微软雅黑" panose="020B0503020204020204" charset="-122"/>
                <a:ea typeface="微软雅黑" panose="020B0503020204020204" charset="-122"/>
              </a:rPr>
              <a:t>　　一个事件命中多个分支也只画一个节点，避免节点爆炸</a:t>
            </a:r>
            <a:endParaRPr lang="zh-CN" sz="1350">
              <a:solidFill>
                <a:srgbClr val="2E3B3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任意多边形 31"/>
          <p:cNvSpPr/>
          <p:nvPr/>
        </p:nvSpPr>
        <p:spPr>
          <a:xfrm>
            <a:off x="571500" y="5086350"/>
            <a:ext cx="11049000" cy="581025"/>
          </a:xfrm>
          <a:custGeom>
            <a:avLst/>
            <a:gdLst/>
            <a:ahLst/>
            <a:cxnLst/>
            <a:pathLst>
              <a:path w="1160" h="61">
                <a:moveTo>
                  <a:pt x="0" y="0"/>
                </a:moveTo>
                <a:lnTo>
                  <a:pt x="1160" y="0"/>
                </a:lnTo>
                <a:lnTo>
                  <a:pt x="116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6DF"/>
          </a:solidFill>
        </p:spPr>
        <p:txBody>
          <a:bodyPr/>
          <a:p/>
        </p:txBody>
      </p:sp>
      <p:sp>
        <p:nvSpPr>
          <p:cNvPr id="33" name="文本框 32" descr="{&quot;isTemplate&quot;:true,&quot;type&quot;:&quot;text&quot;}"/>
          <p:cNvSpPr txBox="1"/>
          <p:nvPr/>
        </p:nvSpPr>
        <p:spPr>
          <a:xfrm>
            <a:off x="571500" y="5229225"/>
            <a:ext cx="11049000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 b="1">
                <a:solidFill>
                  <a:srgbClr val="2E3B34"/>
                </a:solidFill>
                <a:latin typeface="微软雅黑" panose="020B0503020204020204" charset="-122"/>
                <a:ea typeface="微软雅黑" panose="020B0503020204020204" charset="-122"/>
              </a:rPr>
              <a:t>三种视角共用同一份投影</a:t>
            </a:r>
            <a:r>
              <a:rPr lang="zh-CN" sz="1350">
                <a:solidFill>
                  <a:srgbClr val="2E3B34"/>
                </a:solidFill>
                <a:latin typeface="微软雅黑" panose="020B0503020204020204" charset="-122"/>
                <a:ea typeface="微软雅黑" panose="020B0503020204020204" charset="-122"/>
              </a:rPr>
              <a:t>　　</a:t>
            </a:r>
            <a:r>
              <a:rPr lang="en-US" sz="1350">
                <a:solidFill>
                  <a:srgbClr val="2E3B34"/>
                </a:solidFill>
                <a:latin typeface="微软雅黑" panose="020B0503020204020204" charset="-122"/>
                <a:ea typeface="微软雅黑" panose="020B0503020204020204" charset="-122"/>
              </a:rPr>
              <a:t>GraphData </a:t>
            </a:r>
            <a:r>
              <a:rPr lang="zh-CN" sz="1350">
                <a:solidFill>
                  <a:srgbClr val="2E3B34"/>
                </a:solidFill>
                <a:latin typeface="微软雅黑" panose="020B0503020204020204" charset="-122"/>
                <a:ea typeface="微软雅黑" panose="020B0503020204020204" charset="-122"/>
              </a:rPr>
              <a:t>统一算节点与边，界面只负责画</a:t>
            </a:r>
            <a:endParaRPr lang="zh-CN" sz="1350">
              <a:solidFill>
                <a:srgbClr val="2E3B3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任意多边形 33"/>
          <p:cNvSpPr/>
          <p:nvPr/>
        </p:nvSpPr>
        <p:spPr>
          <a:xfrm>
            <a:off x="571500" y="5657850"/>
            <a:ext cx="11049000" cy="600075"/>
          </a:xfrm>
          <a:custGeom>
            <a:avLst/>
            <a:gdLst/>
            <a:ahLst/>
            <a:cxnLst/>
            <a:pathLst>
              <a:path w="1160" h="63">
                <a:moveTo>
                  <a:pt x="0" y="0"/>
                </a:moveTo>
                <a:lnTo>
                  <a:pt x="1160" y="0"/>
                </a:lnTo>
                <a:lnTo>
                  <a:pt x="116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6DF"/>
          </a:solidFill>
        </p:spPr>
        <p:txBody>
          <a:bodyPr/>
          <a:p/>
        </p:txBody>
      </p:sp>
      <p:sp>
        <p:nvSpPr>
          <p:cNvPr id="35" name="任意多边形 34"/>
          <p:cNvSpPr/>
          <p:nvPr/>
        </p:nvSpPr>
        <p:spPr>
          <a:xfrm>
            <a:off x="571500" y="5657850"/>
            <a:ext cx="11049000" cy="600075"/>
          </a:xfrm>
          <a:custGeom>
            <a:avLst/>
            <a:gdLst/>
            <a:ahLst/>
            <a:cxnLst/>
            <a:pathLst>
              <a:path w="1160" h="63">
                <a:moveTo>
                  <a:pt x="0" y="62"/>
                </a:moveTo>
                <a:lnTo>
                  <a:pt x="1160" y="62"/>
                </a:lnTo>
                <a:lnTo>
                  <a:pt x="1160" y="63"/>
                </a:lnTo>
                <a:lnTo>
                  <a:pt x="0" y="63"/>
                </a:lnTo>
                <a:close/>
              </a:path>
            </a:pathLst>
          </a:custGeom>
          <a:solidFill>
            <a:srgbClr val="E2E6DF"/>
          </a:solidFill>
        </p:spPr>
        <p:txBody>
          <a:bodyPr/>
          <a:p/>
        </p:txBody>
      </p:sp>
      <p:sp>
        <p:nvSpPr>
          <p:cNvPr id="36" name="文本框 35" descr="{&quot;isTemplate&quot;:true,&quot;type&quot;:&quot;text&quot;}"/>
          <p:cNvSpPr txBox="1"/>
          <p:nvPr/>
        </p:nvSpPr>
        <p:spPr>
          <a:xfrm>
            <a:off x="571500" y="5800725"/>
            <a:ext cx="11049000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 b="1">
                <a:solidFill>
                  <a:srgbClr val="2E3B34"/>
                </a:solidFill>
                <a:latin typeface="微软雅黑" panose="020B0503020204020204" charset="-122"/>
                <a:ea typeface="微软雅黑" panose="020B0503020204020204" charset="-122"/>
              </a:rPr>
              <a:t>返回不重建页面</a:t>
            </a:r>
            <a:r>
              <a:rPr lang="zh-CN" sz="1350">
                <a:solidFill>
                  <a:srgbClr val="2E3B34"/>
                </a:solidFill>
                <a:latin typeface="微软雅黑" panose="020B0503020204020204" charset="-122"/>
                <a:ea typeface="微软雅黑" panose="020B0503020204020204" charset="-122"/>
              </a:rPr>
              <a:t>　　载荷去重加可见性恢复，返回时布局与缩放都不重置</a:t>
            </a:r>
            <a:endParaRPr lang="zh-CN" sz="1350">
              <a:solidFill>
                <a:srgbClr val="2E3B3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文本框 36" descr="{&quot;isTemplate&quot;:true,&quot;type&quot;:&quot;text&quot;}"/>
          <p:cNvSpPr txBox="1"/>
          <p:nvPr/>
        </p:nvSpPr>
        <p:spPr>
          <a:xfrm>
            <a:off x="571500" y="6400800"/>
            <a:ext cx="13049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AA69D"/>
                </a:solidFill>
                <a:latin typeface="微软雅黑" panose="020B0503020204020204" charset="-122"/>
                <a:ea typeface="微软雅黑" panose="020B0503020204020204" charset="-122"/>
              </a:rPr>
              <a:t>Life Graph · </a:t>
            </a:r>
            <a:r>
              <a:rPr lang="zh-CN" sz="1050">
                <a:solidFill>
                  <a:srgbClr val="9AA69D"/>
                </a:solidFill>
                <a:latin typeface="微软雅黑" panose="020B0503020204020204" charset="-122"/>
                <a:ea typeface="微软雅黑" panose="020B0503020204020204" charset="-122"/>
              </a:rPr>
              <a:t>生活脉络</a:t>
            </a:r>
            <a:endParaRPr lang="zh-CN" sz="1050">
              <a:solidFill>
                <a:srgbClr val="9AA69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文本框 37" descr="{&quot;isTemplate&quot;:true,&quot;type&quot;:&quot;text&quot;}"/>
          <p:cNvSpPr txBox="1"/>
          <p:nvPr/>
        </p:nvSpPr>
        <p:spPr>
          <a:xfrm>
            <a:off x="11458575" y="6400800"/>
            <a:ext cx="1619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AA69D"/>
                </a:solidFill>
                <a:latin typeface="微软雅黑" panose="020B0503020204020204" charset="-122"/>
                <a:ea typeface="微软雅黑" panose="020B0503020204020204" charset="-122"/>
              </a:rPr>
              <a:t>10</a:t>
            </a:r>
            <a:endParaRPr lang="en-US" sz="1050">
              <a:solidFill>
                <a:srgbClr val="9AA69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8F2"/>
          </a:solidFill>
        </p:spPr>
        <p:txBody>
          <a:bodyPr/>
          <a:p/>
        </p:txBody>
      </p:sp>
      <p:sp>
        <p:nvSpPr>
          <p:cNvPr id="41" name="圆角矩形 40"/>
          <p:cNvSpPr/>
          <p:nvPr/>
        </p:nvSpPr>
        <p:spPr>
          <a:xfrm>
            <a:off x="571500" y="6286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C05F38"/>
          </a:solidFill>
        </p:spPr>
        <p:txBody>
          <a:bodyPr/>
          <a:p/>
        </p:txBody>
      </p:sp>
      <p:sp>
        <p:nvSpPr>
          <p:cNvPr id="42" name="文本框 41" descr="{&quot;isTemplate&quot;:true,&quot;type&quot;:&quot;text&quot;}"/>
          <p:cNvSpPr txBox="1"/>
          <p:nvPr/>
        </p:nvSpPr>
        <p:spPr>
          <a:xfrm>
            <a:off x="723900" y="571500"/>
            <a:ext cx="18288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13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03 — </a:t>
            </a:r>
            <a:r>
              <a:rPr lang="zh-CN" sz="1050" spc="113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创新设计　·　创新二</a:t>
            </a:r>
            <a:endParaRPr lang="zh-CN" sz="1050" spc="113">
              <a:solidFill>
                <a:srgbClr val="7C8A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文本框 42" descr="{&quot;isTemplate&quot;:true,&quot;type&quot;:&quot;text&quot;}"/>
          <p:cNvSpPr txBox="1"/>
          <p:nvPr/>
        </p:nvSpPr>
        <p:spPr>
          <a:xfrm>
            <a:off x="571500" y="809625"/>
            <a:ext cx="11049000" cy="4667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F2B26"/>
                </a:solidFill>
                <a:latin typeface="微软雅黑" panose="020B0503020204020204" charset="-122"/>
                <a:ea typeface="微软雅黑" panose="020B0503020204020204" charset="-122"/>
              </a:rPr>
              <a:t>把关系图缩到</a:t>
            </a:r>
            <a:r>
              <a:rPr lang="en-US" sz="2550" b="1">
                <a:solidFill>
                  <a:srgbClr val="1F2B26"/>
                </a:solidFill>
                <a:latin typeface="微软雅黑" panose="020B0503020204020204" charset="-122"/>
                <a:ea typeface="微软雅黑" panose="020B0503020204020204" charset="-122"/>
              </a:rPr>
              <a:t> 2×2</a:t>
            </a:r>
            <a:r>
              <a:rPr lang="zh-CN" sz="2550" b="1">
                <a:solidFill>
                  <a:srgbClr val="1F2B26"/>
                </a:solidFill>
                <a:latin typeface="微软雅黑" panose="020B0503020204020204" charset="-122"/>
                <a:ea typeface="微软雅黑" panose="020B0503020204020204" charset="-122"/>
              </a:rPr>
              <a:t>，先解决「被看见」的问题</a:t>
            </a:r>
            <a:endParaRPr lang="zh-CN" sz="2550" b="1">
              <a:solidFill>
                <a:srgbClr val="1F2B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571500" y="1428750"/>
            <a:ext cx="11049000" cy="9525"/>
          </a:xfrm>
          <a:prstGeom prst="rect">
            <a:avLst/>
          </a:prstGeom>
          <a:solidFill>
            <a:srgbClr val="D9DFD7"/>
          </a:solidFill>
        </p:spPr>
        <p:txBody>
          <a:bodyPr/>
          <a:p/>
        </p:txBody>
      </p:sp>
      <p:pic>
        <p:nvPicPr>
          <p:cNvPr id="45" name="图片 44"/>
          <p:cNvPicPr>
            <a:picLocks noChangeAspect="1"/>
          </p:cNvPicPr>
          <p:nvPr/>
        </p:nvPicPr>
        <p:blipFill>
          <a:blip r:embed="rId1"/>
          <a:srcRect l="56" r="56"/>
          <a:stretch>
            <a:fillRect/>
          </a:stretch>
        </p:blipFill>
        <p:spPr>
          <a:xfrm>
            <a:off x="571500" y="1666875"/>
            <a:ext cx="2200275" cy="4476750"/>
          </a:xfrm>
          <a:prstGeom prst="rect">
            <a:avLst/>
          </a:prstGeom>
        </p:spPr>
      </p:pic>
      <p:pic>
        <p:nvPicPr>
          <p:cNvPr id="46" name="图片 45"/>
          <p:cNvPicPr>
            <a:picLocks noChangeAspect="1"/>
          </p:cNvPicPr>
          <p:nvPr/>
        </p:nvPicPr>
        <p:blipFill>
          <a:blip r:embed="rId2"/>
          <a:srcRect l="56" r="56"/>
          <a:stretch>
            <a:fillRect/>
          </a:stretch>
        </p:blipFill>
        <p:spPr>
          <a:xfrm>
            <a:off x="2924175" y="1666875"/>
            <a:ext cx="2200275" cy="4476750"/>
          </a:xfrm>
          <a:prstGeom prst="rect">
            <a:avLst/>
          </a:prstGeom>
        </p:spPr>
      </p:pic>
      <p:sp>
        <p:nvSpPr>
          <p:cNvPr id="47" name="任意多边形 46"/>
          <p:cNvSpPr/>
          <p:nvPr/>
        </p:nvSpPr>
        <p:spPr>
          <a:xfrm>
            <a:off x="5581650" y="1666875"/>
            <a:ext cx="6038850" cy="1228725"/>
          </a:xfrm>
          <a:custGeom>
            <a:avLst/>
            <a:gdLst/>
            <a:ahLst/>
            <a:cxnLst/>
            <a:pathLst>
              <a:path w="634" h="129">
                <a:moveTo>
                  <a:pt x="0" y="0"/>
                </a:moveTo>
                <a:lnTo>
                  <a:pt x="634" y="0"/>
                </a:lnTo>
                <a:lnTo>
                  <a:pt x="634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6DF"/>
          </a:solidFill>
        </p:spPr>
        <p:txBody>
          <a:bodyPr/>
          <a:p/>
        </p:txBody>
      </p:sp>
      <p:sp>
        <p:nvSpPr>
          <p:cNvPr id="48" name="文本框 47" descr="{&quot;isTemplate&quot;:true,&quot;type&quot;:&quot;text&quot;}"/>
          <p:cNvSpPr txBox="1"/>
          <p:nvPr/>
        </p:nvSpPr>
        <p:spPr>
          <a:xfrm>
            <a:off x="5581650" y="1924050"/>
            <a:ext cx="603885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1F2B26"/>
                </a:solidFill>
                <a:latin typeface="微软雅黑" panose="020B0503020204020204" charset="-122"/>
                <a:ea typeface="微软雅黑" panose="020B0503020204020204" charset="-122"/>
              </a:rPr>
              <a:t>桌面只投影关系轮廓</a:t>
            </a:r>
            <a:endParaRPr lang="zh-CN" sz="1500" b="1">
              <a:solidFill>
                <a:srgbClr val="1F2B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文本框 48" descr="{&quot;isTemplate&quot;:true,&quot;type&quot;:&quot;text&quot;}"/>
          <p:cNvSpPr txBox="1"/>
          <p:nvPr/>
        </p:nvSpPr>
        <p:spPr>
          <a:xfrm>
            <a:off x="5581650" y="2305050"/>
            <a:ext cx="6038850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人物短标签与连线，不投影头像、事件正文和地点。</a:t>
            </a:r>
            <a:endParaRPr lang="zh-CN" sz="1350">
              <a:solidFill>
                <a:srgbClr val="5C6B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任意多边形 49"/>
          <p:cNvSpPr/>
          <p:nvPr/>
        </p:nvSpPr>
        <p:spPr>
          <a:xfrm>
            <a:off x="5581650" y="2886075"/>
            <a:ext cx="6038850" cy="1228725"/>
          </a:xfrm>
          <a:custGeom>
            <a:avLst/>
            <a:gdLst/>
            <a:ahLst/>
            <a:cxnLst/>
            <a:pathLst>
              <a:path w="634" h="129">
                <a:moveTo>
                  <a:pt x="0" y="0"/>
                </a:moveTo>
                <a:lnTo>
                  <a:pt x="634" y="0"/>
                </a:lnTo>
                <a:lnTo>
                  <a:pt x="634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6DF"/>
          </a:solidFill>
        </p:spPr>
        <p:txBody>
          <a:bodyPr/>
          <a:p/>
        </p:txBody>
      </p:sp>
      <p:sp>
        <p:nvSpPr>
          <p:cNvPr id="51" name="文本框 50" descr="{&quot;isTemplate&quot;:true,&quot;type&quot;:&quot;text&quot;}"/>
          <p:cNvSpPr txBox="1"/>
          <p:nvPr/>
        </p:nvSpPr>
        <p:spPr>
          <a:xfrm>
            <a:off x="5581650" y="3143250"/>
            <a:ext cx="603885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1F2B26"/>
                </a:solidFill>
                <a:latin typeface="微软雅黑" panose="020B0503020204020204" charset="-122"/>
                <a:ea typeface="微软雅黑" panose="020B0503020204020204" charset="-122"/>
              </a:rPr>
              <a:t>默认以序号隐藏姓名</a:t>
            </a:r>
            <a:endParaRPr lang="zh-CN" sz="1500" b="1">
              <a:solidFill>
                <a:srgbClr val="1F2B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文本框 51" descr="{&quot;isTemplate&quot;:true,&quot;type&quot;:&quot;text&quot;}"/>
          <p:cNvSpPr txBox="1"/>
          <p:nvPr/>
        </p:nvSpPr>
        <p:spPr>
          <a:xfrm>
            <a:off x="5581650" y="3524250"/>
            <a:ext cx="6038850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可切换为名字首字或记录中的称呼，由用户自己决定暴露多少。</a:t>
            </a:r>
            <a:endParaRPr lang="zh-CN" sz="1350">
              <a:solidFill>
                <a:srgbClr val="5C6B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任意多边形 52"/>
          <p:cNvSpPr/>
          <p:nvPr/>
        </p:nvSpPr>
        <p:spPr>
          <a:xfrm>
            <a:off x="5581650" y="4105275"/>
            <a:ext cx="6038850" cy="1228725"/>
          </a:xfrm>
          <a:custGeom>
            <a:avLst/>
            <a:gdLst/>
            <a:ahLst/>
            <a:cxnLst/>
            <a:pathLst>
              <a:path w="634" h="129">
                <a:moveTo>
                  <a:pt x="0" y="0"/>
                </a:moveTo>
                <a:lnTo>
                  <a:pt x="634" y="0"/>
                </a:lnTo>
                <a:lnTo>
                  <a:pt x="634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6DF"/>
          </a:solidFill>
        </p:spPr>
        <p:txBody>
          <a:bodyPr/>
          <a:p/>
        </p:txBody>
      </p:sp>
      <p:sp>
        <p:nvSpPr>
          <p:cNvPr id="54" name="文本框 53" descr="{&quot;isTemplate&quot;:true,&quot;type&quot;:&quot;text&quot;}"/>
          <p:cNvSpPr txBox="1"/>
          <p:nvPr/>
        </p:nvSpPr>
        <p:spPr>
          <a:xfrm>
            <a:off x="5581650" y="4362450"/>
            <a:ext cx="603885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1F2B26"/>
                </a:solidFill>
                <a:latin typeface="微软雅黑" panose="020B0503020204020204" charset="-122"/>
                <a:ea typeface="微软雅黑" panose="020B0503020204020204" charset="-122"/>
              </a:rPr>
              <a:t>跳转请求先暂存再执行</a:t>
            </a:r>
            <a:endParaRPr lang="zh-CN" sz="1500" b="1">
              <a:solidFill>
                <a:srgbClr val="1F2B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文本框 54" descr="{&quot;isTemplate&quot;:true,&quot;type&quot;:&quot;text&quot;}"/>
          <p:cNvSpPr txBox="1"/>
          <p:nvPr/>
        </p:nvSpPr>
        <p:spPr>
          <a:xfrm>
            <a:off x="5581650" y="4743450"/>
            <a:ext cx="6038850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编辑、录音或数据变更期间不跳转，避免覆盖用户正在写的草稿。</a:t>
            </a:r>
            <a:endParaRPr lang="zh-CN" sz="1350">
              <a:solidFill>
                <a:srgbClr val="5C6B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任意多边形 55"/>
          <p:cNvSpPr/>
          <p:nvPr/>
        </p:nvSpPr>
        <p:spPr>
          <a:xfrm>
            <a:off x="5581650" y="5362575"/>
            <a:ext cx="6038850" cy="676275"/>
          </a:xfrm>
          <a:custGeom>
            <a:avLst/>
            <a:gdLst/>
            <a:ahLst/>
            <a:cxnLst/>
            <a:pathLst>
              <a:path w="634" h="71">
                <a:moveTo>
                  <a:pt x="0" y="0"/>
                </a:moveTo>
                <a:lnTo>
                  <a:pt x="634" y="0"/>
                </a:lnTo>
                <a:lnTo>
                  <a:pt x="634" y="2"/>
                </a:lnTo>
                <a:lnTo>
                  <a:pt x="0" y="2"/>
                </a:lnTo>
                <a:close/>
              </a:path>
            </a:pathLst>
          </a:custGeom>
          <a:solidFill>
            <a:srgbClr val="C05F38"/>
          </a:solidFill>
        </p:spPr>
        <p:txBody>
          <a:bodyPr/>
          <a:p/>
        </p:txBody>
      </p:sp>
      <p:sp>
        <p:nvSpPr>
          <p:cNvPr id="57" name="文本框 56" descr="{&quot;isTemplate&quot;:true,&quot;type&quot;:&quot;text&quot;}"/>
          <p:cNvSpPr txBox="1"/>
          <p:nvPr/>
        </p:nvSpPr>
        <p:spPr>
          <a:xfrm>
            <a:off x="5581650" y="5610225"/>
            <a:ext cx="6038850" cy="4095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650">
                <a:solidFill>
                  <a:srgbClr val="1F2B26"/>
                </a:solidFill>
                <a:latin typeface="微软雅黑" panose="020B0503020204020204" charset="-122"/>
                <a:ea typeface="微软雅黑" panose="020B0503020204020204" charset="-122"/>
              </a:rPr>
              <a:t>桌面入口的价值不是「更多信息」</a:t>
            </a:r>
            <a:endParaRPr lang="zh-CN" sz="1650">
              <a:solidFill>
                <a:srgbClr val="1F2B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文本框 57" descr="{&quot;isTemplate&quot;:true,&quot;type&quot;:&quot;text&quot;}"/>
          <p:cNvSpPr txBox="1"/>
          <p:nvPr/>
        </p:nvSpPr>
        <p:spPr>
          <a:xfrm>
            <a:off x="571500" y="6400800"/>
            <a:ext cx="13049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AA69D"/>
                </a:solidFill>
                <a:latin typeface="微软雅黑" panose="020B0503020204020204" charset="-122"/>
                <a:ea typeface="微软雅黑" panose="020B0503020204020204" charset="-122"/>
              </a:rPr>
              <a:t>Life Graph · </a:t>
            </a:r>
            <a:r>
              <a:rPr lang="zh-CN" sz="1050">
                <a:solidFill>
                  <a:srgbClr val="9AA69D"/>
                </a:solidFill>
                <a:latin typeface="微软雅黑" panose="020B0503020204020204" charset="-122"/>
                <a:ea typeface="微软雅黑" panose="020B0503020204020204" charset="-122"/>
              </a:rPr>
              <a:t>生活脉络</a:t>
            </a:r>
            <a:endParaRPr lang="zh-CN" sz="1050">
              <a:solidFill>
                <a:srgbClr val="9AA69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" name="文本框 58" descr="{&quot;isTemplate&quot;:true,&quot;type&quot;:&quot;text&quot;}"/>
          <p:cNvSpPr txBox="1"/>
          <p:nvPr/>
        </p:nvSpPr>
        <p:spPr>
          <a:xfrm>
            <a:off x="11458575" y="6400800"/>
            <a:ext cx="1619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AA69D"/>
                </a:solidFill>
                <a:latin typeface="微软雅黑" panose="020B0503020204020204" charset="-122"/>
                <a:ea typeface="微软雅黑" panose="020B0503020204020204" charset="-122"/>
              </a:rPr>
              <a:t>11</a:t>
            </a:r>
            <a:endParaRPr lang="en-US" sz="1050">
              <a:solidFill>
                <a:srgbClr val="9AA69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矩形 6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8F2"/>
          </a:solidFill>
        </p:spPr>
        <p:txBody>
          <a:bodyPr/>
          <a:p/>
        </p:txBody>
      </p:sp>
      <p:sp>
        <p:nvSpPr>
          <p:cNvPr id="62" name="圆角矩形 61"/>
          <p:cNvSpPr/>
          <p:nvPr/>
        </p:nvSpPr>
        <p:spPr>
          <a:xfrm>
            <a:off x="571500" y="6286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C05F38"/>
          </a:solidFill>
        </p:spPr>
        <p:txBody>
          <a:bodyPr/>
          <a:p/>
        </p:txBody>
      </p:sp>
      <p:sp>
        <p:nvSpPr>
          <p:cNvPr id="63" name="文本框 62" descr="{&quot;isTemplate&quot;:true,&quot;type&quot;:&quot;text&quot;}"/>
          <p:cNvSpPr txBox="1"/>
          <p:nvPr/>
        </p:nvSpPr>
        <p:spPr>
          <a:xfrm>
            <a:off x="723900" y="571500"/>
            <a:ext cx="18288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13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03 — </a:t>
            </a:r>
            <a:r>
              <a:rPr lang="zh-CN" sz="1050" spc="113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创新设计　·　创新三</a:t>
            </a:r>
            <a:endParaRPr lang="zh-CN" sz="1050" spc="113">
              <a:solidFill>
                <a:srgbClr val="7C8A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" name="文本框 63" descr="{&quot;isTemplate&quot;:true,&quot;type&quot;:&quot;text&quot;}"/>
          <p:cNvSpPr txBox="1"/>
          <p:nvPr/>
        </p:nvSpPr>
        <p:spPr>
          <a:xfrm>
            <a:off x="571500" y="809625"/>
            <a:ext cx="11049000" cy="4667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F2B26"/>
                </a:solidFill>
                <a:latin typeface="微软雅黑" panose="020B0503020204020204" charset="-122"/>
                <a:ea typeface="微软雅黑" panose="020B0503020204020204" charset="-122"/>
              </a:rPr>
              <a:t>原生承载业务，本地</a:t>
            </a:r>
            <a:r>
              <a:rPr lang="en-US" sz="2550" b="1">
                <a:solidFill>
                  <a:srgbClr val="1F2B26"/>
                </a:solidFill>
                <a:latin typeface="微软雅黑" panose="020B0503020204020204" charset="-122"/>
                <a:ea typeface="微软雅黑" panose="020B0503020204020204" charset="-122"/>
              </a:rPr>
              <a:t> Web </a:t>
            </a:r>
            <a:r>
              <a:rPr lang="zh-CN" sz="2550" b="1">
                <a:solidFill>
                  <a:srgbClr val="1F2B26"/>
                </a:solidFill>
                <a:latin typeface="微软雅黑" panose="020B0503020204020204" charset="-122"/>
                <a:ea typeface="微软雅黑" panose="020B0503020204020204" charset="-122"/>
              </a:rPr>
              <a:t>只负责画图</a:t>
            </a:r>
            <a:endParaRPr lang="zh-CN" sz="2550" b="1">
              <a:solidFill>
                <a:srgbClr val="1F2B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571500" y="1428750"/>
            <a:ext cx="11049000" cy="9525"/>
          </a:xfrm>
          <a:prstGeom prst="rect">
            <a:avLst/>
          </a:prstGeom>
          <a:solidFill>
            <a:srgbClr val="D9DFD7"/>
          </a:solidFill>
        </p:spPr>
        <p:txBody>
          <a:bodyPr/>
          <a:p/>
        </p:txBody>
      </p:sp>
      <p:sp>
        <p:nvSpPr>
          <p:cNvPr id="66" name="文本框 65" descr="{&quot;isTemplate&quot;:true,&quot;type&quot;:&quot;text&quot;}"/>
          <p:cNvSpPr txBox="1"/>
          <p:nvPr/>
        </p:nvSpPr>
        <p:spPr>
          <a:xfrm>
            <a:off x="571500" y="1666875"/>
            <a:ext cx="9525000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图谱如果全部重写，代价太高；全部放进</a:t>
            </a:r>
            <a:r>
              <a:rPr lang="en-US" sz="135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 WebView</a:t>
            </a:r>
            <a:r>
              <a:rPr lang="zh-CN" sz="135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，又拿不到系统能力。于是把两边切开，各自只做擅长的事。</a:t>
            </a:r>
            <a:endParaRPr lang="zh-CN" sz="1350">
              <a:solidFill>
                <a:srgbClr val="5C6B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" name="圆角矩形 66"/>
          <p:cNvSpPr/>
          <p:nvPr/>
        </p:nvSpPr>
        <p:spPr>
          <a:xfrm>
            <a:off x="571500" y="2228850"/>
            <a:ext cx="4095750" cy="1905000"/>
          </a:xfrm>
          <a:prstGeom prst="roundRect">
            <a:avLst>
              <a:gd name="adj" fmla="val 4000"/>
            </a:avLst>
          </a:prstGeom>
          <a:solidFill>
            <a:srgbClr val="EDF2EA"/>
          </a:solidFill>
        </p:spPr>
        <p:txBody>
          <a:bodyPr/>
          <a:p/>
        </p:txBody>
      </p:sp>
      <p:sp>
        <p:nvSpPr>
          <p:cNvPr id="68" name="文本框 67" descr="{&quot;isTemplate&quot;:true,&quot;type&quot;:&quot;text&quot;}"/>
          <p:cNvSpPr txBox="1"/>
          <p:nvPr/>
        </p:nvSpPr>
        <p:spPr>
          <a:xfrm>
            <a:off x="800100" y="2457450"/>
            <a:ext cx="36385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ArkTS · ArkUI</a:t>
            </a:r>
            <a:endParaRPr lang="en-US" sz="1050" spc="75">
              <a:solidFill>
                <a:srgbClr val="7C8A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" name="文本框 68" descr="{&quot;isTemplate&quot;:true,&quot;type&quot;:&quot;text&quot;}"/>
          <p:cNvSpPr txBox="1"/>
          <p:nvPr/>
        </p:nvSpPr>
        <p:spPr>
          <a:xfrm>
            <a:off x="800100" y="2695575"/>
            <a:ext cx="36385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F2B26"/>
                </a:solidFill>
                <a:latin typeface="微软雅黑" panose="020B0503020204020204" charset="-122"/>
                <a:ea typeface="微软雅黑" panose="020B0503020204020204" charset="-122"/>
              </a:rPr>
              <a:t>原生层：业务与界面</a:t>
            </a:r>
            <a:endParaRPr lang="zh-CN" sz="1500" b="1">
              <a:solidFill>
                <a:srgbClr val="1F2B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" name="文本框 69" descr="{&quot;isTemplate&quot;:true,&quot;type&quot;:&quot;text&quot;}"/>
          <p:cNvSpPr txBox="1"/>
          <p:nvPr/>
        </p:nvSpPr>
        <p:spPr>
          <a:xfrm>
            <a:off x="800100" y="3019425"/>
            <a:ext cx="3638550" cy="6667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页面、表单、导航、</a:t>
            </a:r>
            <a:r>
              <a:rPr lang="en-US" sz="135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RDB </a:t>
            </a:r>
            <a:r>
              <a:rPr lang="zh-CN" sz="135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事务、媒体与权限，全部在原生侧完成。</a:t>
            </a:r>
            <a:endParaRPr lang="zh-CN" sz="1350">
              <a:solidFill>
                <a:srgbClr val="5C6B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71" name="图片 70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62500" y="3086100"/>
            <a:ext cx="190500" cy="190500"/>
          </a:xfrm>
          <a:prstGeom prst="rect">
            <a:avLst/>
          </a:prstGeom>
        </p:spPr>
      </p:pic>
      <p:sp>
        <p:nvSpPr>
          <p:cNvPr id="72" name="圆角矩形 71"/>
          <p:cNvSpPr/>
          <p:nvPr/>
        </p:nvSpPr>
        <p:spPr>
          <a:xfrm>
            <a:off x="5048250" y="2228850"/>
            <a:ext cx="2095500" cy="1905000"/>
          </a:xfrm>
          <a:prstGeom prst="roundRect">
            <a:avLst>
              <a:gd name="adj" fmla="val 4000"/>
            </a:avLst>
          </a:prstGeom>
          <a:solidFill>
            <a:srgbClr val="2C4A3F"/>
          </a:solidFill>
        </p:spPr>
        <p:txBody>
          <a:bodyPr/>
          <a:p/>
        </p:txBody>
      </p:sp>
      <p:sp>
        <p:nvSpPr>
          <p:cNvPr id="73" name="文本框 72" descr="{&quot;isTemplate&quot;:true,&quot;type&quot;:&quot;text&quot;}"/>
          <p:cNvSpPr txBox="1"/>
          <p:nvPr/>
        </p:nvSpPr>
        <p:spPr>
          <a:xfrm>
            <a:off x="5276850" y="2457450"/>
            <a:ext cx="16383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9DB3A2"/>
                </a:solidFill>
                <a:latin typeface="微软雅黑" panose="020B0503020204020204" charset="-122"/>
                <a:ea typeface="微软雅黑" panose="020B0503020204020204" charset="-122"/>
              </a:rPr>
              <a:t>NativeGraph</a:t>
            </a:r>
            <a:endParaRPr lang="en-US" sz="1050" spc="75">
              <a:solidFill>
                <a:srgbClr val="9DB3A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4" name="文本框 73" descr="{&quot;isTemplate&quot;:true,&quot;type&quot;:&quot;text&quot;}"/>
          <p:cNvSpPr txBox="1"/>
          <p:nvPr/>
        </p:nvSpPr>
        <p:spPr>
          <a:xfrm>
            <a:off x="5276850" y="2695575"/>
            <a:ext cx="16383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5F2E8"/>
                </a:solidFill>
                <a:latin typeface="微软雅黑" panose="020B0503020204020204" charset="-122"/>
                <a:ea typeface="微软雅黑" panose="020B0503020204020204" charset="-122"/>
              </a:rPr>
              <a:t>桥：只传数据</a:t>
            </a:r>
            <a:endParaRPr lang="zh-CN" sz="1500" b="1">
              <a:solidFill>
                <a:srgbClr val="F5F2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5" name="文本框 74" descr="{&quot;isTemplate&quot;:true,&quot;type&quot;:&quot;text&quot;}"/>
          <p:cNvSpPr txBox="1"/>
          <p:nvPr/>
        </p:nvSpPr>
        <p:spPr>
          <a:xfrm>
            <a:off x="5276850" y="3019425"/>
            <a:ext cx="1638300" cy="6667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C6D6C9"/>
                </a:solidFill>
                <a:latin typeface="微软雅黑" panose="020B0503020204020204" charset="-122"/>
                <a:ea typeface="微软雅黑" panose="020B0503020204020204" charset="-122"/>
              </a:rPr>
              <a:t>节点、边、编码后的缩略图。</a:t>
            </a:r>
            <a:endParaRPr lang="zh-CN" sz="1350">
              <a:solidFill>
                <a:srgbClr val="C6D6C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76" name="图片 75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39000" y="3086100"/>
            <a:ext cx="190500" cy="190500"/>
          </a:xfrm>
          <a:prstGeom prst="rect">
            <a:avLst/>
          </a:prstGeom>
        </p:spPr>
      </p:pic>
      <p:sp>
        <p:nvSpPr>
          <p:cNvPr id="77" name="圆角矩形 76"/>
          <p:cNvSpPr/>
          <p:nvPr/>
        </p:nvSpPr>
        <p:spPr>
          <a:xfrm>
            <a:off x="7524750" y="2228850"/>
            <a:ext cx="4095750" cy="1905000"/>
          </a:xfrm>
          <a:prstGeom prst="roundRect">
            <a:avLst>
              <a:gd name="adj" fmla="val 4000"/>
            </a:avLst>
          </a:prstGeom>
          <a:solidFill>
            <a:srgbClr val="EDF2EA"/>
          </a:solidFill>
        </p:spPr>
        <p:txBody>
          <a:bodyPr/>
          <a:p/>
        </p:txBody>
      </p:sp>
      <p:sp>
        <p:nvSpPr>
          <p:cNvPr id="78" name="文本框 77" descr="{&quot;isTemplate&quot;:true,&quot;type&quot;:&quot;text&quot;}"/>
          <p:cNvSpPr txBox="1"/>
          <p:nvPr/>
        </p:nvSpPr>
        <p:spPr>
          <a:xfrm>
            <a:off x="7753350" y="2457450"/>
            <a:ext cx="36385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ArkWeb</a:t>
            </a:r>
            <a:endParaRPr lang="en-US" sz="1050" spc="75">
              <a:solidFill>
                <a:srgbClr val="7C8A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" name="文本框 78" descr="{&quot;isTemplate&quot;:true,&quot;type&quot;:&quot;text&quot;}"/>
          <p:cNvSpPr txBox="1"/>
          <p:nvPr/>
        </p:nvSpPr>
        <p:spPr>
          <a:xfrm>
            <a:off x="7753350" y="2695575"/>
            <a:ext cx="36385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F2B26"/>
                </a:solidFill>
                <a:latin typeface="微软雅黑" panose="020B0503020204020204" charset="-122"/>
                <a:ea typeface="微软雅黑" panose="020B0503020204020204" charset="-122"/>
              </a:rPr>
              <a:t>Web </a:t>
            </a:r>
            <a:r>
              <a:rPr lang="zh-CN" sz="1500" b="1">
                <a:solidFill>
                  <a:srgbClr val="1F2B26"/>
                </a:solidFill>
                <a:latin typeface="微软雅黑" panose="020B0503020204020204" charset="-122"/>
                <a:ea typeface="微软雅黑" panose="020B0503020204020204" charset="-122"/>
              </a:rPr>
              <a:t>层：只画图</a:t>
            </a:r>
            <a:endParaRPr lang="zh-CN" sz="1500" b="1">
              <a:solidFill>
                <a:srgbClr val="1F2B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" name="文本框 79" descr="{&quot;isTemplate&quot;:true,&quot;type&quot;:&quot;text&quot;}"/>
          <p:cNvSpPr txBox="1"/>
          <p:nvPr/>
        </p:nvSpPr>
        <p:spPr>
          <a:xfrm>
            <a:off x="7753350" y="3019425"/>
            <a:ext cx="3638550" cy="6667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随包分发的</a:t>
            </a:r>
            <a:r>
              <a:rPr lang="en-US" sz="135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 D3.js </a:t>
            </a:r>
            <a:r>
              <a:rPr lang="zh-CN" sz="135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sz="135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 SVG</a:t>
            </a:r>
            <a:r>
              <a:rPr lang="zh-CN" sz="135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，只做绘制与手势，不接触文件系统。</a:t>
            </a:r>
            <a:endParaRPr lang="zh-CN" sz="1350">
              <a:solidFill>
                <a:srgbClr val="5C6B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" name="文本框 80" descr="{&quot;isTemplate&quot;:true,&quot;type&quot;:&quot;text&quot;}"/>
          <p:cNvSpPr txBox="1"/>
          <p:nvPr/>
        </p:nvSpPr>
        <p:spPr>
          <a:xfrm>
            <a:off x="571500" y="4438650"/>
            <a:ext cx="110490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离线边界</a:t>
            </a:r>
            <a:endParaRPr lang="zh-CN" sz="1050">
              <a:solidFill>
                <a:srgbClr val="7C8A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" name="文本框 81" descr="{&quot;isTemplate&quot;:true,&quot;type&quot;:&quot;text&quot;}"/>
          <p:cNvSpPr txBox="1"/>
          <p:nvPr/>
        </p:nvSpPr>
        <p:spPr>
          <a:xfrm>
            <a:off x="571500" y="4714875"/>
            <a:ext cx="5334000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C05F38"/>
                </a:solidFill>
                <a:latin typeface="微软雅黑" panose="020B0503020204020204" charset="-122"/>
                <a:ea typeface="微软雅黑" panose="020B0503020204020204" charset="-122"/>
              </a:rPr>
              <a:t>—　</a:t>
            </a:r>
            <a:r>
              <a:rPr lang="zh-CN" sz="1350">
                <a:solidFill>
                  <a:srgbClr val="2E3B34"/>
                </a:solidFill>
                <a:latin typeface="微软雅黑" panose="020B0503020204020204" charset="-122"/>
                <a:ea typeface="微软雅黑" panose="020B0503020204020204" charset="-122"/>
              </a:rPr>
              <a:t>应用清单不声明</a:t>
            </a:r>
            <a:r>
              <a:rPr lang="en-US" sz="1350">
                <a:solidFill>
                  <a:srgbClr val="2E3B34"/>
                </a:solidFill>
                <a:latin typeface="微软雅黑" panose="020B0503020204020204" charset="-122"/>
                <a:ea typeface="微软雅黑" panose="020B0503020204020204" charset="-122"/>
              </a:rPr>
              <a:t> INTERNET </a:t>
            </a:r>
            <a:r>
              <a:rPr lang="zh-CN" sz="1350">
                <a:solidFill>
                  <a:srgbClr val="2E3B34"/>
                </a:solidFill>
                <a:latin typeface="微软雅黑" panose="020B0503020204020204" charset="-122"/>
                <a:ea typeface="微软雅黑" panose="020B0503020204020204" charset="-122"/>
              </a:rPr>
              <a:t>权限</a:t>
            </a:r>
            <a:endParaRPr lang="zh-CN" sz="1350">
              <a:solidFill>
                <a:srgbClr val="2E3B3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" name="文本框 82" descr="{&quot;isTemplate&quot;:true,&quot;type&quot;:&quot;text&quot;}"/>
          <p:cNvSpPr txBox="1"/>
          <p:nvPr/>
        </p:nvSpPr>
        <p:spPr>
          <a:xfrm>
            <a:off x="571500" y="5162550"/>
            <a:ext cx="5334000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C05F38"/>
                </a:solidFill>
                <a:latin typeface="微软雅黑" panose="020B0503020204020204" charset="-122"/>
                <a:ea typeface="微软雅黑" panose="020B0503020204020204" charset="-122"/>
              </a:rPr>
              <a:t>—　</a:t>
            </a:r>
            <a:r>
              <a:rPr lang="en-US" sz="1350">
                <a:solidFill>
                  <a:srgbClr val="2E3B34"/>
                </a:solidFill>
                <a:latin typeface="微软雅黑" panose="020B0503020204020204" charset="-122"/>
                <a:ea typeface="微软雅黑" panose="020B0503020204020204" charset="-122"/>
              </a:rPr>
              <a:t>Web </a:t>
            </a:r>
            <a:r>
              <a:rPr lang="zh-CN" sz="1350">
                <a:solidFill>
                  <a:srgbClr val="2E3B34"/>
                </a:solidFill>
                <a:latin typeface="微软雅黑" panose="020B0503020204020204" charset="-122"/>
                <a:ea typeface="微软雅黑" panose="020B0503020204020204" charset="-122"/>
              </a:rPr>
              <a:t>侧</a:t>
            </a:r>
            <a:r>
              <a:rPr lang="en-US" sz="1350">
                <a:solidFill>
                  <a:srgbClr val="2E3B34"/>
                </a:solidFill>
                <a:latin typeface="微软雅黑" panose="020B0503020204020204" charset="-122"/>
                <a:ea typeface="微软雅黑" panose="020B0503020204020204" charset="-122"/>
              </a:rPr>
              <a:t> blockNetwork(true)</a:t>
            </a:r>
            <a:r>
              <a:rPr lang="zh-CN" sz="1350">
                <a:solidFill>
                  <a:srgbClr val="2E3B34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350">
                <a:solidFill>
                  <a:srgbClr val="2E3B34"/>
                </a:solidFill>
                <a:latin typeface="微软雅黑" panose="020B0503020204020204" charset="-122"/>
                <a:ea typeface="微软雅黑" panose="020B0503020204020204" charset="-122"/>
              </a:rPr>
              <a:t>fileAccess(false)</a:t>
            </a:r>
            <a:endParaRPr lang="en-US" sz="1350">
              <a:solidFill>
                <a:srgbClr val="2E3B3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4" name="文本框 83" descr="{&quot;isTemplate&quot;:true,&quot;type&quot;:&quot;text&quot;}"/>
          <p:cNvSpPr txBox="1"/>
          <p:nvPr/>
        </p:nvSpPr>
        <p:spPr>
          <a:xfrm>
            <a:off x="6286500" y="4714875"/>
            <a:ext cx="5334000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C05F38"/>
                </a:solidFill>
                <a:latin typeface="微软雅黑" panose="020B0503020204020204" charset="-122"/>
                <a:ea typeface="微软雅黑" panose="020B0503020204020204" charset="-122"/>
              </a:rPr>
              <a:t>—　</a:t>
            </a:r>
            <a:r>
              <a:rPr lang="en-US" sz="1350">
                <a:solidFill>
                  <a:srgbClr val="2E3B34"/>
                </a:solidFill>
                <a:latin typeface="微软雅黑" panose="020B0503020204020204" charset="-122"/>
                <a:ea typeface="微软雅黑" panose="020B0503020204020204" charset="-122"/>
              </a:rPr>
              <a:t>MixedMode.None</a:t>
            </a:r>
            <a:r>
              <a:rPr lang="zh-CN" sz="1350">
                <a:solidFill>
                  <a:srgbClr val="2E3B34"/>
                </a:solidFill>
                <a:latin typeface="微软雅黑" panose="020B0503020204020204" charset="-122"/>
                <a:ea typeface="微软雅黑" panose="020B0503020204020204" charset="-122"/>
              </a:rPr>
              <a:t>，只放行内嵌图片</a:t>
            </a:r>
            <a:endParaRPr lang="zh-CN" sz="1350">
              <a:solidFill>
                <a:srgbClr val="2E3B3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" name="文本框 84" descr="{&quot;isTemplate&quot;:true,&quot;type&quot;:&quot;text&quot;}"/>
          <p:cNvSpPr txBox="1"/>
          <p:nvPr/>
        </p:nvSpPr>
        <p:spPr>
          <a:xfrm>
            <a:off x="6286500" y="5162550"/>
            <a:ext cx="5334000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C05F38"/>
                </a:solidFill>
                <a:latin typeface="微软雅黑" panose="020B0503020204020204" charset="-122"/>
                <a:ea typeface="微软雅黑" panose="020B0503020204020204" charset="-122"/>
              </a:rPr>
              <a:t>—　</a:t>
            </a:r>
            <a:r>
              <a:rPr lang="zh-CN" sz="1350">
                <a:solidFill>
                  <a:srgbClr val="2E3B34"/>
                </a:solidFill>
                <a:latin typeface="微软雅黑" panose="020B0503020204020204" charset="-122"/>
                <a:ea typeface="微软雅黑" panose="020B0503020204020204" charset="-122"/>
              </a:rPr>
              <a:t>备份导出为</a:t>
            </a:r>
            <a:r>
              <a:rPr lang="en-US" sz="1350">
                <a:solidFill>
                  <a:srgbClr val="2E3B34"/>
                </a:solidFill>
                <a:latin typeface="微软雅黑" panose="020B0503020204020204" charset="-122"/>
                <a:ea typeface="微软雅黑" panose="020B0503020204020204" charset="-122"/>
              </a:rPr>
              <a:t> ZIP</a:t>
            </a:r>
            <a:r>
              <a:rPr lang="zh-CN" sz="1350">
                <a:solidFill>
                  <a:srgbClr val="2E3B34"/>
                </a:solidFill>
                <a:latin typeface="微软雅黑" panose="020B0503020204020204" charset="-122"/>
                <a:ea typeface="微软雅黑" panose="020B0503020204020204" charset="-122"/>
              </a:rPr>
              <a:t>，文件始终在用户手里</a:t>
            </a:r>
            <a:endParaRPr lang="zh-CN" sz="1350">
              <a:solidFill>
                <a:srgbClr val="2E3B3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7" name="文本框 86" descr="{&quot;isTemplate&quot;:true,&quot;type&quot;:&quot;text&quot;}"/>
          <p:cNvSpPr txBox="1"/>
          <p:nvPr/>
        </p:nvSpPr>
        <p:spPr>
          <a:xfrm>
            <a:off x="571500" y="6400800"/>
            <a:ext cx="13049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AA69D"/>
                </a:solidFill>
                <a:latin typeface="微软雅黑" panose="020B0503020204020204" charset="-122"/>
                <a:ea typeface="微软雅黑" panose="020B0503020204020204" charset="-122"/>
              </a:rPr>
              <a:t>Life Graph · </a:t>
            </a:r>
            <a:r>
              <a:rPr lang="zh-CN" sz="1050">
                <a:solidFill>
                  <a:srgbClr val="9AA69D"/>
                </a:solidFill>
                <a:latin typeface="微软雅黑" panose="020B0503020204020204" charset="-122"/>
                <a:ea typeface="微软雅黑" panose="020B0503020204020204" charset="-122"/>
              </a:rPr>
              <a:t>生活脉络</a:t>
            </a:r>
            <a:endParaRPr lang="zh-CN" sz="1050">
              <a:solidFill>
                <a:srgbClr val="9AA69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8" name="文本框 87" descr="{&quot;isTemplate&quot;:true,&quot;type&quot;:&quot;text&quot;}"/>
          <p:cNvSpPr txBox="1"/>
          <p:nvPr/>
        </p:nvSpPr>
        <p:spPr>
          <a:xfrm>
            <a:off x="11458575" y="6400800"/>
            <a:ext cx="1619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AA69D"/>
                </a:solidFill>
                <a:latin typeface="微软雅黑" panose="020B0503020204020204" charset="-122"/>
                <a:ea typeface="微软雅黑" panose="020B0503020204020204" charset="-122"/>
              </a:rPr>
              <a:t>12</a:t>
            </a:r>
            <a:endParaRPr lang="en-US" sz="1050">
              <a:solidFill>
                <a:srgbClr val="9AA69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矩形 8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8F2"/>
          </a:solidFill>
        </p:spPr>
        <p:txBody>
          <a:bodyPr/>
          <a:p/>
        </p:txBody>
      </p:sp>
      <p:sp>
        <p:nvSpPr>
          <p:cNvPr id="91" name="文本框 90" descr="{&quot;isTemplate&quot;:true,&quot;type&quot;:&quot;text&quot;}"/>
          <p:cNvSpPr txBox="1"/>
          <p:nvPr/>
        </p:nvSpPr>
        <p:spPr>
          <a:xfrm>
            <a:off x="533400" y="1866900"/>
            <a:ext cx="2400300" cy="2400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0" b="1" spc="-300">
                <a:solidFill>
                  <a:srgbClr val="DFE8DB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lang="en-US" sz="15750" b="1" spc="-300">
              <a:solidFill>
                <a:srgbClr val="DFE8D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2" name="文本框 91" descr="{&quot;isTemplate&quot;:true,&quot;type&quot;:&quot;text&quot;}"/>
          <p:cNvSpPr txBox="1"/>
          <p:nvPr/>
        </p:nvSpPr>
        <p:spPr>
          <a:xfrm>
            <a:off x="4762500" y="2495550"/>
            <a:ext cx="6286500" cy="600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900" b="1" spc="225">
                <a:solidFill>
                  <a:srgbClr val="1F2B26"/>
                </a:solidFill>
                <a:latin typeface="微软雅黑" panose="020B0503020204020204" charset="-122"/>
                <a:ea typeface="微软雅黑" panose="020B0503020204020204" charset="-122"/>
              </a:rPr>
              <a:t>技术实现</a:t>
            </a:r>
            <a:endParaRPr lang="zh-CN" sz="3900" b="1" spc="225">
              <a:solidFill>
                <a:srgbClr val="1F2B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" name="文本框 92" descr="{&quot;isTemplate&quot;:true,&quot;type&quot;:&quot;text&quot;}"/>
          <p:cNvSpPr txBox="1"/>
          <p:nvPr/>
        </p:nvSpPr>
        <p:spPr>
          <a:xfrm>
            <a:off x="4762500" y="3305175"/>
            <a:ext cx="533400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350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六层分层、</a:t>
            </a:r>
            <a:r>
              <a:rPr lang="en-US" sz="1350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12 </a:t>
            </a:r>
            <a:r>
              <a:rPr lang="zh-CN" sz="1350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张表，以及一条从表单到文件的完整一致性链路。</a:t>
            </a:r>
            <a:endParaRPr lang="zh-CN" sz="1350">
              <a:solidFill>
                <a:srgbClr val="7C8A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4" name="矩形 93"/>
          <p:cNvSpPr/>
          <p:nvPr/>
        </p:nvSpPr>
        <p:spPr>
          <a:xfrm>
            <a:off x="571500" y="4476750"/>
            <a:ext cx="11049000" cy="9525"/>
          </a:xfrm>
          <a:prstGeom prst="rect">
            <a:avLst/>
          </a:prstGeom>
          <a:solidFill>
            <a:srgbClr val="DCE3DA"/>
          </a:solidFill>
        </p:spPr>
        <p:txBody>
          <a:bodyPr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矩形 9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8F2"/>
          </a:solidFill>
        </p:spPr>
        <p:txBody>
          <a:bodyPr/>
          <a:p/>
        </p:txBody>
      </p:sp>
      <p:sp>
        <p:nvSpPr>
          <p:cNvPr id="97" name="圆角矩形 96"/>
          <p:cNvSpPr/>
          <p:nvPr/>
        </p:nvSpPr>
        <p:spPr>
          <a:xfrm>
            <a:off x="571500" y="6286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C05F38"/>
          </a:solidFill>
        </p:spPr>
        <p:txBody>
          <a:bodyPr/>
          <a:p/>
        </p:txBody>
      </p:sp>
      <p:sp>
        <p:nvSpPr>
          <p:cNvPr id="98" name="文本框 97" descr="{&quot;isTemplate&quot;:true,&quot;type&quot;:&quot;text&quot;}"/>
          <p:cNvSpPr txBox="1"/>
          <p:nvPr/>
        </p:nvSpPr>
        <p:spPr>
          <a:xfrm>
            <a:off x="723900" y="571500"/>
            <a:ext cx="10477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13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04 — </a:t>
            </a:r>
            <a:r>
              <a:rPr lang="zh-CN" sz="1050" spc="113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技术实现</a:t>
            </a:r>
            <a:endParaRPr lang="zh-CN" sz="1050" spc="113">
              <a:solidFill>
                <a:srgbClr val="7C8A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9" name="文本框 98" descr="{&quot;isTemplate&quot;:true,&quot;type&quot;:&quot;text&quot;}"/>
          <p:cNvSpPr txBox="1"/>
          <p:nvPr/>
        </p:nvSpPr>
        <p:spPr>
          <a:xfrm>
            <a:off x="571500" y="809625"/>
            <a:ext cx="11049000" cy="4667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F2B26"/>
                </a:solidFill>
                <a:latin typeface="微软雅黑" panose="020B0503020204020204" charset="-122"/>
                <a:ea typeface="微软雅黑" panose="020B0503020204020204" charset="-122"/>
              </a:rPr>
              <a:t>五层各管一件事，页面不直接碰数据库</a:t>
            </a:r>
            <a:endParaRPr lang="zh-CN" sz="2550" b="1">
              <a:solidFill>
                <a:srgbClr val="1F2B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" name="矩形 99"/>
          <p:cNvSpPr/>
          <p:nvPr/>
        </p:nvSpPr>
        <p:spPr>
          <a:xfrm>
            <a:off x="571500" y="1428750"/>
            <a:ext cx="11049000" cy="9525"/>
          </a:xfrm>
          <a:prstGeom prst="rect">
            <a:avLst/>
          </a:prstGeom>
          <a:solidFill>
            <a:srgbClr val="D9DFD7"/>
          </a:solidFill>
        </p:spPr>
        <p:txBody>
          <a:bodyPr/>
          <a:p/>
        </p:txBody>
      </p:sp>
      <p:sp>
        <p:nvSpPr>
          <p:cNvPr id="101" name="文本框 100" descr="{&quot;isTemplate&quot;:true,&quot;type&quot;:&quot;text&quot;}"/>
          <p:cNvSpPr txBox="1"/>
          <p:nvPr/>
        </p:nvSpPr>
        <p:spPr>
          <a:xfrm>
            <a:off x="571500" y="1666875"/>
            <a:ext cx="51435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分层（自上而下）</a:t>
            </a:r>
            <a:endParaRPr lang="zh-CN" sz="1050">
              <a:solidFill>
                <a:srgbClr val="7C8A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" name="圆角矩形 101"/>
          <p:cNvSpPr/>
          <p:nvPr/>
        </p:nvSpPr>
        <p:spPr>
          <a:xfrm>
            <a:off x="571500" y="1943100"/>
            <a:ext cx="5143500" cy="600075"/>
          </a:xfrm>
          <a:prstGeom prst="roundRect">
            <a:avLst>
              <a:gd name="adj" fmla="val 9524"/>
            </a:avLst>
          </a:prstGeom>
          <a:solidFill>
            <a:srgbClr val="EDF2EA"/>
          </a:solidFill>
        </p:spPr>
        <p:txBody>
          <a:bodyPr/>
          <a:p/>
        </p:txBody>
      </p:sp>
      <p:sp>
        <p:nvSpPr>
          <p:cNvPr id="103" name="文本框 102" descr="{&quot;isTemplate&quot;:true,&quot;type&quot;:&quot;text&quot;}"/>
          <p:cNvSpPr txBox="1"/>
          <p:nvPr/>
        </p:nvSpPr>
        <p:spPr>
          <a:xfrm>
            <a:off x="742950" y="2047875"/>
            <a:ext cx="48006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F2B26"/>
                </a:solidFill>
                <a:latin typeface="微软雅黑" panose="020B0503020204020204" charset="-122"/>
                <a:ea typeface="微软雅黑" panose="020B0503020204020204" charset="-122"/>
              </a:rPr>
              <a:t>入口与运行</a:t>
            </a:r>
            <a:endParaRPr lang="zh-CN" sz="1350" b="1">
              <a:solidFill>
                <a:srgbClr val="1F2B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" name="文本框 103" descr="{&quot;isTemplate&quot;:true,&quot;type&quot;:&quot;text&quot;}"/>
          <p:cNvSpPr txBox="1"/>
          <p:nvPr/>
        </p:nvSpPr>
        <p:spPr>
          <a:xfrm>
            <a:off x="742950" y="2276475"/>
            <a:ext cx="48006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EntryAbility</a:t>
            </a:r>
            <a:r>
              <a:rPr lang="zh-CN" sz="1050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050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AppServices </a:t>
            </a:r>
            <a:r>
              <a:rPr lang="zh-CN" sz="1050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单实例，合并并发打开请求</a:t>
            </a:r>
            <a:endParaRPr lang="zh-CN" sz="1050">
              <a:solidFill>
                <a:srgbClr val="7C8A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5" name="圆角矩形 104"/>
          <p:cNvSpPr/>
          <p:nvPr/>
        </p:nvSpPr>
        <p:spPr>
          <a:xfrm>
            <a:off x="571500" y="2638425"/>
            <a:ext cx="5143500" cy="600075"/>
          </a:xfrm>
          <a:prstGeom prst="roundRect">
            <a:avLst>
              <a:gd name="adj" fmla="val 9524"/>
            </a:avLst>
          </a:prstGeom>
          <a:solidFill>
            <a:srgbClr val="EDF2EA"/>
          </a:solidFill>
        </p:spPr>
        <p:txBody>
          <a:bodyPr/>
          <a:p/>
        </p:txBody>
      </p:sp>
      <p:sp>
        <p:nvSpPr>
          <p:cNvPr id="106" name="文本框 105" descr="{&quot;isTemplate&quot;:true,&quot;type&quot;:&quot;text&quot;}"/>
          <p:cNvSpPr txBox="1"/>
          <p:nvPr/>
        </p:nvSpPr>
        <p:spPr>
          <a:xfrm>
            <a:off x="742950" y="2743200"/>
            <a:ext cx="48006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F2B26"/>
                </a:solidFill>
                <a:latin typeface="微软雅黑" panose="020B0503020204020204" charset="-122"/>
                <a:ea typeface="微软雅黑" panose="020B0503020204020204" charset="-122"/>
              </a:rPr>
              <a:t>界面与交互</a:t>
            </a:r>
            <a:endParaRPr lang="zh-CN" sz="1350" b="1">
              <a:solidFill>
                <a:srgbClr val="1F2B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7" name="文本框 106" descr="{&quot;isTemplate&quot;:true,&quot;type&quot;:&quot;text&quot;}"/>
          <p:cNvSpPr txBox="1"/>
          <p:nvPr/>
        </p:nvSpPr>
        <p:spPr>
          <a:xfrm>
            <a:off x="742950" y="2971800"/>
            <a:ext cx="48006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NativeApp </a:t>
            </a:r>
            <a:r>
              <a:rPr lang="zh-CN" sz="1050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sz="1050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 25 </a:t>
            </a:r>
            <a:r>
              <a:rPr lang="zh-CN" sz="1050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个组件，页面状态与操作编排</a:t>
            </a:r>
            <a:endParaRPr lang="zh-CN" sz="1050">
              <a:solidFill>
                <a:srgbClr val="7C8A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8" name="圆角矩形 107"/>
          <p:cNvSpPr/>
          <p:nvPr/>
        </p:nvSpPr>
        <p:spPr>
          <a:xfrm>
            <a:off x="571500" y="3333750"/>
            <a:ext cx="5143500" cy="600075"/>
          </a:xfrm>
          <a:prstGeom prst="roundRect">
            <a:avLst>
              <a:gd name="adj" fmla="val 9524"/>
            </a:avLst>
          </a:prstGeom>
          <a:solidFill>
            <a:srgbClr val="EDF2EA"/>
          </a:solidFill>
        </p:spPr>
        <p:txBody>
          <a:bodyPr/>
          <a:p/>
        </p:txBody>
      </p:sp>
      <p:sp>
        <p:nvSpPr>
          <p:cNvPr id="109" name="文本框 108" descr="{&quot;isTemplate&quot;:true,&quot;type&quot;:&quot;text&quot;}"/>
          <p:cNvSpPr txBox="1"/>
          <p:nvPr/>
        </p:nvSpPr>
        <p:spPr>
          <a:xfrm>
            <a:off x="742950" y="3438525"/>
            <a:ext cx="48006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F2B26"/>
                </a:solidFill>
                <a:latin typeface="微软雅黑" panose="020B0503020204020204" charset="-122"/>
                <a:ea typeface="微软雅黑" panose="020B0503020204020204" charset="-122"/>
              </a:rPr>
              <a:t>业务与投影</a:t>
            </a:r>
            <a:endParaRPr lang="zh-CN" sz="1350" b="1">
              <a:solidFill>
                <a:srgbClr val="1F2B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0" name="文本框 109" descr="{&quot;isTemplate&quot;:true,&quot;type&quot;:&quot;text&quot;}"/>
          <p:cNvSpPr txBox="1"/>
          <p:nvPr/>
        </p:nvSpPr>
        <p:spPr>
          <a:xfrm>
            <a:off x="742950" y="3667125"/>
            <a:ext cx="48006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LifeGraphService</a:t>
            </a:r>
            <a:r>
              <a:rPr lang="zh-CN" sz="1050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050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GraphData</a:t>
            </a:r>
            <a:r>
              <a:rPr lang="zh-CN" sz="1050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050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EventQuery</a:t>
            </a:r>
            <a:endParaRPr lang="en-US" sz="1050">
              <a:solidFill>
                <a:srgbClr val="7C8A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1" name="圆角矩形 110"/>
          <p:cNvSpPr/>
          <p:nvPr/>
        </p:nvSpPr>
        <p:spPr>
          <a:xfrm>
            <a:off x="571500" y="4029075"/>
            <a:ext cx="5143500" cy="600075"/>
          </a:xfrm>
          <a:prstGeom prst="roundRect">
            <a:avLst>
              <a:gd name="adj" fmla="val 9524"/>
            </a:avLst>
          </a:prstGeom>
          <a:solidFill>
            <a:srgbClr val="2C4A3F"/>
          </a:solidFill>
        </p:spPr>
        <p:txBody>
          <a:bodyPr/>
          <a:p/>
        </p:txBody>
      </p:sp>
      <p:sp>
        <p:nvSpPr>
          <p:cNvPr id="112" name="文本框 111" descr="{&quot;isTemplate&quot;:true,&quot;type&quot;:&quot;text&quot;}"/>
          <p:cNvSpPr txBox="1"/>
          <p:nvPr/>
        </p:nvSpPr>
        <p:spPr>
          <a:xfrm>
            <a:off x="742950" y="4133850"/>
            <a:ext cx="48006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5F2E8"/>
                </a:solidFill>
                <a:latin typeface="微软雅黑" panose="020B0503020204020204" charset="-122"/>
                <a:ea typeface="微软雅黑" panose="020B0503020204020204" charset="-122"/>
              </a:rPr>
              <a:t>数据与事务</a:t>
            </a:r>
            <a:endParaRPr lang="zh-CN" sz="1350" b="1">
              <a:solidFill>
                <a:srgbClr val="F5F2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3" name="文本框 112" descr="{&quot;isTemplate&quot;:true,&quot;type&quot;:&quot;text&quot;}"/>
          <p:cNvSpPr txBox="1"/>
          <p:nvPr/>
        </p:nvSpPr>
        <p:spPr>
          <a:xfrm>
            <a:off x="742950" y="4362450"/>
            <a:ext cx="48006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B9CBBE"/>
                </a:solidFill>
                <a:latin typeface="微软雅黑" panose="020B0503020204020204" charset="-122"/>
                <a:ea typeface="微软雅黑" panose="020B0503020204020204" charset="-122"/>
              </a:rPr>
              <a:t>SqlDatabase </a:t>
            </a:r>
            <a:r>
              <a:rPr lang="zh-CN" sz="1050">
                <a:solidFill>
                  <a:srgbClr val="B9CBBE"/>
                </a:solidFill>
                <a:latin typeface="微软雅黑" panose="020B0503020204020204" charset="-122"/>
                <a:ea typeface="微软雅黑" panose="020B0503020204020204" charset="-122"/>
              </a:rPr>
              <a:t>串行队列，封装原生事务提交与回滚</a:t>
            </a:r>
            <a:endParaRPr lang="zh-CN" sz="1050">
              <a:solidFill>
                <a:srgbClr val="B9CBB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4" name="圆角矩形 113"/>
          <p:cNvSpPr/>
          <p:nvPr/>
        </p:nvSpPr>
        <p:spPr>
          <a:xfrm>
            <a:off x="571500" y="4724400"/>
            <a:ext cx="5143500" cy="600075"/>
          </a:xfrm>
          <a:prstGeom prst="roundRect">
            <a:avLst>
              <a:gd name="adj" fmla="val 9524"/>
            </a:avLst>
          </a:prstGeom>
          <a:solidFill>
            <a:srgbClr val="EDF2EA"/>
          </a:solidFill>
        </p:spPr>
        <p:txBody>
          <a:bodyPr/>
          <a:p/>
        </p:txBody>
      </p:sp>
      <p:sp>
        <p:nvSpPr>
          <p:cNvPr id="115" name="文本框 114" descr="{&quot;isTemplate&quot;:true,&quot;type&quot;:&quot;text&quot;}"/>
          <p:cNvSpPr txBox="1"/>
          <p:nvPr/>
        </p:nvSpPr>
        <p:spPr>
          <a:xfrm>
            <a:off x="742950" y="4829175"/>
            <a:ext cx="48006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F2B26"/>
                </a:solidFill>
                <a:latin typeface="微软雅黑" panose="020B0503020204020204" charset="-122"/>
                <a:ea typeface="微软雅黑" panose="020B0503020204020204" charset="-122"/>
              </a:rPr>
              <a:t>存储与系统</a:t>
            </a:r>
            <a:endParaRPr lang="zh-CN" sz="1350" b="1">
              <a:solidFill>
                <a:srgbClr val="1F2B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6" name="文本框 115" descr="{&quot;isTemplate&quot;:true,&quot;type&quot;:&quot;text&quot;}"/>
          <p:cNvSpPr txBox="1"/>
          <p:nvPr/>
        </p:nvSpPr>
        <p:spPr>
          <a:xfrm>
            <a:off x="742950" y="5057775"/>
            <a:ext cx="48006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ArkData RDB</a:t>
            </a:r>
            <a:r>
              <a:rPr lang="zh-CN" sz="1050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、应用私有目录、</a:t>
            </a:r>
            <a:r>
              <a:rPr lang="en-US" sz="1050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ArkWeb</a:t>
            </a:r>
            <a:r>
              <a:rPr lang="zh-CN" sz="1050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050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FormKit</a:t>
            </a:r>
            <a:endParaRPr lang="en-US" sz="1050">
              <a:solidFill>
                <a:srgbClr val="7C8A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7" name="文本框 116" descr="{&quot;isTemplate&quot;:true,&quot;type&quot;:&quot;text&quot;}"/>
          <p:cNvSpPr txBox="1"/>
          <p:nvPr/>
        </p:nvSpPr>
        <p:spPr>
          <a:xfrm>
            <a:off x="6248400" y="1666875"/>
            <a:ext cx="53721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关键模块职责</a:t>
            </a:r>
            <a:endParaRPr lang="zh-CN" sz="1050">
              <a:solidFill>
                <a:srgbClr val="7C8A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8" name="圆角矩形 117"/>
          <p:cNvSpPr/>
          <p:nvPr/>
        </p:nvSpPr>
        <p:spPr>
          <a:xfrm>
            <a:off x="6248400" y="1943100"/>
            <a:ext cx="5372100" cy="2943225"/>
          </a:xfrm>
          <a:prstGeom prst="roundRect">
            <a:avLst>
              <a:gd name="adj" fmla="val 1942"/>
            </a:avLst>
          </a:prstGeom>
          <a:ln w="12700">
            <a:solidFill>
              <a:srgbClr val="E2E6DF"/>
            </a:solidFill>
            <a:prstDash val="solid"/>
          </a:ln>
        </p:spPr>
        <p:txBody>
          <a:bodyPr/>
          <a:p/>
        </p:txBody>
      </p:sp>
      <p:sp>
        <p:nvSpPr>
          <p:cNvPr id="119" name="任意多边形 118"/>
          <p:cNvSpPr/>
          <p:nvPr/>
        </p:nvSpPr>
        <p:spPr>
          <a:xfrm>
            <a:off x="6457950" y="1943100"/>
            <a:ext cx="4953000" cy="600075"/>
          </a:xfrm>
          <a:custGeom>
            <a:avLst/>
            <a:gdLst/>
            <a:ahLst/>
            <a:cxnLst/>
            <a:pathLst>
              <a:path w="520" h="63">
                <a:moveTo>
                  <a:pt x="0" y="62"/>
                </a:moveTo>
                <a:lnTo>
                  <a:pt x="520" y="62"/>
                </a:lnTo>
                <a:lnTo>
                  <a:pt x="520" y="63"/>
                </a:lnTo>
                <a:lnTo>
                  <a:pt x="0" y="63"/>
                </a:lnTo>
                <a:close/>
              </a:path>
            </a:pathLst>
          </a:custGeom>
          <a:solidFill>
            <a:srgbClr val="E9EDE6"/>
          </a:solidFill>
        </p:spPr>
        <p:txBody>
          <a:bodyPr/>
          <a:p/>
        </p:txBody>
      </p:sp>
      <p:sp>
        <p:nvSpPr>
          <p:cNvPr id="120" name="文本框 119" descr="{&quot;isTemplate&quot;:true,&quot;type&quot;:&quot;text&quot;}"/>
          <p:cNvSpPr txBox="1"/>
          <p:nvPr/>
        </p:nvSpPr>
        <p:spPr>
          <a:xfrm>
            <a:off x="6457950" y="2095500"/>
            <a:ext cx="15049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F2B26"/>
                </a:solidFill>
                <a:latin typeface="微软雅黑" panose="020B0503020204020204" charset="-122"/>
                <a:ea typeface="微软雅黑" panose="020B0503020204020204" charset="-122"/>
              </a:rPr>
              <a:t>LifeGraphService</a:t>
            </a:r>
            <a:endParaRPr lang="en-US" sz="1200" b="1">
              <a:solidFill>
                <a:srgbClr val="1F2B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1" name="文本框 120" descr="{&quot;isTemplate&quot;:true,&quot;type&quot;:&quot;text&quot;}"/>
          <p:cNvSpPr txBox="1"/>
          <p:nvPr/>
        </p:nvSpPr>
        <p:spPr>
          <a:xfrm>
            <a:off x="7962900" y="2095500"/>
            <a:ext cx="32385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初始化、写入校验、分类管理、快照与恢复</a:t>
            </a:r>
            <a:endParaRPr lang="zh-CN" sz="1200">
              <a:solidFill>
                <a:srgbClr val="5C6B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2" name="任意多边形 121"/>
          <p:cNvSpPr/>
          <p:nvPr/>
        </p:nvSpPr>
        <p:spPr>
          <a:xfrm>
            <a:off x="6457950" y="2533650"/>
            <a:ext cx="4953000" cy="600075"/>
          </a:xfrm>
          <a:custGeom>
            <a:avLst/>
            <a:gdLst/>
            <a:ahLst/>
            <a:cxnLst/>
            <a:pathLst>
              <a:path w="520" h="63">
                <a:moveTo>
                  <a:pt x="0" y="62"/>
                </a:moveTo>
                <a:lnTo>
                  <a:pt x="520" y="62"/>
                </a:lnTo>
                <a:lnTo>
                  <a:pt x="520" y="63"/>
                </a:lnTo>
                <a:lnTo>
                  <a:pt x="0" y="63"/>
                </a:lnTo>
                <a:close/>
              </a:path>
            </a:pathLst>
          </a:custGeom>
          <a:solidFill>
            <a:srgbClr val="E9EDE6"/>
          </a:solidFill>
        </p:spPr>
        <p:txBody>
          <a:bodyPr/>
          <a:p/>
        </p:txBody>
      </p:sp>
      <p:sp>
        <p:nvSpPr>
          <p:cNvPr id="123" name="文本框 122" descr="{&quot;isTemplate&quot;:true,&quot;type&quot;:&quot;text&quot;}"/>
          <p:cNvSpPr txBox="1"/>
          <p:nvPr/>
        </p:nvSpPr>
        <p:spPr>
          <a:xfrm>
            <a:off x="6457950" y="2686050"/>
            <a:ext cx="15049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F2B26"/>
                </a:solidFill>
                <a:latin typeface="微软雅黑" panose="020B0503020204020204" charset="-122"/>
                <a:ea typeface="微软雅黑" panose="020B0503020204020204" charset="-122"/>
              </a:rPr>
              <a:t>SqlDatabase</a:t>
            </a:r>
            <a:endParaRPr lang="en-US" sz="1200" b="1">
              <a:solidFill>
                <a:srgbClr val="1F2B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4" name="文本框 123" descr="{&quot;isTemplate&quot;:true,&quot;type&quot;:&quot;text&quot;}"/>
          <p:cNvSpPr txBox="1"/>
          <p:nvPr/>
        </p:nvSpPr>
        <p:spPr>
          <a:xfrm>
            <a:off x="7962900" y="2686050"/>
            <a:ext cx="32385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Promise </a:t>
            </a:r>
            <a:r>
              <a:rPr lang="zh-CN" sz="120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队列串行访问，封装提交与回滚</a:t>
            </a:r>
            <a:endParaRPr lang="zh-CN" sz="1200">
              <a:solidFill>
                <a:srgbClr val="5C6B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5" name="任意多边形 124"/>
          <p:cNvSpPr/>
          <p:nvPr/>
        </p:nvSpPr>
        <p:spPr>
          <a:xfrm>
            <a:off x="6457950" y="3124200"/>
            <a:ext cx="4953000" cy="600075"/>
          </a:xfrm>
          <a:custGeom>
            <a:avLst/>
            <a:gdLst/>
            <a:ahLst/>
            <a:cxnLst/>
            <a:pathLst>
              <a:path w="520" h="63">
                <a:moveTo>
                  <a:pt x="0" y="62"/>
                </a:moveTo>
                <a:lnTo>
                  <a:pt x="520" y="62"/>
                </a:lnTo>
                <a:lnTo>
                  <a:pt x="520" y="63"/>
                </a:lnTo>
                <a:lnTo>
                  <a:pt x="0" y="63"/>
                </a:lnTo>
                <a:close/>
              </a:path>
            </a:pathLst>
          </a:custGeom>
          <a:solidFill>
            <a:srgbClr val="E9EDE6"/>
          </a:solidFill>
        </p:spPr>
        <p:txBody>
          <a:bodyPr/>
          <a:p/>
        </p:txBody>
      </p:sp>
      <p:sp>
        <p:nvSpPr>
          <p:cNvPr id="126" name="文本框 125" descr="{&quot;isTemplate&quot;:true,&quot;type&quot;:&quot;text&quot;}"/>
          <p:cNvSpPr txBox="1"/>
          <p:nvPr/>
        </p:nvSpPr>
        <p:spPr>
          <a:xfrm>
            <a:off x="6457950" y="3276600"/>
            <a:ext cx="15049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F2B26"/>
                </a:solidFill>
                <a:latin typeface="微软雅黑" panose="020B0503020204020204" charset="-122"/>
                <a:ea typeface="微软雅黑" panose="020B0503020204020204" charset="-122"/>
              </a:rPr>
              <a:t>GraphData</a:t>
            </a:r>
            <a:endParaRPr lang="en-US" sz="1200" b="1">
              <a:solidFill>
                <a:srgbClr val="1F2B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7" name="文本框 126" descr="{&quot;isTemplate&quot;:true,&quot;type&quot;:&quot;text&quot;}"/>
          <p:cNvSpPr txBox="1"/>
          <p:nvPr/>
        </p:nvSpPr>
        <p:spPr>
          <a:xfrm>
            <a:off x="7962900" y="3276600"/>
            <a:ext cx="32385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按图谱模式与筛选投影节点和连线</a:t>
            </a:r>
            <a:endParaRPr lang="zh-CN" sz="1200">
              <a:solidFill>
                <a:srgbClr val="5C6B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8" name="任意多边形 127"/>
          <p:cNvSpPr/>
          <p:nvPr/>
        </p:nvSpPr>
        <p:spPr>
          <a:xfrm>
            <a:off x="6457950" y="3714750"/>
            <a:ext cx="4953000" cy="600075"/>
          </a:xfrm>
          <a:custGeom>
            <a:avLst/>
            <a:gdLst/>
            <a:ahLst/>
            <a:cxnLst/>
            <a:pathLst>
              <a:path w="520" h="63">
                <a:moveTo>
                  <a:pt x="0" y="62"/>
                </a:moveTo>
                <a:lnTo>
                  <a:pt x="520" y="62"/>
                </a:lnTo>
                <a:lnTo>
                  <a:pt x="520" y="63"/>
                </a:lnTo>
                <a:lnTo>
                  <a:pt x="0" y="63"/>
                </a:lnTo>
                <a:close/>
              </a:path>
            </a:pathLst>
          </a:custGeom>
          <a:solidFill>
            <a:srgbClr val="E9EDE6"/>
          </a:solidFill>
        </p:spPr>
        <p:txBody>
          <a:bodyPr/>
          <a:p/>
        </p:txBody>
      </p:sp>
      <p:sp>
        <p:nvSpPr>
          <p:cNvPr id="129" name="文本框 128" descr="{&quot;isTemplate&quot;:true,&quot;type&quot;:&quot;text&quot;}"/>
          <p:cNvSpPr txBox="1"/>
          <p:nvPr/>
        </p:nvSpPr>
        <p:spPr>
          <a:xfrm>
            <a:off x="6457950" y="3867150"/>
            <a:ext cx="15049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F2B26"/>
                </a:solidFill>
                <a:latin typeface="微软雅黑" panose="020B0503020204020204" charset="-122"/>
                <a:ea typeface="微软雅黑" panose="020B0503020204020204" charset="-122"/>
              </a:rPr>
              <a:t>MediaFiles</a:t>
            </a:r>
            <a:endParaRPr lang="en-US" sz="1200" b="1">
              <a:solidFill>
                <a:srgbClr val="1F2B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0" name="文本框 129" descr="{&quot;isTemplate&quot;:true,&quot;type&quot;:&quot;text&quot;}"/>
          <p:cNvSpPr txBox="1"/>
          <p:nvPr/>
        </p:nvSpPr>
        <p:spPr>
          <a:xfrm>
            <a:off x="7962900" y="3867150"/>
            <a:ext cx="32385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系统选择器、附件导入、缩略图与引用清理</a:t>
            </a:r>
            <a:endParaRPr lang="zh-CN" sz="1200">
              <a:solidFill>
                <a:srgbClr val="5C6B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1" name="文本框 130" descr="{&quot;isTemplate&quot;:true,&quot;type&quot;:&quot;text&quot;}"/>
          <p:cNvSpPr txBox="1"/>
          <p:nvPr/>
        </p:nvSpPr>
        <p:spPr>
          <a:xfrm>
            <a:off x="6457950" y="4457700"/>
            <a:ext cx="15049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F2B26"/>
                </a:solidFill>
                <a:latin typeface="微软雅黑" panose="020B0503020204020204" charset="-122"/>
                <a:ea typeface="微软雅黑" panose="020B0503020204020204" charset="-122"/>
              </a:rPr>
              <a:t>DesktopCardStore</a:t>
            </a:r>
            <a:endParaRPr lang="en-US" sz="1200" b="1">
              <a:solidFill>
                <a:srgbClr val="1F2B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2" name="文本框 131" descr="{&quot;isTemplate&quot;:true,&quot;type&quot;:&quot;text&quot;}"/>
          <p:cNvSpPr txBox="1"/>
          <p:nvPr/>
        </p:nvSpPr>
        <p:spPr>
          <a:xfrm>
            <a:off x="7962900" y="4457700"/>
            <a:ext cx="32385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独立</a:t>
            </a:r>
            <a:r>
              <a:rPr lang="en-US" sz="120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 Preferences </a:t>
            </a:r>
            <a:r>
              <a:rPr lang="zh-CN" sz="120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保存卡片配置与投影缓存</a:t>
            </a:r>
            <a:endParaRPr lang="zh-CN" sz="1200">
              <a:solidFill>
                <a:srgbClr val="5C6B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3" name="文本框 132" descr="{&quot;isTemplate&quot;:true,&quot;type&quot;:&quot;text&quot;}"/>
          <p:cNvSpPr txBox="1"/>
          <p:nvPr/>
        </p:nvSpPr>
        <p:spPr>
          <a:xfrm>
            <a:off x="6248400" y="5038725"/>
            <a:ext cx="53721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页面只调用业务层；数据库访问全部经过串行队列，避免并发写入互相打断。</a:t>
            </a:r>
            <a:endParaRPr lang="zh-CN" sz="1050">
              <a:solidFill>
                <a:srgbClr val="7C8A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4" name="文本框 133" descr="{&quot;isTemplate&quot;:true,&quot;type&quot;:&quot;text&quot;}"/>
          <p:cNvSpPr txBox="1"/>
          <p:nvPr/>
        </p:nvSpPr>
        <p:spPr>
          <a:xfrm>
            <a:off x="571500" y="6400800"/>
            <a:ext cx="13049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AA69D"/>
                </a:solidFill>
                <a:latin typeface="微软雅黑" panose="020B0503020204020204" charset="-122"/>
                <a:ea typeface="微软雅黑" panose="020B0503020204020204" charset="-122"/>
              </a:rPr>
              <a:t>Life Graph · </a:t>
            </a:r>
            <a:r>
              <a:rPr lang="zh-CN" sz="1050">
                <a:solidFill>
                  <a:srgbClr val="9AA69D"/>
                </a:solidFill>
                <a:latin typeface="微软雅黑" panose="020B0503020204020204" charset="-122"/>
                <a:ea typeface="微软雅黑" panose="020B0503020204020204" charset="-122"/>
              </a:rPr>
              <a:t>生活脉络</a:t>
            </a:r>
            <a:endParaRPr lang="zh-CN" sz="1050">
              <a:solidFill>
                <a:srgbClr val="9AA69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5" name="文本框 134" descr="{&quot;isTemplate&quot;:true,&quot;type&quot;:&quot;text&quot;}"/>
          <p:cNvSpPr txBox="1"/>
          <p:nvPr/>
        </p:nvSpPr>
        <p:spPr>
          <a:xfrm>
            <a:off x="11458575" y="6400800"/>
            <a:ext cx="1619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AA69D"/>
                </a:solidFill>
                <a:latin typeface="微软雅黑" panose="020B0503020204020204" charset="-122"/>
                <a:ea typeface="微软雅黑" panose="020B0503020204020204" charset="-122"/>
              </a:rPr>
              <a:t>14</a:t>
            </a:r>
            <a:endParaRPr lang="en-US" sz="1050">
              <a:solidFill>
                <a:srgbClr val="9AA69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矩形 13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8F2"/>
          </a:solidFill>
        </p:spPr>
        <p:txBody>
          <a:bodyPr/>
          <a:p/>
        </p:txBody>
      </p:sp>
      <p:sp>
        <p:nvSpPr>
          <p:cNvPr id="138" name="圆角矩形 137"/>
          <p:cNvSpPr/>
          <p:nvPr/>
        </p:nvSpPr>
        <p:spPr>
          <a:xfrm>
            <a:off x="571500" y="6286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C05F38"/>
          </a:solidFill>
        </p:spPr>
        <p:txBody>
          <a:bodyPr/>
          <a:p/>
        </p:txBody>
      </p:sp>
      <p:sp>
        <p:nvSpPr>
          <p:cNvPr id="139" name="文本框 138" descr="{&quot;isTemplate&quot;:true,&quot;type&quot;:&quot;text&quot;}"/>
          <p:cNvSpPr txBox="1"/>
          <p:nvPr/>
        </p:nvSpPr>
        <p:spPr>
          <a:xfrm>
            <a:off x="723900" y="571500"/>
            <a:ext cx="10477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13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04 — </a:t>
            </a:r>
            <a:r>
              <a:rPr lang="zh-CN" sz="1050" spc="113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技术实现</a:t>
            </a:r>
            <a:endParaRPr lang="zh-CN" sz="1050" spc="113">
              <a:solidFill>
                <a:srgbClr val="7C8A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0" name="文本框 139" descr="{&quot;isTemplate&quot;:true,&quot;type&quot;:&quot;text&quot;}"/>
          <p:cNvSpPr txBox="1"/>
          <p:nvPr/>
        </p:nvSpPr>
        <p:spPr>
          <a:xfrm>
            <a:off x="571500" y="809625"/>
            <a:ext cx="11049000" cy="4667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2550" b="1">
                <a:solidFill>
                  <a:srgbClr val="1F2B26"/>
                </a:solidFill>
                <a:latin typeface="微软雅黑" panose="020B0503020204020204" charset="-122"/>
                <a:ea typeface="微软雅黑" panose="020B0503020204020204" charset="-122"/>
              </a:rPr>
              <a:t>12 </a:t>
            </a:r>
            <a:r>
              <a:rPr lang="zh-CN" sz="2550" b="1">
                <a:solidFill>
                  <a:srgbClr val="1F2B26"/>
                </a:solidFill>
                <a:latin typeface="微软雅黑" panose="020B0503020204020204" charset="-122"/>
                <a:ea typeface="微软雅黑" panose="020B0503020204020204" charset="-122"/>
              </a:rPr>
              <a:t>张表，把「关系」和「经历」都存成可查的结构</a:t>
            </a:r>
            <a:endParaRPr lang="zh-CN" sz="2550" b="1">
              <a:solidFill>
                <a:srgbClr val="1F2B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1" name="矩形 140"/>
          <p:cNvSpPr/>
          <p:nvPr/>
        </p:nvSpPr>
        <p:spPr>
          <a:xfrm>
            <a:off x="571500" y="1428750"/>
            <a:ext cx="11049000" cy="9525"/>
          </a:xfrm>
          <a:prstGeom prst="rect">
            <a:avLst/>
          </a:prstGeom>
          <a:solidFill>
            <a:srgbClr val="D9DFD7"/>
          </a:solidFill>
        </p:spPr>
        <p:txBody>
          <a:bodyPr/>
          <a:p/>
        </p:txBody>
      </p:sp>
      <p:sp>
        <p:nvSpPr>
          <p:cNvPr id="142" name="任意多边形 141"/>
          <p:cNvSpPr/>
          <p:nvPr/>
        </p:nvSpPr>
        <p:spPr>
          <a:xfrm>
            <a:off x="6248400" y="1666875"/>
            <a:ext cx="5372100" cy="1371600"/>
          </a:xfrm>
          <a:custGeom>
            <a:avLst/>
            <a:gdLst/>
            <a:ahLst/>
            <a:cxnLst/>
            <a:pathLst>
              <a:path w="564" h="144">
                <a:moveTo>
                  <a:pt x="0" y="0"/>
                </a:moveTo>
                <a:lnTo>
                  <a:pt x="564" y="0"/>
                </a:lnTo>
                <a:lnTo>
                  <a:pt x="564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6DF"/>
          </a:solidFill>
        </p:spPr>
        <p:txBody>
          <a:bodyPr/>
          <a:p/>
        </p:txBody>
      </p:sp>
      <p:sp>
        <p:nvSpPr>
          <p:cNvPr id="143" name="文本框 142" descr="{&quot;isTemplate&quot;:true,&quot;type&quot;:&quot;text&quot;}"/>
          <p:cNvSpPr txBox="1"/>
          <p:nvPr/>
        </p:nvSpPr>
        <p:spPr>
          <a:xfrm>
            <a:off x="6248400" y="1866900"/>
            <a:ext cx="53721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F2B26"/>
                </a:solidFill>
                <a:latin typeface="微软雅黑" panose="020B0503020204020204" charset="-122"/>
                <a:ea typeface="微软雅黑" panose="020B0503020204020204" charset="-122"/>
              </a:rPr>
              <a:t>写入用事务，失败就整笔回滚</a:t>
            </a:r>
            <a:endParaRPr lang="zh-CN" sz="1500" b="1">
              <a:solidFill>
                <a:srgbClr val="1F2B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4" name="文本框 143" descr="{&quot;isTemplate&quot;:true,&quot;type&quot;:&quot;text&quot;}"/>
          <p:cNvSpPr txBox="1"/>
          <p:nvPr/>
        </p:nvSpPr>
        <p:spPr>
          <a:xfrm>
            <a:off x="6248400" y="2171700"/>
            <a:ext cx="5372100" cy="6667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事件、参与者、分支、情绪、附件在同一个事务里提交，校验不过不留下半条记录。</a:t>
            </a:r>
            <a:endParaRPr lang="zh-CN" sz="1350">
              <a:solidFill>
                <a:srgbClr val="5C6B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5" name="任意多边形 144"/>
          <p:cNvSpPr/>
          <p:nvPr/>
        </p:nvSpPr>
        <p:spPr>
          <a:xfrm>
            <a:off x="6248400" y="3028950"/>
            <a:ext cx="5372100" cy="1371600"/>
          </a:xfrm>
          <a:custGeom>
            <a:avLst/>
            <a:gdLst/>
            <a:ahLst/>
            <a:cxnLst/>
            <a:pathLst>
              <a:path w="564" h="144">
                <a:moveTo>
                  <a:pt x="0" y="0"/>
                </a:moveTo>
                <a:lnTo>
                  <a:pt x="564" y="0"/>
                </a:lnTo>
                <a:lnTo>
                  <a:pt x="564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6DF"/>
          </a:solidFill>
        </p:spPr>
        <p:txBody>
          <a:bodyPr/>
          <a:p/>
        </p:txBody>
      </p:sp>
      <p:sp>
        <p:nvSpPr>
          <p:cNvPr id="146" name="文本框 145" descr="{&quot;isTemplate&quot;:true,&quot;type&quot;:&quot;text&quot;}"/>
          <p:cNvSpPr txBox="1"/>
          <p:nvPr/>
        </p:nvSpPr>
        <p:spPr>
          <a:xfrm>
            <a:off x="6248400" y="3228975"/>
            <a:ext cx="53721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F2B26"/>
                </a:solidFill>
                <a:latin typeface="微软雅黑" panose="020B0503020204020204" charset="-122"/>
                <a:ea typeface="微软雅黑" panose="020B0503020204020204" charset="-122"/>
              </a:rPr>
              <a:t>事务回滚不了文件，就按引用清理</a:t>
            </a:r>
            <a:endParaRPr lang="zh-CN" sz="1500" b="1">
              <a:solidFill>
                <a:srgbClr val="1F2B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7" name="文本框 146" descr="{&quot;isTemplate&quot;:true,&quot;type&quot;:&quot;text&quot;}"/>
          <p:cNvSpPr txBox="1"/>
          <p:nvPr/>
        </p:nvSpPr>
        <p:spPr>
          <a:xfrm>
            <a:off x="6248400" y="3533775"/>
            <a:ext cx="5372100" cy="6667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附件先登记再校验引用；取消编辑只删本次新增且无人引用的文件，其他对象仍在用的图片不动。</a:t>
            </a:r>
            <a:endParaRPr lang="zh-CN" sz="1350">
              <a:solidFill>
                <a:srgbClr val="5C6B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8" name="任意多边形 147"/>
          <p:cNvSpPr/>
          <p:nvPr/>
        </p:nvSpPr>
        <p:spPr>
          <a:xfrm>
            <a:off x="6248400" y="4391025"/>
            <a:ext cx="5372100" cy="1390650"/>
          </a:xfrm>
          <a:custGeom>
            <a:avLst/>
            <a:gdLst/>
            <a:ahLst/>
            <a:cxnLst/>
            <a:pathLst>
              <a:path w="564" h="146">
                <a:moveTo>
                  <a:pt x="0" y="0"/>
                </a:moveTo>
                <a:lnTo>
                  <a:pt x="564" y="0"/>
                </a:lnTo>
                <a:lnTo>
                  <a:pt x="564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6DF"/>
          </a:solidFill>
        </p:spPr>
        <p:txBody>
          <a:bodyPr/>
          <a:p/>
        </p:txBody>
      </p:sp>
      <p:sp>
        <p:nvSpPr>
          <p:cNvPr id="149" name="任意多边形 148"/>
          <p:cNvSpPr/>
          <p:nvPr/>
        </p:nvSpPr>
        <p:spPr>
          <a:xfrm>
            <a:off x="6248400" y="4391025"/>
            <a:ext cx="5372100" cy="1390650"/>
          </a:xfrm>
          <a:custGeom>
            <a:avLst/>
            <a:gdLst/>
            <a:ahLst/>
            <a:cxnLst/>
            <a:pathLst>
              <a:path w="564" h="146">
                <a:moveTo>
                  <a:pt x="0" y="145"/>
                </a:moveTo>
                <a:lnTo>
                  <a:pt x="564" y="145"/>
                </a:lnTo>
                <a:lnTo>
                  <a:pt x="564" y="146"/>
                </a:lnTo>
                <a:lnTo>
                  <a:pt x="0" y="146"/>
                </a:lnTo>
                <a:close/>
              </a:path>
            </a:pathLst>
          </a:custGeom>
          <a:solidFill>
            <a:srgbClr val="E2E6DF"/>
          </a:solidFill>
        </p:spPr>
        <p:txBody>
          <a:bodyPr/>
          <a:p/>
        </p:txBody>
      </p:sp>
      <p:sp>
        <p:nvSpPr>
          <p:cNvPr id="150" name="文本框 149" descr="{&quot;isTemplate&quot;:true,&quot;type&quot;:&quot;text&quot;}"/>
          <p:cNvSpPr txBox="1"/>
          <p:nvPr/>
        </p:nvSpPr>
        <p:spPr>
          <a:xfrm>
            <a:off x="6248400" y="4591050"/>
            <a:ext cx="53721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F2B26"/>
                </a:solidFill>
                <a:latin typeface="微软雅黑" panose="020B0503020204020204" charset="-122"/>
                <a:ea typeface="微软雅黑" panose="020B0503020204020204" charset="-122"/>
              </a:rPr>
              <a:t>卡片缓存与业务库分开维护</a:t>
            </a:r>
            <a:endParaRPr lang="zh-CN" sz="1500" b="1">
              <a:solidFill>
                <a:srgbClr val="1F2B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1" name="文本框 150" descr="{&quot;isTemplate&quot;:true,&quot;type&quot;:&quot;text&quot;}"/>
          <p:cNvSpPr txBox="1"/>
          <p:nvPr/>
        </p:nvSpPr>
        <p:spPr>
          <a:xfrm>
            <a:off x="6248400" y="4895850"/>
            <a:ext cx="5372100" cy="6667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桌面卡片用独立</a:t>
            </a:r>
            <a:r>
              <a:rPr lang="en-US" sz="135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 Preferences </a:t>
            </a:r>
            <a:r>
              <a:rPr lang="zh-CN" sz="135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存投影结果，跨进程读取前先清内存缓存，避免读到旧值。</a:t>
            </a:r>
            <a:endParaRPr lang="zh-CN" sz="1350">
              <a:solidFill>
                <a:srgbClr val="5C6B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2" name="文本框 151" descr="{&quot;isTemplate&quot;:true,&quot;type&quot;:&quot;text&quot;}"/>
          <p:cNvSpPr txBox="1"/>
          <p:nvPr/>
        </p:nvSpPr>
        <p:spPr>
          <a:xfrm>
            <a:off x="6248400" y="5972175"/>
            <a:ext cx="5372100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3B4A41"/>
                </a:solidFill>
                <a:latin typeface="微软雅黑" panose="020B0503020204020204" charset="-122"/>
                <a:ea typeface="微软雅黑" panose="020B0503020204020204" charset="-122"/>
              </a:rPr>
              <a:t>数据库和文件系统不能一起回滚，所以一致性要靠</a:t>
            </a:r>
            <a:r>
              <a:rPr lang="zh-CN" sz="1350" b="1">
                <a:solidFill>
                  <a:srgbClr val="C05F38"/>
                </a:solidFill>
                <a:latin typeface="微软雅黑" panose="020B0503020204020204" charset="-122"/>
                <a:ea typeface="微软雅黑" panose="020B0503020204020204" charset="-122"/>
              </a:rPr>
              <a:t>引用计数</a:t>
            </a:r>
            <a:r>
              <a:rPr lang="zh-CN" sz="1350">
                <a:solidFill>
                  <a:srgbClr val="3B4A41"/>
                </a:solidFill>
                <a:latin typeface="微软雅黑" panose="020B0503020204020204" charset="-122"/>
                <a:ea typeface="微软雅黑" panose="020B0503020204020204" charset="-122"/>
              </a:rPr>
              <a:t>补上。</a:t>
            </a:r>
            <a:endParaRPr lang="zh-CN" sz="1350">
              <a:solidFill>
                <a:srgbClr val="3B4A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3" name="圆角矩形 152"/>
          <p:cNvSpPr/>
          <p:nvPr/>
        </p:nvSpPr>
        <p:spPr>
          <a:xfrm>
            <a:off x="571500" y="1666875"/>
            <a:ext cx="3048000" cy="1333500"/>
          </a:xfrm>
          <a:prstGeom prst="roundRect">
            <a:avLst>
              <a:gd name="adj" fmla="val 5714"/>
            </a:avLst>
          </a:prstGeom>
          <a:solidFill>
            <a:srgbClr val="2C4A3F"/>
          </a:solidFill>
        </p:spPr>
        <p:txBody>
          <a:bodyPr/>
          <a:p/>
        </p:txBody>
      </p:sp>
      <p:sp>
        <p:nvSpPr>
          <p:cNvPr id="154" name="文本框 153" descr="{&quot;isTemplate&quot;:true,&quot;type&quot;:&quot;text&quot;}"/>
          <p:cNvSpPr txBox="1"/>
          <p:nvPr/>
        </p:nvSpPr>
        <p:spPr>
          <a:xfrm>
            <a:off x="742950" y="1838325"/>
            <a:ext cx="27051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5F2E8"/>
                </a:solidFill>
                <a:latin typeface="微软雅黑" panose="020B0503020204020204" charset="-122"/>
                <a:ea typeface="微软雅黑" panose="020B0503020204020204" charset="-122"/>
              </a:rPr>
              <a:t>事件与分类　</a:t>
            </a:r>
            <a:r>
              <a:rPr lang="en-US" sz="1200" b="1">
                <a:solidFill>
                  <a:srgbClr val="F5F2E8"/>
                </a:solidFill>
                <a:latin typeface="微软雅黑" panose="020B0503020204020204" charset="-122"/>
                <a:ea typeface="微软雅黑" panose="020B0503020204020204" charset="-122"/>
              </a:rPr>
              <a:t>6 </a:t>
            </a:r>
            <a:r>
              <a:rPr lang="zh-CN" sz="1200" b="1">
                <a:solidFill>
                  <a:srgbClr val="F5F2E8"/>
                </a:solidFill>
                <a:latin typeface="微软雅黑" panose="020B0503020204020204" charset="-122"/>
                <a:ea typeface="微软雅黑" panose="020B0503020204020204" charset="-122"/>
              </a:rPr>
              <a:t>张</a:t>
            </a:r>
            <a:endParaRPr lang="zh-CN" sz="1200" b="1">
              <a:solidFill>
                <a:srgbClr val="F5F2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5" name="文本框 154" descr="{&quot;isTemplate&quot;:true,&quot;type&quot;:&quot;text&quot;}"/>
          <p:cNvSpPr txBox="1"/>
          <p:nvPr/>
        </p:nvSpPr>
        <p:spPr>
          <a:xfrm>
            <a:off x="742950" y="2105025"/>
            <a:ext cx="2705100" cy="8191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050">
                <a:solidFill>
                  <a:srgbClr val="B9CBBE"/>
                </a:solidFill>
                <a:latin typeface="微软雅黑" panose="020B0503020204020204" charset="-122"/>
                <a:ea typeface="微软雅黑" panose="020B0503020204020204" charset="-122"/>
              </a:rPr>
              <a:t>events</a:t>
            </a:r>
            <a:r>
              <a:rPr lang="zh-CN" sz="1050">
                <a:solidFill>
                  <a:srgbClr val="B9CBBE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050">
                <a:solidFill>
                  <a:srgbClr val="B9CBBE"/>
                </a:solidFill>
                <a:latin typeface="微软雅黑" panose="020B0503020204020204" charset="-122"/>
                <a:ea typeface="微软雅黑" panose="020B0503020204020204" charset="-122"/>
              </a:rPr>
              <a:t>event_persons</a:t>
            </a:r>
            <a:r>
              <a:rPr lang="zh-CN" sz="1050">
                <a:solidFill>
                  <a:srgbClr val="B9CBBE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050">
                <a:solidFill>
                  <a:srgbClr val="B9CBBE"/>
                </a:solidFill>
                <a:latin typeface="微软雅黑" panose="020B0503020204020204" charset="-122"/>
                <a:ea typeface="微软雅黑" panose="020B0503020204020204" charset="-122"/>
              </a:rPr>
              <a:t>branches</a:t>
            </a:r>
            <a:r>
              <a:rPr lang="zh-CN" sz="1050">
                <a:solidFill>
                  <a:srgbClr val="B9CBBE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endParaRPr lang="zh-CN" sz="1050">
              <a:solidFill>
                <a:srgbClr val="B9CBB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70000"/>
              </a:lnSpc>
            </a:pPr>
            <a:r>
              <a:rPr lang="en-US" sz="1050">
                <a:solidFill>
                  <a:srgbClr val="B9CBBE"/>
                </a:solidFill>
                <a:latin typeface="微软雅黑" panose="020B0503020204020204" charset="-122"/>
                <a:ea typeface="微软雅黑" panose="020B0503020204020204" charset="-122"/>
              </a:rPr>
              <a:t>event_branches</a:t>
            </a:r>
            <a:r>
              <a:rPr lang="zh-CN" sz="1050">
                <a:solidFill>
                  <a:srgbClr val="B9CBBE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050">
                <a:solidFill>
                  <a:srgbClr val="B9CBBE"/>
                </a:solidFill>
                <a:latin typeface="微软雅黑" panose="020B0503020204020204" charset="-122"/>
                <a:ea typeface="微软雅黑" panose="020B0503020204020204" charset="-122"/>
              </a:rPr>
              <a:t>emotions</a:t>
            </a:r>
            <a:r>
              <a:rPr lang="zh-CN" sz="1050">
                <a:solidFill>
                  <a:srgbClr val="B9CBBE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050">
                <a:solidFill>
                  <a:srgbClr val="B9CBBE"/>
                </a:solidFill>
                <a:latin typeface="微软雅黑" panose="020B0503020204020204" charset="-122"/>
                <a:ea typeface="微软雅黑" panose="020B0503020204020204" charset="-122"/>
              </a:rPr>
              <a:t>event_emotions</a:t>
            </a:r>
            <a:endParaRPr lang="en-US" sz="1050">
              <a:solidFill>
                <a:srgbClr val="B9CBB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6" name="圆角矩形 155"/>
          <p:cNvSpPr/>
          <p:nvPr/>
        </p:nvSpPr>
        <p:spPr>
          <a:xfrm>
            <a:off x="571500" y="3400425"/>
            <a:ext cx="3048000" cy="1143000"/>
          </a:xfrm>
          <a:prstGeom prst="roundRect">
            <a:avLst>
              <a:gd name="adj" fmla="val 6667"/>
            </a:avLst>
          </a:prstGeom>
          <a:solidFill>
            <a:srgbClr val="EDF2EA"/>
          </a:solidFill>
        </p:spPr>
        <p:txBody>
          <a:bodyPr/>
          <a:p/>
        </p:txBody>
      </p:sp>
      <p:sp>
        <p:nvSpPr>
          <p:cNvPr id="157" name="文本框 156" descr="{&quot;isTemplate&quot;:true,&quot;type&quot;:&quot;text&quot;}"/>
          <p:cNvSpPr txBox="1"/>
          <p:nvPr/>
        </p:nvSpPr>
        <p:spPr>
          <a:xfrm>
            <a:off x="742950" y="3571875"/>
            <a:ext cx="27051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F2B26"/>
                </a:solidFill>
                <a:latin typeface="微软雅黑" panose="020B0503020204020204" charset="-122"/>
                <a:ea typeface="微软雅黑" panose="020B0503020204020204" charset="-122"/>
              </a:rPr>
              <a:t>人物与关系　</a:t>
            </a:r>
            <a:r>
              <a:rPr lang="en-US" sz="1200" b="1">
                <a:solidFill>
                  <a:srgbClr val="1F2B26"/>
                </a:solidFill>
                <a:latin typeface="微软雅黑" panose="020B0503020204020204" charset="-122"/>
                <a:ea typeface="微软雅黑" panose="020B0503020204020204" charset="-122"/>
              </a:rPr>
              <a:t>3 </a:t>
            </a:r>
            <a:r>
              <a:rPr lang="zh-CN" sz="1200" b="1">
                <a:solidFill>
                  <a:srgbClr val="1F2B26"/>
                </a:solidFill>
                <a:latin typeface="微软雅黑" panose="020B0503020204020204" charset="-122"/>
                <a:ea typeface="微软雅黑" panose="020B0503020204020204" charset="-122"/>
              </a:rPr>
              <a:t>张</a:t>
            </a:r>
            <a:endParaRPr lang="zh-CN" sz="1200" b="1">
              <a:solidFill>
                <a:srgbClr val="1F2B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8" name="文本框 157" descr="{&quot;isTemplate&quot;:true,&quot;type&quot;:&quot;text&quot;}"/>
          <p:cNvSpPr txBox="1"/>
          <p:nvPr/>
        </p:nvSpPr>
        <p:spPr>
          <a:xfrm>
            <a:off x="742950" y="3838575"/>
            <a:ext cx="2705100" cy="552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05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persons</a:t>
            </a:r>
            <a:r>
              <a:rPr lang="zh-CN" sz="105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05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relations</a:t>
            </a:r>
            <a:r>
              <a:rPr lang="zh-CN" sz="105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endParaRPr lang="zh-CN" sz="1050">
              <a:solidFill>
                <a:srgbClr val="5C6B6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70000"/>
              </a:lnSpc>
            </a:pPr>
            <a:r>
              <a:rPr lang="en-US" sz="105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person_relations</a:t>
            </a:r>
            <a:endParaRPr lang="en-US" sz="1050">
              <a:solidFill>
                <a:srgbClr val="5C6B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9" name="圆角矩形 158"/>
          <p:cNvSpPr/>
          <p:nvPr/>
        </p:nvSpPr>
        <p:spPr>
          <a:xfrm>
            <a:off x="3924300" y="1666875"/>
            <a:ext cx="1790700" cy="1333500"/>
          </a:xfrm>
          <a:prstGeom prst="roundRect">
            <a:avLst>
              <a:gd name="adj" fmla="val 5714"/>
            </a:avLst>
          </a:prstGeom>
          <a:solidFill>
            <a:srgbClr val="EDF2EA"/>
          </a:solidFill>
        </p:spPr>
        <p:txBody>
          <a:bodyPr/>
          <a:p/>
        </p:txBody>
      </p:sp>
      <p:sp>
        <p:nvSpPr>
          <p:cNvPr id="160" name="文本框 159" descr="{&quot;isTemplate&quot;:true,&quot;type&quot;:&quot;text&quot;}"/>
          <p:cNvSpPr txBox="1"/>
          <p:nvPr/>
        </p:nvSpPr>
        <p:spPr>
          <a:xfrm>
            <a:off x="4095750" y="1838325"/>
            <a:ext cx="14478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F2B26"/>
                </a:solidFill>
                <a:latin typeface="微软雅黑" panose="020B0503020204020204" charset="-122"/>
                <a:ea typeface="微软雅黑" panose="020B0503020204020204" charset="-122"/>
              </a:rPr>
              <a:t>媒体　</a:t>
            </a:r>
            <a:r>
              <a:rPr lang="en-US" sz="1200" b="1">
                <a:solidFill>
                  <a:srgbClr val="1F2B26"/>
                </a:solidFill>
                <a:latin typeface="微软雅黑" panose="020B0503020204020204" charset="-122"/>
                <a:ea typeface="微软雅黑" panose="020B0503020204020204" charset="-122"/>
              </a:rPr>
              <a:t>2 </a:t>
            </a:r>
            <a:r>
              <a:rPr lang="zh-CN" sz="1200" b="1">
                <a:solidFill>
                  <a:srgbClr val="1F2B26"/>
                </a:solidFill>
                <a:latin typeface="微软雅黑" panose="020B0503020204020204" charset="-122"/>
                <a:ea typeface="微软雅黑" panose="020B0503020204020204" charset="-122"/>
              </a:rPr>
              <a:t>张</a:t>
            </a:r>
            <a:endParaRPr lang="zh-CN" sz="1200" b="1">
              <a:solidFill>
                <a:srgbClr val="1F2B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1" name="文本框 160" descr="{&quot;isTemplate&quot;:true,&quot;type&quot;:&quot;text&quot;}"/>
          <p:cNvSpPr txBox="1"/>
          <p:nvPr/>
        </p:nvSpPr>
        <p:spPr>
          <a:xfrm>
            <a:off x="4095750" y="2105025"/>
            <a:ext cx="1447800" cy="552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05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media_assets</a:t>
            </a:r>
            <a:r>
              <a:rPr lang="zh-CN" sz="105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endParaRPr lang="zh-CN" sz="1050">
              <a:solidFill>
                <a:srgbClr val="5C6B6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70000"/>
              </a:lnSpc>
            </a:pPr>
            <a:r>
              <a:rPr lang="en-US" sz="105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event_assets</a:t>
            </a:r>
            <a:endParaRPr lang="en-US" sz="1050">
              <a:solidFill>
                <a:srgbClr val="5C6B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2" name="圆角矩形 161"/>
          <p:cNvSpPr/>
          <p:nvPr/>
        </p:nvSpPr>
        <p:spPr>
          <a:xfrm>
            <a:off x="3924300" y="3400425"/>
            <a:ext cx="1790700" cy="819150"/>
          </a:xfrm>
          <a:prstGeom prst="roundRect">
            <a:avLst>
              <a:gd name="adj" fmla="val 9302"/>
            </a:avLst>
          </a:prstGeom>
          <a:solidFill>
            <a:srgbClr val="EDF2EA"/>
          </a:solidFill>
        </p:spPr>
        <p:txBody>
          <a:bodyPr/>
          <a:p/>
        </p:txBody>
      </p:sp>
      <p:sp>
        <p:nvSpPr>
          <p:cNvPr id="163" name="文本框 162" descr="{&quot;isTemplate&quot;:true,&quot;type&quot;:&quot;text&quot;}"/>
          <p:cNvSpPr txBox="1"/>
          <p:nvPr/>
        </p:nvSpPr>
        <p:spPr>
          <a:xfrm>
            <a:off x="4095750" y="3571875"/>
            <a:ext cx="14478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F2B26"/>
                </a:solidFill>
                <a:latin typeface="微软雅黑" panose="020B0503020204020204" charset="-122"/>
                <a:ea typeface="微软雅黑" panose="020B0503020204020204" charset="-122"/>
              </a:rPr>
              <a:t>配置　</a:t>
            </a:r>
            <a:r>
              <a:rPr lang="en-US" sz="1200" b="1">
                <a:solidFill>
                  <a:srgbClr val="1F2B26"/>
                </a:solidFill>
                <a:latin typeface="微软雅黑" panose="020B0503020204020204" charset="-122"/>
                <a:ea typeface="微软雅黑" panose="020B0503020204020204" charset="-122"/>
              </a:rPr>
              <a:t>1 </a:t>
            </a:r>
            <a:r>
              <a:rPr lang="zh-CN" sz="1200" b="1">
                <a:solidFill>
                  <a:srgbClr val="1F2B26"/>
                </a:solidFill>
                <a:latin typeface="微软雅黑" panose="020B0503020204020204" charset="-122"/>
                <a:ea typeface="微软雅黑" panose="020B0503020204020204" charset="-122"/>
              </a:rPr>
              <a:t>张</a:t>
            </a:r>
            <a:endParaRPr lang="zh-CN" sz="1200" b="1">
              <a:solidFill>
                <a:srgbClr val="1F2B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4" name="文本框 163" descr="{&quot;isTemplate&quot;:true,&quot;type&quot;:&quot;text&quot;}"/>
          <p:cNvSpPr txBox="1"/>
          <p:nvPr/>
        </p:nvSpPr>
        <p:spPr>
          <a:xfrm>
            <a:off x="4095750" y="3838575"/>
            <a:ext cx="14478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app_config</a:t>
            </a:r>
            <a:endParaRPr lang="en-US" sz="1050">
              <a:solidFill>
                <a:srgbClr val="5C6B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5" name="矩形 164"/>
          <p:cNvSpPr/>
          <p:nvPr/>
        </p:nvSpPr>
        <p:spPr>
          <a:xfrm>
            <a:off x="3619500" y="2333625"/>
            <a:ext cx="304800" cy="9525"/>
          </a:xfrm>
          <a:prstGeom prst="rect">
            <a:avLst/>
          </a:prstGeom>
          <a:solidFill>
            <a:srgbClr val="C9D4CB"/>
          </a:solidFill>
        </p:spPr>
        <p:txBody>
          <a:bodyPr/>
          <a:p/>
        </p:txBody>
      </p:sp>
      <p:sp>
        <p:nvSpPr>
          <p:cNvPr id="166" name="矩形 165"/>
          <p:cNvSpPr/>
          <p:nvPr/>
        </p:nvSpPr>
        <p:spPr>
          <a:xfrm>
            <a:off x="3619500" y="3971925"/>
            <a:ext cx="304800" cy="9525"/>
          </a:xfrm>
          <a:prstGeom prst="rect">
            <a:avLst/>
          </a:prstGeom>
          <a:solidFill>
            <a:srgbClr val="C9D4CB"/>
          </a:solidFill>
        </p:spPr>
        <p:txBody>
          <a:bodyPr/>
          <a:p/>
        </p:txBody>
      </p:sp>
      <p:sp>
        <p:nvSpPr>
          <p:cNvPr id="167" name="矩形 166"/>
          <p:cNvSpPr/>
          <p:nvPr/>
        </p:nvSpPr>
        <p:spPr>
          <a:xfrm>
            <a:off x="2095500" y="3000375"/>
            <a:ext cx="9525" cy="400050"/>
          </a:xfrm>
          <a:prstGeom prst="rect">
            <a:avLst/>
          </a:prstGeom>
          <a:solidFill>
            <a:srgbClr val="C9D4CB"/>
          </a:solidFill>
        </p:spPr>
        <p:txBody>
          <a:bodyPr/>
          <a:p/>
        </p:txBody>
      </p:sp>
      <p:sp>
        <p:nvSpPr>
          <p:cNvPr id="168" name="矩形 167"/>
          <p:cNvSpPr/>
          <p:nvPr/>
        </p:nvSpPr>
        <p:spPr>
          <a:xfrm>
            <a:off x="4819650" y="3000375"/>
            <a:ext cx="9525" cy="400050"/>
          </a:xfrm>
          <a:prstGeom prst="rect">
            <a:avLst/>
          </a:prstGeom>
          <a:solidFill>
            <a:srgbClr val="C9D4CB"/>
          </a:solidFill>
        </p:spPr>
        <p:txBody>
          <a:bodyPr/>
          <a:p/>
        </p:txBody>
      </p:sp>
      <p:sp>
        <p:nvSpPr>
          <p:cNvPr id="169" name="文本框 168" descr="{&quot;isTemplate&quot;:true,&quot;type&quot;:&quot;text&quot;}"/>
          <p:cNvSpPr txBox="1"/>
          <p:nvPr/>
        </p:nvSpPr>
        <p:spPr>
          <a:xfrm>
            <a:off x="571500" y="4810125"/>
            <a:ext cx="514350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50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主键为随机</a:t>
            </a:r>
            <a:r>
              <a:rPr lang="en-US" sz="1050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 UUID</a:t>
            </a:r>
            <a:r>
              <a:rPr lang="zh-CN" sz="1050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，时间为毫秒时间戳；同一人物对可有多种关系，同一事件命中多个分支仍只存一条事件。</a:t>
            </a:r>
            <a:endParaRPr lang="zh-CN" sz="1050">
              <a:solidFill>
                <a:srgbClr val="7C8A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0" name="文本框 169" descr="{&quot;isTemplate&quot;:true,&quot;type&quot;:&quot;text&quot;}"/>
          <p:cNvSpPr txBox="1"/>
          <p:nvPr/>
        </p:nvSpPr>
        <p:spPr>
          <a:xfrm>
            <a:off x="571500" y="6400800"/>
            <a:ext cx="13049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AA69D"/>
                </a:solidFill>
                <a:latin typeface="微软雅黑" panose="020B0503020204020204" charset="-122"/>
                <a:ea typeface="微软雅黑" panose="020B0503020204020204" charset="-122"/>
              </a:rPr>
              <a:t>Life Graph · </a:t>
            </a:r>
            <a:r>
              <a:rPr lang="zh-CN" sz="1050">
                <a:solidFill>
                  <a:srgbClr val="9AA69D"/>
                </a:solidFill>
                <a:latin typeface="微软雅黑" panose="020B0503020204020204" charset="-122"/>
                <a:ea typeface="微软雅黑" panose="020B0503020204020204" charset="-122"/>
              </a:rPr>
              <a:t>生活脉络</a:t>
            </a:r>
            <a:endParaRPr lang="zh-CN" sz="1050">
              <a:solidFill>
                <a:srgbClr val="9AA69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1" name="文本框 170" descr="{&quot;isTemplate&quot;:true,&quot;type&quot;:&quot;text&quot;}"/>
          <p:cNvSpPr txBox="1"/>
          <p:nvPr/>
        </p:nvSpPr>
        <p:spPr>
          <a:xfrm>
            <a:off x="11458575" y="6400800"/>
            <a:ext cx="1619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AA69D"/>
                </a:solidFill>
                <a:latin typeface="微软雅黑" panose="020B0503020204020204" charset="-122"/>
                <a:ea typeface="微软雅黑" panose="020B0503020204020204" charset="-122"/>
              </a:rPr>
              <a:t>15</a:t>
            </a:r>
            <a:endParaRPr lang="en-US" sz="1050">
              <a:solidFill>
                <a:srgbClr val="9AA69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矩形 17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8F2"/>
          </a:solidFill>
        </p:spPr>
        <p:txBody>
          <a:bodyPr/>
          <a:p/>
        </p:txBody>
      </p:sp>
      <p:sp>
        <p:nvSpPr>
          <p:cNvPr id="174" name="文本框 173" descr="{&quot;isTemplate&quot;:true,&quot;type&quot;:&quot;text&quot;}"/>
          <p:cNvSpPr txBox="1"/>
          <p:nvPr/>
        </p:nvSpPr>
        <p:spPr>
          <a:xfrm>
            <a:off x="533400" y="1866900"/>
            <a:ext cx="2400300" cy="2400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0" b="1" spc="-300">
                <a:solidFill>
                  <a:srgbClr val="DFE8DB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lang="en-US" sz="15750" b="1" spc="-300">
              <a:solidFill>
                <a:srgbClr val="DFE8D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5" name="文本框 174" descr="{&quot;isTemplate&quot;:true,&quot;type&quot;:&quot;text&quot;}"/>
          <p:cNvSpPr txBox="1"/>
          <p:nvPr/>
        </p:nvSpPr>
        <p:spPr>
          <a:xfrm>
            <a:off x="4762500" y="2495550"/>
            <a:ext cx="6286500" cy="600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900" b="1" spc="225">
                <a:solidFill>
                  <a:srgbClr val="1F2B26"/>
                </a:solidFill>
                <a:latin typeface="微软雅黑" panose="020B0503020204020204" charset="-122"/>
                <a:ea typeface="微软雅黑" panose="020B0503020204020204" charset="-122"/>
              </a:rPr>
              <a:t>工程质量</a:t>
            </a:r>
            <a:endParaRPr lang="zh-CN" sz="3900" b="1" spc="225">
              <a:solidFill>
                <a:srgbClr val="1F2B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6" name="文本框 175" descr="{&quot;isTemplate&quot;:true,&quot;type&quot;:&quot;text&quot;}"/>
          <p:cNvSpPr txBox="1"/>
          <p:nvPr/>
        </p:nvSpPr>
        <p:spPr>
          <a:xfrm>
            <a:off x="4762500" y="3305175"/>
            <a:ext cx="5334000" cy="7429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en-US" sz="1350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70 </a:t>
            </a:r>
            <a:r>
              <a:rPr lang="zh-CN" sz="1350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个源文件、</a:t>
            </a:r>
            <a:r>
              <a:rPr lang="en-US" sz="1350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1,512 </a:t>
            </a:r>
            <a:r>
              <a:rPr lang="zh-CN" sz="1350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行测试、</a:t>
            </a:r>
            <a:r>
              <a:rPr lang="en-US" sz="1350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18 </a:t>
            </a:r>
            <a:r>
              <a:rPr lang="zh-CN" sz="1350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篇文档，以及三个被自己否掉的方案。</a:t>
            </a:r>
            <a:endParaRPr lang="zh-CN" sz="1350">
              <a:solidFill>
                <a:srgbClr val="7C8A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7" name="矩形 176"/>
          <p:cNvSpPr/>
          <p:nvPr/>
        </p:nvSpPr>
        <p:spPr>
          <a:xfrm>
            <a:off x="571500" y="4476750"/>
            <a:ext cx="11049000" cy="9525"/>
          </a:xfrm>
          <a:prstGeom prst="rect">
            <a:avLst/>
          </a:prstGeom>
          <a:solidFill>
            <a:srgbClr val="DCE3DA"/>
          </a:solidFill>
        </p:spPr>
        <p:txBody>
          <a:bodyPr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矩形 17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8F2"/>
          </a:solidFill>
        </p:spPr>
        <p:txBody>
          <a:bodyPr/>
          <a:p/>
        </p:txBody>
      </p:sp>
      <p:sp>
        <p:nvSpPr>
          <p:cNvPr id="180" name="圆角矩形 179"/>
          <p:cNvSpPr/>
          <p:nvPr/>
        </p:nvSpPr>
        <p:spPr>
          <a:xfrm>
            <a:off x="571500" y="6286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C05F38"/>
          </a:solidFill>
        </p:spPr>
        <p:txBody>
          <a:bodyPr/>
          <a:p/>
        </p:txBody>
      </p:sp>
      <p:sp>
        <p:nvSpPr>
          <p:cNvPr id="181" name="文本框 180" descr="{&quot;isTemplate&quot;:true,&quot;type&quot;:&quot;text&quot;}"/>
          <p:cNvSpPr txBox="1"/>
          <p:nvPr/>
        </p:nvSpPr>
        <p:spPr>
          <a:xfrm>
            <a:off x="723900" y="571500"/>
            <a:ext cx="10477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13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05 — </a:t>
            </a:r>
            <a:r>
              <a:rPr lang="zh-CN" sz="1050" spc="113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工程质量</a:t>
            </a:r>
            <a:endParaRPr lang="zh-CN" sz="1050" spc="113">
              <a:solidFill>
                <a:srgbClr val="7C8A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2" name="文本框 181" descr="{&quot;isTemplate&quot;:true,&quot;type&quot;:&quot;text&quot;}"/>
          <p:cNvSpPr txBox="1"/>
          <p:nvPr/>
        </p:nvSpPr>
        <p:spPr>
          <a:xfrm>
            <a:off x="571500" y="809625"/>
            <a:ext cx="11049000" cy="4667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F2B26"/>
                </a:solidFill>
                <a:latin typeface="微软雅黑" panose="020B0503020204020204" charset="-122"/>
                <a:ea typeface="微软雅黑" panose="020B0503020204020204" charset="-122"/>
              </a:rPr>
              <a:t>测试</a:t>
            </a:r>
            <a:r>
              <a:rPr lang="zh-CN" sz="2550" b="1">
                <a:solidFill>
                  <a:srgbClr val="1F2B26"/>
                </a:solidFill>
                <a:latin typeface="微软雅黑" panose="020B0503020204020204" charset="-122"/>
                <a:ea typeface="微软雅黑" panose="020B0503020204020204" charset="-122"/>
              </a:rPr>
              <a:t>完备</a:t>
            </a:r>
            <a:endParaRPr lang="zh-CN" sz="2550" b="1">
              <a:solidFill>
                <a:srgbClr val="1F2B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3" name="矩形 182"/>
          <p:cNvSpPr/>
          <p:nvPr/>
        </p:nvSpPr>
        <p:spPr>
          <a:xfrm>
            <a:off x="571500" y="1428750"/>
            <a:ext cx="11049000" cy="9525"/>
          </a:xfrm>
          <a:prstGeom prst="rect">
            <a:avLst/>
          </a:prstGeom>
          <a:solidFill>
            <a:srgbClr val="D9DFD7"/>
          </a:solidFill>
        </p:spPr>
        <p:txBody>
          <a:bodyPr/>
          <a:p/>
        </p:txBody>
      </p:sp>
      <p:sp>
        <p:nvSpPr>
          <p:cNvPr id="184" name="文本框 183" descr="{&quot;isTemplate&quot;:true,&quot;type&quot;:&quot;text&quot;}"/>
          <p:cNvSpPr txBox="1"/>
          <p:nvPr/>
        </p:nvSpPr>
        <p:spPr>
          <a:xfrm>
            <a:off x="571500" y="1666875"/>
            <a:ext cx="59055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代码规模</a:t>
            </a:r>
            <a:endParaRPr lang="zh-CN" sz="1050">
              <a:solidFill>
                <a:srgbClr val="7C8A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5" name="文本框 184" descr="{&quot;isTemplate&quot;:true,&quot;type&quot;:&quot;text&quot;}"/>
          <p:cNvSpPr txBox="1"/>
          <p:nvPr/>
        </p:nvSpPr>
        <p:spPr>
          <a:xfrm>
            <a:off x="571500" y="1924050"/>
            <a:ext cx="1133475" cy="1152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en-US" sz="7200" b="1">
                <a:solidFill>
                  <a:srgbClr val="2C4A3F"/>
                </a:solidFill>
                <a:latin typeface="微软雅黑" panose="020B0503020204020204" charset="-122"/>
                <a:ea typeface="微软雅黑" panose="020B0503020204020204" charset="-122"/>
              </a:rPr>
              <a:t>70</a:t>
            </a:r>
            <a:endParaRPr lang="en-US" sz="7200" b="1">
              <a:solidFill>
                <a:srgbClr val="2C4A3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6" name="文本框 185" descr="{&quot;isTemplate&quot;:true,&quot;type&quot;:&quot;text&quot;}"/>
          <p:cNvSpPr txBox="1"/>
          <p:nvPr/>
        </p:nvSpPr>
        <p:spPr>
          <a:xfrm>
            <a:off x="1838325" y="2733675"/>
            <a:ext cx="345757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个</a:t>
            </a:r>
            <a:r>
              <a:rPr lang="en-US" sz="150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 ArkTS </a:t>
            </a:r>
            <a:r>
              <a:rPr lang="zh-CN" sz="150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源文件，分布在</a:t>
            </a:r>
            <a:r>
              <a:rPr lang="en-US" sz="150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 10 </a:t>
            </a:r>
            <a:r>
              <a:rPr lang="zh-CN" sz="150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个模块目录</a:t>
            </a:r>
            <a:endParaRPr lang="zh-CN" sz="1500">
              <a:solidFill>
                <a:srgbClr val="5C6B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7" name="文本框 186" descr="{&quot;isTemplate&quot;:true,&quot;type&quot;:&quot;text&quot;}"/>
          <p:cNvSpPr txBox="1"/>
          <p:nvPr/>
        </p:nvSpPr>
        <p:spPr>
          <a:xfrm>
            <a:off x="571500" y="3209925"/>
            <a:ext cx="2495550" cy="1152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en-US" sz="7200" b="1">
                <a:solidFill>
                  <a:srgbClr val="2C4A3F"/>
                </a:solidFill>
                <a:latin typeface="微软雅黑" panose="020B0503020204020204" charset="-122"/>
                <a:ea typeface="微软雅黑" panose="020B0503020204020204" charset="-122"/>
              </a:rPr>
              <a:t>6,634</a:t>
            </a:r>
            <a:endParaRPr lang="en-US" sz="7200" b="1">
              <a:solidFill>
                <a:srgbClr val="2C4A3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8" name="文本框 187" descr="{&quot;isTemplate&quot;:true,&quot;type&quot;:&quot;text&quot;}"/>
          <p:cNvSpPr txBox="1"/>
          <p:nvPr/>
        </p:nvSpPr>
        <p:spPr>
          <a:xfrm>
            <a:off x="3200400" y="4019550"/>
            <a:ext cx="32766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行</a:t>
            </a:r>
            <a:r>
              <a:rPr lang="en-US" sz="150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 ArkTS </a:t>
            </a:r>
            <a:r>
              <a:rPr lang="zh-CN" sz="150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代码，页面</a:t>
            </a:r>
            <a:r>
              <a:rPr lang="en-US" sz="150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50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业务</a:t>
            </a:r>
            <a:r>
              <a:rPr lang="en-US" sz="150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50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数据分层</a:t>
            </a:r>
            <a:endParaRPr lang="zh-CN" sz="1500">
              <a:solidFill>
                <a:srgbClr val="5C6B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9" name="矩形 188"/>
          <p:cNvSpPr/>
          <p:nvPr/>
        </p:nvSpPr>
        <p:spPr>
          <a:xfrm>
            <a:off x="571500" y="4591050"/>
            <a:ext cx="5905500" cy="9525"/>
          </a:xfrm>
          <a:prstGeom prst="rect">
            <a:avLst/>
          </a:prstGeom>
          <a:solidFill>
            <a:srgbClr val="E2E6DF"/>
          </a:solidFill>
        </p:spPr>
        <p:txBody>
          <a:bodyPr/>
          <a:p/>
        </p:txBody>
      </p:sp>
      <p:sp>
        <p:nvSpPr>
          <p:cNvPr id="190" name="文本框 189" descr="{&quot;isTemplate&quot;:true,&quot;type&quot;:&quot;text&quot;}"/>
          <p:cNvSpPr txBox="1"/>
          <p:nvPr/>
        </p:nvSpPr>
        <p:spPr>
          <a:xfrm>
            <a:off x="571500" y="4791075"/>
            <a:ext cx="2667000" cy="3238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1F2B26"/>
                </a:solidFill>
                <a:latin typeface="微软雅黑" panose="020B0503020204020204" charset="-122"/>
                <a:ea typeface="微软雅黑" panose="020B0503020204020204" charset="-122"/>
              </a:rPr>
              <a:t>1,512 </a:t>
            </a:r>
            <a:r>
              <a:rPr lang="zh-CN" sz="2100" b="1">
                <a:solidFill>
                  <a:srgbClr val="1F2B26"/>
                </a:solidFill>
                <a:latin typeface="微软雅黑" panose="020B0503020204020204" charset="-122"/>
                <a:ea typeface="微软雅黑" panose="020B0503020204020204" charset="-122"/>
              </a:rPr>
              <a:t>行</a:t>
            </a:r>
            <a:endParaRPr lang="zh-CN" sz="2100" b="1">
              <a:solidFill>
                <a:srgbClr val="1F2B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1" name="文本框 190" descr="{&quot;isTemplate&quot;:true,&quot;type&quot;:&quot;text&quot;}"/>
          <p:cNvSpPr txBox="1"/>
          <p:nvPr/>
        </p:nvSpPr>
        <p:spPr>
          <a:xfrm>
            <a:off x="571500" y="5172075"/>
            <a:ext cx="2667000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自动化测试脚本，</a:t>
            </a:r>
            <a:r>
              <a:rPr lang="en-US" sz="135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6 </a:t>
            </a:r>
            <a:r>
              <a:rPr lang="zh-CN" sz="135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套用例</a:t>
            </a:r>
            <a:endParaRPr lang="zh-CN" sz="1350">
              <a:solidFill>
                <a:srgbClr val="5C6B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2" name="文本框 191" descr="{&quot;isTemplate&quot;:true,&quot;type&quot;:&quot;text&quot;}"/>
          <p:cNvSpPr txBox="1"/>
          <p:nvPr/>
        </p:nvSpPr>
        <p:spPr>
          <a:xfrm>
            <a:off x="3619500" y="4791075"/>
            <a:ext cx="2667000" cy="3238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C05F38"/>
                </a:solidFill>
                <a:latin typeface="微软雅黑" panose="020B0503020204020204" charset="-122"/>
                <a:ea typeface="微软雅黑" panose="020B0503020204020204" charset="-122"/>
              </a:rPr>
              <a:t>128 </a:t>
            </a:r>
            <a:r>
              <a:rPr lang="zh-CN" sz="2100" b="1">
                <a:solidFill>
                  <a:srgbClr val="C05F38"/>
                </a:solidFill>
                <a:latin typeface="微软雅黑" panose="020B0503020204020204" charset="-122"/>
                <a:ea typeface="微软雅黑" panose="020B0503020204020204" charset="-122"/>
              </a:rPr>
              <a:t>个</a:t>
            </a:r>
            <a:endParaRPr lang="zh-CN" sz="2100" b="1">
              <a:solidFill>
                <a:srgbClr val="C05F3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3" name="文本框 192" descr="{&quot;isTemplate&quot;:true,&quot;type&quot;:&quot;text&quot;}"/>
          <p:cNvSpPr txBox="1"/>
          <p:nvPr/>
        </p:nvSpPr>
        <p:spPr>
          <a:xfrm>
            <a:off x="3619500" y="5172075"/>
            <a:ext cx="2667000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上架测试用例，</a:t>
            </a:r>
            <a:r>
              <a:rPr lang="en-US" sz="135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6 </a:t>
            </a:r>
            <a:r>
              <a:rPr lang="zh-CN" sz="135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台设备全通过</a:t>
            </a:r>
            <a:endParaRPr lang="zh-CN" sz="1350">
              <a:solidFill>
                <a:srgbClr val="5C6B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4" name="矩形 193"/>
          <p:cNvSpPr/>
          <p:nvPr/>
        </p:nvSpPr>
        <p:spPr>
          <a:xfrm>
            <a:off x="7010400" y="1666875"/>
            <a:ext cx="4610100" cy="2219325"/>
          </a:xfrm>
          <a:prstGeom prst="rect">
            <a:avLst/>
          </a:prstGeom>
          <a:ln w="12700">
            <a:solidFill>
              <a:srgbClr val="E2E6DF"/>
            </a:solidFill>
            <a:prstDash val="solid"/>
          </a:ln>
        </p:spPr>
        <p:txBody>
          <a:bodyPr/>
          <a:p/>
        </p:txBody>
      </p:sp>
      <p:pic>
        <p:nvPicPr>
          <p:cNvPr id="195" name="图片 194"/>
          <p:cNvPicPr>
            <a:picLocks noChangeAspect="1"/>
          </p:cNvPicPr>
          <p:nvPr/>
        </p:nvPicPr>
        <p:blipFill>
          <a:blip r:embed="rId1"/>
          <a:srcRect t="48" b="48"/>
          <a:stretch>
            <a:fillRect/>
          </a:stretch>
        </p:blipFill>
        <p:spPr>
          <a:xfrm>
            <a:off x="7010400" y="1666875"/>
            <a:ext cx="4610100" cy="2219325"/>
          </a:xfrm>
          <a:prstGeom prst="roundRect">
            <a:avLst>
              <a:gd name="adj" fmla="val 1717"/>
            </a:avLst>
          </a:prstGeom>
        </p:spPr>
      </p:pic>
      <p:sp>
        <p:nvSpPr>
          <p:cNvPr id="196" name="文本框 195" descr="{&quot;isTemplate&quot;:true,&quot;type&quot;:&quot;text&quot;}"/>
          <p:cNvSpPr txBox="1"/>
          <p:nvPr/>
        </p:nvSpPr>
        <p:spPr>
          <a:xfrm>
            <a:off x="7010400" y="4019550"/>
            <a:ext cx="461010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50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华为平台上架测试报告：兼容性、稳定性、功耗、</a:t>
            </a:r>
            <a:r>
              <a:rPr lang="en-US" sz="1050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UX</a:t>
            </a:r>
            <a:r>
              <a:rPr lang="zh-CN" sz="1050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、性能五项全部通过，核心用例通过率</a:t>
            </a:r>
            <a:r>
              <a:rPr lang="en-US" sz="1050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 100%</a:t>
            </a:r>
            <a:r>
              <a:rPr lang="zh-CN" sz="1050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050">
              <a:solidFill>
                <a:srgbClr val="7C8A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7" name="文本框 196" descr="{&quot;isTemplate&quot;:true,&quot;type&quot;:&quot;text&quot;}"/>
          <p:cNvSpPr txBox="1"/>
          <p:nvPr/>
        </p:nvSpPr>
        <p:spPr>
          <a:xfrm>
            <a:off x="571500" y="5772150"/>
            <a:ext cx="11049000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3B4A41"/>
                </a:solidFill>
                <a:latin typeface="微软雅黑" panose="020B0503020204020204" charset="-122"/>
                <a:ea typeface="微软雅黑" panose="020B0503020204020204" charset="-122"/>
              </a:rPr>
              <a:t>代码量不大，但事务、媒体引用、桌面卡片、备份恢复这些容易半途而废的地方，都有对应的实现和用例。</a:t>
            </a:r>
            <a:endParaRPr lang="zh-CN" sz="1350">
              <a:solidFill>
                <a:srgbClr val="3B4A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8" name="文本框 197" descr="{&quot;isTemplate&quot;:true,&quot;type&quot;:&quot;text&quot;}"/>
          <p:cNvSpPr txBox="1"/>
          <p:nvPr/>
        </p:nvSpPr>
        <p:spPr>
          <a:xfrm>
            <a:off x="571500" y="6400800"/>
            <a:ext cx="13049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AA69D"/>
                </a:solidFill>
                <a:latin typeface="微软雅黑" panose="020B0503020204020204" charset="-122"/>
                <a:ea typeface="微软雅黑" panose="020B0503020204020204" charset="-122"/>
              </a:rPr>
              <a:t>Life Graph · </a:t>
            </a:r>
            <a:r>
              <a:rPr lang="zh-CN" sz="1050">
                <a:solidFill>
                  <a:srgbClr val="9AA69D"/>
                </a:solidFill>
                <a:latin typeface="微软雅黑" panose="020B0503020204020204" charset="-122"/>
                <a:ea typeface="微软雅黑" panose="020B0503020204020204" charset="-122"/>
              </a:rPr>
              <a:t>生活脉络</a:t>
            </a:r>
            <a:endParaRPr lang="zh-CN" sz="1050">
              <a:solidFill>
                <a:srgbClr val="9AA69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9" name="文本框 198" descr="{&quot;isTemplate&quot;:true,&quot;type&quot;:&quot;text&quot;}"/>
          <p:cNvSpPr txBox="1"/>
          <p:nvPr/>
        </p:nvSpPr>
        <p:spPr>
          <a:xfrm>
            <a:off x="11458575" y="6400800"/>
            <a:ext cx="1619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AA69D"/>
                </a:solidFill>
                <a:latin typeface="微软雅黑" panose="020B0503020204020204" charset="-122"/>
                <a:ea typeface="微软雅黑" panose="020B0503020204020204" charset="-122"/>
              </a:rPr>
              <a:t>17</a:t>
            </a:r>
            <a:endParaRPr lang="en-US" sz="1050">
              <a:solidFill>
                <a:srgbClr val="9AA69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矩形 20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8F2"/>
          </a:solidFill>
        </p:spPr>
        <p:txBody>
          <a:bodyPr/>
          <a:p/>
        </p:txBody>
      </p:sp>
      <p:sp>
        <p:nvSpPr>
          <p:cNvPr id="202" name="圆角矩形 201"/>
          <p:cNvSpPr/>
          <p:nvPr/>
        </p:nvSpPr>
        <p:spPr>
          <a:xfrm>
            <a:off x="571500" y="6286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C05F38"/>
          </a:solidFill>
        </p:spPr>
        <p:txBody>
          <a:bodyPr/>
          <a:p/>
        </p:txBody>
      </p:sp>
      <p:sp>
        <p:nvSpPr>
          <p:cNvPr id="203" name="文本框 202" descr="{&quot;isTemplate&quot;:true,&quot;type&quot;:&quot;text&quot;}"/>
          <p:cNvSpPr txBox="1"/>
          <p:nvPr/>
        </p:nvSpPr>
        <p:spPr>
          <a:xfrm>
            <a:off x="723900" y="571500"/>
            <a:ext cx="10477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13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05 — </a:t>
            </a:r>
            <a:r>
              <a:rPr lang="zh-CN" sz="1050" spc="113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工程质量</a:t>
            </a:r>
            <a:endParaRPr lang="zh-CN" sz="1050" spc="113">
              <a:solidFill>
                <a:srgbClr val="7C8A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4" name="文本框 203" descr="{&quot;isTemplate&quot;:true,&quot;type&quot;:&quot;text&quot;}"/>
          <p:cNvSpPr txBox="1"/>
          <p:nvPr/>
        </p:nvSpPr>
        <p:spPr>
          <a:xfrm>
            <a:off x="571500" y="809625"/>
            <a:ext cx="11049000" cy="4667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altLang="en-US" sz="2550" b="1">
                <a:solidFill>
                  <a:srgbClr val="1F2B26"/>
                </a:solidFill>
                <a:latin typeface="微软雅黑" panose="020B0503020204020204" charset="-122"/>
                <a:ea typeface="微软雅黑" panose="020B0503020204020204" charset="-122"/>
              </a:rPr>
              <a:t>方案</a:t>
            </a:r>
            <a:r>
              <a:rPr lang="zh-CN" altLang="en-US" sz="2550" b="1">
                <a:solidFill>
                  <a:srgbClr val="1F2B26"/>
                </a:solidFill>
                <a:latin typeface="微软雅黑" panose="020B0503020204020204" charset="-122"/>
                <a:ea typeface="微软雅黑" panose="020B0503020204020204" charset="-122"/>
              </a:rPr>
              <a:t>研讨</a:t>
            </a:r>
            <a:endParaRPr lang="zh-CN" altLang="en-US" sz="2550" b="1">
              <a:solidFill>
                <a:srgbClr val="1F2B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5" name="矩形 204"/>
          <p:cNvSpPr/>
          <p:nvPr/>
        </p:nvSpPr>
        <p:spPr>
          <a:xfrm>
            <a:off x="571500" y="1428750"/>
            <a:ext cx="11049000" cy="9525"/>
          </a:xfrm>
          <a:prstGeom prst="rect">
            <a:avLst/>
          </a:prstGeom>
          <a:solidFill>
            <a:srgbClr val="D9DFD7"/>
          </a:solidFill>
        </p:spPr>
        <p:txBody>
          <a:bodyPr/>
          <a:p/>
        </p:txBody>
      </p:sp>
      <p:sp>
        <p:nvSpPr>
          <p:cNvPr id="206" name="文本框 205" descr="{&quot;isTemplate&quot;:true,&quot;type&quot;:&quot;text&quot;}"/>
          <p:cNvSpPr txBox="1"/>
          <p:nvPr/>
        </p:nvSpPr>
        <p:spPr>
          <a:xfrm>
            <a:off x="571500" y="3162300"/>
            <a:ext cx="110490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被撤回的三个方案</a:t>
            </a:r>
            <a:endParaRPr lang="zh-CN" sz="1050">
              <a:solidFill>
                <a:srgbClr val="7C8A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7" name="任意多边形 206"/>
          <p:cNvSpPr/>
          <p:nvPr/>
        </p:nvSpPr>
        <p:spPr>
          <a:xfrm>
            <a:off x="571500" y="3438525"/>
            <a:ext cx="11049000" cy="581025"/>
          </a:xfrm>
          <a:custGeom>
            <a:avLst/>
            <a:gdLst/>
            <a:ahLst/>
            <a:cxnLst/>
            <a:pathLst>
              <a:path w="1160" h="61">
                <a:moveTo>
                  <a:pt x="0" y="0"/>
                </a:moveTo>
                <a:lnTo>
                  <a:pt x="1160" y="0"/>
                </a:lnTo>
                <a:lnTo>
                  <a:pt x="116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6DF"/>
          </a:solidFill>
        </p:spPr>
        <p:txBody>
          <a:bodyPr/>
          <a:p/>
        </p:txBody>
      </p:sp>
      <p:sp>
        <p:nvSpPr>
          <p:cNvPr id="208" name="文本框 207" descr="{&quot;isTemplate&quot;:true,&quot;type&quot;:&quot;text&quot;}"/>
          <p:cNvSpPr txBox="1"/>
          <p:nvPr/>
        </p:nvSpPr>
        <p:spPr>
          <a:xfrm>
            <a:off x="571500" y="3571875"/>
            <a:ext cx="2857500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F2B26"/>
                </a:solidFill>
                <a:latin typeface="微软雅黑" panose="020B0503020204020204" charset="-122"/>
                <a:ea typeface="微软雅黑" panose="020B0503020204020204" charset="-122"/>
              </a:rPr>
              <a:t>返回时刷新</a:t>
            </a:r>
            <a:r>
              <a:rPr lang="en-US" sz="1350" b="1">
                <a:solidFill>
                  <a:srgbClr val="1F2B26"/>
                </a:solidFill>
                <a:latin typeface="微软雅黑" panose="020B0503020204020204" charset="-122"/>
                <a:ea typeface="微软雅黑" panose="020B0503020204020204" charset="-122"/>
              </a:rPr>
              <a:t> Web </a:t>
            </a:r>
            <a:r>
              <a:rPr lang="zh-CN" sz="1350" b="1">
                <a:solidFill>
                  <a:srgbClr val="1F2B26"/>
                </a:solidFill>
                <a:latin typeface="微软雅黑" panose="020B0503020204020204" charset="-122"/>
                <a:ea typeface="微软雅黑" panose="020B0503020204020204" charset="-122"/>
              </a:rPr>
              <a:t>整页</a:t>
            </a:r>
            <a:endParaRPr lang="zh-CN" sz="1350" b="1">
              <a:solidFill>
                <a:srgbClr val="1F2B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9" name="文本框 208" descr="{&quot;isTemplate&quot;:true,&quot;type&quot;:&quot;text&quot;}"/>
          <p:cNvSpPr txBox="1"/>
          <p:nvPr/>
        </p:nvSpPr>
        <p:spPr>
          <a:xfrm>
            <a:off x="3429000" y="3571875"/>
            <a:ext cx="8191500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首帧清空、布局重启、缩放丢失</a:t>
            </a:r>
            <a:r>
              <a:rPr lang="en-US" sz="135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35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改为保留页面，故障与主题重载单独处理</a:t>
            </a:r>
            <a:endParaRPr lang="zh-CN" sz="1350">
              <a:solidFill>
                <a:srgbClr val="5C6B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0" name="任意多边形 209"/>
          <p:cNvSpPr/>
          <p:nvPr/>
        </p:nvSpPr>
        <p:spPr>
          <a:xfrm>
            <a:off x="571500" y="4010025"/>
            <a:ext cx="11049000" cy="581025"/>
          </a:xfrm>
          <a:custGeom>
            <a:avLst/>
            <a:gdLst/>
            <a:ahLst/>
            <a:cxnLst/>
            <a:pathLst>
              <a:path w="1160" h="61">
                <a:moveTo>
                  <a:pt x="0" y="0"/>
                </a:moveTo>
                <a:lnTo>
                  <a:pt x="1160" y="0"/>
                </a:lnTo>
                <a:lnTo>
                  <a:pt x="116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6DF"/>
          </a:solidFill>
        </p:spPr>
        <p:txBody>
          <a:bodyPr/>
          <a:p/>
        </p:txBody>
      </p:sp>
      <p:sp>
        <p:nvSpPr>
          <p:cNvPr id="211" name="文本框 210" descr="{&quot;isTemplate&quot;:true,&quot;type&quot;:&quot;text&quot;}"/>
          <p:cNvSpPr txBox="1"/>
          <p:nvPr/>
        </p:nvSpPr>
        <p:spPr>
          <a:xfrm>
            <a:off x="571500" y="4143375"/>
            <a:ext cx="2857500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F2B26"/>
                </a:solidFill>
                <a:latin typeface="微软雅黑" panose="020B0503020204020204" charset="-122"/>
                <a:ea typeface="微软雅黑" panose="020B0503020204020204" charset="-122"/>
              </a:rPr>
              <a:t>禁用</a:t>
            </a:r>
            <a:r>
              <a:rPr lang="en-US" sz="1350" b="1">
                <a:solidFill>
                  <a:srgbClr val="1F2B26"/>
                </a:solidFill>
                <a:latin typeface="微软雅黑" panose="020B0503020204020204" charset="-122"/>
                <a:ea typeface="微软雅黑" panose="020B0503020204020204" charset="-122"/>
              </a:rPr>
              <a:t> Web </a:t>
            </a:r>
            <a:r>
              <a:rPr lang="zh-CN" sz="1350" b="1">
                <a:solidFill>
                  <a:srgbClr val="1F2B26"/>
                </a:solidFill>
                <a:latin typeface="微软雅黑" panose="020B0503020204020204" charset="-122"/>
                <a:ea typeface="微软雅黑" panose="020B0503020204020204" charset="-122"/>
              </a:rPr>
              <a:t>图片加载求离线</a:t>
            </a:r>
            <a:endParaRPr lang="zh-CN" sz="1350" b="1">
              <a:solidFill>
                <a:srgbClr val="1F2B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2" name="文本框 211" descr="{&quot;isTemplate&quot;:true,&quot;type&quot;:&quot;text&quot;}"/>
          <p:cNvSpPr txBox="1"/>
          <p:nvPr/>
        </p:nvSpPr>
        <p:spPr>
          <a:xfrm>
            <a:off x="3429000" y="4143375"/>
            <a:ext cx="8191500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本地</a:t>
            </a:r>
            <a:r>
              <a:rPr lang="en-US" sz="135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 data URI </a:t>
            </a:r>
            <a:r>
              <a:rPr lang="zh-CN" sz="135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也被拦截，图谱不显示头像</a:t>
            </a:r>
            <a:r>
              <a:rPr lang="en-US" sz="135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35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保留图片能力，改由权限与网络拦截控制</a:t>
            </a:r>
            <a:endParaRPr lang="zh-CN" sz="1350">
              <a:solidFill>
                <a:srgbClr val="5C6B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3" name="任意多边形 212"/>
          <p:cNvSpPr/>
          <p:nvPr/>
        </p:nvSpPr>
        <p:spPr>
          <a:xfrm>
            <a:off x="571500" y="4581525"/>
            <a:ext cx="11049000" cy="600075"/>
          </a:xfrm>
          <a:custGeom>
            <a:avLst/>
            <a:gdLst/>
            <a:ahLst/>
            <a:cxnLst/>
            <a:pathLst>
              <a:path w="1160" h="63">
                <a:moveTo>
                  <a:pt x="0" y="0"/>
                </a:moveTo>
                <a:lnTo>
                  <a:pt x="1160" y="0"/>
                </a:lnTo>
                <a:lnTo>
                  <a:pt x="116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6DF"/>
          </a:solidFill>
        </p:spPr>
        <p:txBody>
          <a:bodyPr/>
          <a:p/>
        </p:txBody>
      </p:sp>
      <p:sp>
        <p:nvSpPr>
          <p:cNvPr id="214" name="任意多边形 213"/>
          <p:cNvSpPr/>
          <p:nvPr/>
        </p:nvSpPr>
        <p:spPr>
          <a:xfrm>
            <a:off x="571500" y="4581525"/>
            <a:ext cx="11049000" cy="600075"/>
          </a:xfrm>
          <a:custGeom>
            <a:avLst/>
            <a:gdLst/>
            <a:ahLst/>
            <a:cxnLst/>
            <a:pathLst>
              <a:path w="1160" h="63">
                <a:moveTo>
                  <a:pt x="0" y="62"/>
                </a:moveTo>
                <a:lnTo>
                  <a:pt x="1160" y="62"/>
                </a:lnTo>
                <a:lnTo>
                  <a:pt x="1160" y="63"/>
                </a:lnTo>
                <a:lnTo>
                  <a:pt x="0" y="63"/>
                </a:lnTo>
                <a:close/>
              </a:path>
            </a:pathLst>
          </a:custGeom>
          <a:solidFill>
            <a:srgbClr val="E2E6DF"/>
          </a:solidFill>
        </p:spPr>
        <p:txBody>
          <a:bodyPr/>
          <a:p/>
        </p:txBody>
      </p:sp>
      <p:sp>
        <p:nvSpPr>
          <p:cNvPr id="215" name="文本框 214" descr="{&quot;isTemplate&quot;:true,&quot;type&quot;:&quot;text&quot;}"/>
          <p:cNvSpPr txBox="1"/>
          <p:nvPr/>
        </p:nvSpPr>
        <p:spPr>
          <a:xfrm>
            <a:off x="571500" y="4714875"/>
            <a:ext cx="2857500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F2B26"/>
                </a:solidFill>
                <a:latin typeface="微软雅黑" panose="020B0503020204020204" charset="-122"/>
                <a:ea typeface="微软雅黑" panose="020B0503020204020204" charset="-122"/>
              </a:rPr>
              <a:t>同步渲染叠加</a:t>
            </a:r>
            <a:r>
              <a:rPr lang="en-US" sz="1350" b="1">
                <a:solidFill>
                  <a:srgbClr val="1F2B26"/>
                </a:solidFill>
                <a:latin typeface="微软雅黑" panose="020B0503020204020204" charset="-122"/>
                <a:ea typeface="微软雅黑" panose="020B0503020204020204" charset="-122"/>
              </a:rPr>
              <a:t> SVG </a:t>
            </a:r>
            <a:r>
              <a:rPr lang="zh-CN" sz="1350" b="1">
                <a:solidFill>
                  <a:srgbClr val="1F2B26"/>
                </a:solidFill>
                <a:latin typeface="微软雅黑" panose="020B0503020204020204" charset="-122"/>
                <a:ea typeface="微软雅黑" panose="020B0503020204020204" charset="-122"/>
              </a:rPr>
              <a:t>合成层</a:t>
            </a:r>
            <a:endParaRPr lang="zh-CN" sz="1350" b="1">
              <a:solidFill>
                <a:srgbClr val="1F2B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6" name="文本框 215" descr="{&quot;isTemplate&quot;:true,&quot;type&quot;:&quot;text&quot;}"/>
          <p:cNvSpPr txBox="1"/>
          <p:nvPr/>
        </p:nvSpPr>
        <p:spPr>
          <a:xfrm>
            <a:off x="3429000" y="4714875"/>
            <a:ext cx="8191500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35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50 </a:t>
            </a:r>
            <a:r>
              <a:rPr lang="zh-CN" sz="135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张样本中空白从</a:t>
            </a:r>
            <a:r>
              <a:rPr lang="en-US" sz="135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 1 </a:t>
            </a:r>
            <a:r>
              <a:rPr lang="zh-CN" sz="135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张增至</a:t>
            </a:r>
            <a:r>
              <a:rPr lang="en-US" sz="135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 14 </a:t>
            </a:r>
            <a:r>
              <a:rPr lang="zh-CN" sz="135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张</a:t>
            </a:r>
            <a:r>
              <a:rPr lang="en-US" sz="135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35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撤回</a:t>
            </a:r>
            <a:r>
              <a:rPr lang="en-US" sz="135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 CSS </a:t>
            </a:r>
            <a:r>
              <a:rPr lang="zh-CN" sz="135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方案，转为异步渲染</a:t>
            </a:r>
            <a:endParaRPr lang="zh-CN" sz="1350">
              <a:solidFill>
                <a:srgbClr val="5C6B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7" name="文本框 216" descr="{&quot;isTemplate&quot;:true,&quot;type&quot;:&quot;text&quot;}"/>
          <p:cNvSpPr txBox="1"/>
          <p:nvPr/>
        </p:nvSpPr>
        <p:spPr>
          <a:xfrm>
            <a:off x="571500" y="5372100"/>
            <a:ext cx="11049000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3B4A41"/>
                </a:solidFill>
                <a:latin typeface="微软雅黑" panose="020B0503020204020204" charset="-122"/>
                <a:ea typeface="微软雅黑" panose="020B0503020204020204" charset="-122"/>
              </a:rPr>
              <a:t>否掉一个方案，比多写一个功能更能说明工程判断——这三条都记录在项目文档里，可回查。</a:t>
            </a:r>
            <a:endParaRPr lang="zh-CN" sz="1350">
              <a:solidFill>
                <a:srgbClr val="3B4A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8" name="文本框 217" descr="{&quot;isTemplate&quot;:true,&quot;type&quot;:&quot;text&quot;}"/>
          <p:cNvSpPr txBox="1"/>
          <p:nvPr/>
        </p:nvSpPr>
        <p:spPr>
          <a:xfrm>
            <a:off x="571500" y="1647825"/>
            <a:ext cx="20193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2026.04</a:t>
            </a:r>
            <a:endParaRPr lang="en-US" sz="1050">
              <a:solidFill>
                <a:srgbClr val="7C8A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9" name="圆角矩形 218"/>
          <p:cNvSpPr/>
          <p:nvPr/>
        </p:nvSpPr>
        <p:spPr>
          <a:xfrm>
            <a:off x="571500" y="1952625"/>
            <a:ext cx="85725" cy="85725"/>
          </a:xfrm>
          <a:prstGeom prst="roundRect">
            <a:avLst>
              <a:gd name="adj" fmla="val 55556"/>
            </a:avLst>
          </a:prstGeom>
          <a:solidFill>
            <a:srgbClr val="2C4A3F"/>
          </a:solidFill>
        </p:spPr>
        <p:txBody>
          <a:bodyPr/>
          <a:p/>
        </p:txBody>
      </p:sp>
      <p:sp>
        <p:nvSpPr>
          <p:cNvPr id="220" name="文本框 219" descr="{&quot;isTemplate&quot;:true,&quot;type&quot;:&quot;text&quot;}"/>
          <p:cNvSpPr txBox="1"/>
          <p:nvPr/>
        </p:nvSpPr>
        <p:spPr>
          <a:xfrm>
            <a:off x="571500" y="2190750"/>
            <a:ext cx="20193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F2B26"/>
                </a:solidFill>
                <a:latin typeface="微软雅黑" panose="020B0503020204020204" charset="-122"/>
                <a:ea typeface="微软雅黑" panose="020B0503020204020204" charset="-122"/>
              </a:rPr>
              <a:t>需求探索</a:t>
            </a:r>
            <a:endParaRPr lang="zh-CN" sz="1350" b="1">
              <a:solidFill>
                <a:srgbClr val="1F2B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1" name="文本框 220" descr="{&quot;isTemplate&quot;:true,&quot;type&quot;:&quot;text&quot;}"/>
          <p:cNvSpPr txBox="1"/>
          <p:nvPr/>
        </p:nvSpPr>
        <p:spPr>
          <a:xfrm>
            <a:off x="571500" y="2457450"/>
            <a:ext cx="2019300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05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70 </a:t>
            </a:r>
            <a:r>
              <a:rPr lang="zh-CN" sz="105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份问卷、</a:t>
            </a:r>
            <a:r>
              <a:rPr lang="en-US" sz="105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5 </a:t>
            </a:r>
            <a:r>
              <a:rPr lang="zh-CN" sz="105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位受访者，确定以人物与事件组织记录</a:t>
            </a:r>
            <a:endParaRPr lang="zh-CN" sz="1050">
              <a:solidFill>
                <a:srgbClr val="5C6B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2" name="文本框 221" descr="{&quot;isTemplate&quot;:true,&quot;type&quot;:&quot;text&quot;}"/>
          <p:cNvSpPr txBox="1"/>
          <p:nvPr/>
        </p:nvSpPr>
        <p:spPr>
          <a:xfrm>
            <a:off x="2781300" y="1647825"/>
            <a:ext cx="20193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2026.07</a:t>
            </a:r>
            <a:endParaRPr lang="en-US" sz="1050">
              <a:solidFill>
                <a:srgbClr val="7C8A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3" name="圆角矩形 222"/>
          <p:cNvSpPr/>
          <p:nvPr/>
        </p:nvSpPr>
        <p:spPr>
          <a:xfrm>
            <a:off x="2781300" y="1952625"/>
            <a:ext cx="85725" cy="85725"/>
          </a:xfrm>
          <a:prstGeom prst="roundRect">
            <a:avLst>
              <a:gd name="adj" fmla="val 55556"/>
            </a:avLst>
          </a:prstGeom>
          <a:solidFill>
            <a:srgbClr val="2C4A3F"/>
          </a:solidFill>
        </p:spPr>
        <p:txBody>
          <a:bodyPr/>
          <a:p/>
        </p:txBody>
      </p:sp>
      <p:sp>
        <p:nvSpPr>
          <p:cNvPr id="224" name="文本框 223" descr="{&quot;isTemplate&quot;:true,&quot;type&quot;:&quot;text&quot;}"/>
          <p:cNvSpPr txBox="1"/>
          <p:nvPr/>
        </p:nvSpPr>
        <p:spPr>
          <a:xfrm>
            <a:off x="2781300" y="2190750"/>
            <a:ext cx="20193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F2B26"/>
                </a:solidFill>
                <a:latin typeface="微软雅黑" panose="020B0503020204020204" charset="-122"/>
                <a:ea typeface="微软雅黑" panose="020B0503020204020204" charset="-122"/>
              </a:rPr>
              <a:t>原版实现</a:t>
            </a:r>
            <a:endParaRPr lang="zh-CN" sz="1350" b="1">
              <a:solidFill>
                <a:srgbClr val="1F2B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5" name="文本框 224" descr="{&quot;isTemplate&quot;:true,&quot;type&quot;:&quot;text&quot;}"/>
          <p:cNvSpPr txBox="1"/>
          <p:nvPr/>
        </p:nvSpPr>
        <p:spPr>
          <a:xfrm>
            <a:off x="2781300" y="2457450"/>
            <a:ext cx="2019300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05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Android / Expo </a:t>
            </a:r>
            <a:r>
              <a:rPr lang="zh-CN" sz="105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版本与课程展示，保留业务模型</a:t>
            </a:r>
            <a:endParaRPr lang="zh-CN" sz="1050">
              <a:solidFill>
                <a:srgbClr val="5C6B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6" name="文本框 225" descr="{&quot;isTemplate&quot;:true,&quot;type&quot;:&quot;text&quot;}"/>
          <p:cNvSpPr txBox="1"/>
          <p:nvPr/>
        </p:nvSpPr>
        <p:spPr>
          <a:xfrm>
            <a:off x="4991100" y="1647825"/>
            <a:ext cx="20193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2026.10</a:t>
            </a:r>
            <a:endParaRPr lang="en-US" sz="1050">
              <a:solidFill>
                <a:srgbClr val="7C8A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7" name="圆角矩形 226"/>
          <p:cNvSpPr/>
          <p:nvPr/>
        </p:nvSpPr>
        <p:spPr>
          <a:xfrm>
            <a:off x="4991100" y="1952625"/>
            <a:ext cx="85725" cy="85725"/>
          </a:xfrm>
          <a:prstGeom prst="roundRect">
            <a:avLst>
              <a:gd name="adj" fmla="val 55556"/>
            </a:avLst>
          </a:prstGeom>
          <a:solidFill>
            <a:srgbClr val="2C4A3F"/>
          </a:solidFill>
        </p:spPr>
        <p:txBody>
          <a:bodyPr/>
          <a:p/>
        </p:txBody>
      </p:sp>
      <p:sp>
        <p:nvSpPr>
          <p:cNvPr id="228" name="文本框 227" descr="{&quot;isTemplate&quot;:true,&quot;type&quot;:&quot;text&quot;}"/>
          <p:cNvSpPr txBox="1"/>
          <p:nvPr/>
        </p:nvSpPr>
        <p:spPr>
          <a:xfrm>
            <a:off x="4991100" y="2190750"/>
            <a:ext cx="20193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F2B26"/>
                </a:solidFill>
                <a:latin typeface="微软雅黑" panose="020B0503020204020204" charset="-122"/>
                <a:ea typeface="微软雅黑" panose="020B0503020204020204" charset="-122"/>
              </a:rPr>
              <a:t>鸿蒙重建</a:t>
            </a:r>
            <a:endParaRPr lang="zh-CN" sz="1350" b="1">
              <a:solidFill>
                <a:srgbClr val="1F2B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9" name="文本框 228" descr="{&quot;isTemplate&quot;:true,&quot;type&quot;:&quot;text&quot;}"/>
          <p:cNvSpPr txBox="1"/>
          <p:nvPr/>
        </p:nvSpPr>
        <p:spPr>
          <a:xfrm>
            <a:off x="4991100" y="2457450"/>
            <a:ext cx="2019300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05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ArkTS </a:t>
            </a:r>
            <a:r>
              <a:rPr lang="zh-CN" sz="105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sz="105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 RDB </a:t>
            </a:r>
            <a:r>
              <a:rPr lang="zh-CN" sz="105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重写主要功能，新增桌面关系卡片</a:t>
            </a:r>
            <a:endParaRPr lang="zh-CN" sz="1050">
              <a:solidFill>
                <a:srgbClr val="5C6B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0" name="文本框 229" descr="{&quot;isTemplate&quot;:true,&quot;type&quot;:&quot;text&quot;}"/>
          <p:cNvSpPr txBox="1"/>
          <p:nvPr/>
        </p:nvSpPr>
        <p:spPr>
          <a:xfrm>
            <a:off x="7200900" y="1647825"/>
            <a:ext cx="20193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10.28 — 29</a:t>
            </a:r>
            <a:endParaRPr lang="en-US" sz="1050">
              <a:solidFill>
                <a:srgbClr val="7C8A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1" name="圆角矩形 230"/>
          <p:cNvSpPr/>
          <p:nvPr/>
        </p:nvSpPr>
        <p:spPr>
          <a:xfrm>
            <a:off x="7200900" y="1952625"/>
            <a:ext cx="85725" cy="85725"/>
          </a:xfrm>
          <a:prstGeom prst="roundRect">
            <a:avLst>
              <a:gd name="adj" fmla="val 55556"/>
            </a:avLst>
          </a:prstGeom>
          <a:solidFill>
            <a:srgbClr val="2C4A3F"/>
          </a:solidFill>
        </p:spPr>
        <p:txBody>
          <a:bodyPr/>
          <a:p/>
        </p:txBody>
      </p:sp>
      <p:sp>
        <p:nvSpPr>
          <p:cNvPr id="232" name="文本框 231" descr="{&quot;isTemplate&quot;:true,&quot;type&quot;:&quot;text&quot;}"/>
          <p:cNvSpPr txBox="1"/>
          <p:nvPr/>
        </p:nvSpPr>
        <p:spPr>
          <a:xfrm>
            <a:off x="7200900" y="2190750"/>
            <a:ext cx="20193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F2B26"/>
                </a:solidFill>
                <a:latin typeface="微软雅黑" panose="020B0503020204020204" charset="-122"/>
                <a:ea typeface="微软雅黑" panose="020B0503020204020204" charset="-122"/>
              </a:rPr>
              <a:t>发布适配</a:t>
            </a:r>
            <a:endParaRPr lang="zh-CN" sz="1350" b="1">
              <a:solidFill>
                <a:srgbClr val="1F2B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3" name="文本框 232" descr="{&quot;isTemplate&quot;:true,&quot;type&quot;:&quot;text&quot;}"/>
          <p:cNvSpPr txBox="1"/>
          <p:nvPr/>
        </p:nvSpPr>
        <p:spPr>
          <a:xfrm>
            <a:off x="7200900" y="2457450"/>
            <a:ext cx="2019300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包名、权限说明、图标与签名包，模拟器安装验证</a:t>
            </a:r>
            <a:endParaRPr lang="zh-CN" sz="1050">
              <a:solidFill>
                <a:srgbClr val="5C6B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4" name="文本框 233" descr="{&quot;isTemplate&quot;:true,&quot;type&quot;:&quot;text&quot;}"/>
          <p:cNvSpPr txBox="1"/>
          <p:nvPr/>
        </p:nvSpPr>
        <p:spPr>
          <a:xfrm>
            <a:off x="9410700" y="1647825"/>
            <a:ext cx="22098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05F38"/>
                </a:solidFill>
                <a:latin typeface="微软雅黑" panose="020B0503020204020204" charset="-122"/>
                <a:ea typeface="微软雅黑" panose="020B0503020204020204" charset="-122"/>
              </a:rPr>
              <a:t>正式上架</a:t>
            </a:r>
            <a:endParaRPr lang="zh-CN" sz="1050">
              <a:solidFill>
                <a:srgbClr val="C05F3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5" name="圆角矩形 234"/>
          <p:cNvSpPr/>
          <p:nvPr/>
        </p:nvSpPr>
        <p:spPr>
          <a:xfrm>
            <a:off x="9410700" y="1952625"/>
            <a:ext cx="85725" cy="85725"/>
          </a:xfrm>
          <a:prstGeom prst="roundRect">
            <a:avLst>
              <a:gd name="adj" fmla="val 55556"/>
            </a:avLst>
          </a:prstGeom>
          <a:solidFill>
            <a:srgbClr val="C05F38"/>
          </a:solidFill>
        </p:spPr>
        <p:txBody>
          <a:bodyPr/>
          <a:p/>
        </p:txBody>
      </p:sp>
      <p:sp>
        <p:nvSpPr>
          <p:cNvPr id="236" name="文本框 235" descr="{&quot;isTemplate&quot;:true,&quot;type&quot;:&quot;text&quot;}"/>
          <p:cNvSpPr txBox="1"/>
          <p:nvPr/>
        </p:nvSpPr>
        <p:spPr>
          <a:xfrm>
            <a:off x="9410700" y="2190750"/>
            <a:ext cx="22098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F2B26"/>
                </a:solidFill>
                <a:latin typeface="微软雅黑" panose="020B0503020204020204" charset="-122"/>
                <a:ea typeface="微软雅黑" panose="020B0503020204020204" charset="-122"/>
              </a:rPr>
              <a:t>华为应用市场</a:t>
            </a:r>
            <a:endParaRPr lang="zh-CN" sz="1350" b="1">
              <a:solidFill>
                <a:srgbClr val="1F2B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7" name="文本框 236" descr="{&quot;isTemplate&quot;:true,&quot;type&quot;:&quot;text&quot;}"/>
          <p:cNvSpPr txBox="1"/>
          <p:nvPr/>
        </p:nvSpPr>
        <p:spPr>
          <a:xfrm>
            <a:off x="9410700" y="2457450"/>
            <a:ext cx="2209800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05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6 </a:t>
            </a:r>
            <a:r>
              <a:rPr lang="zh-CN" sz="105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台设备</a:t>
            </a:r>
            <a:r>
              <a:rPr lang="en-US" sz="105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 128 </a:t>
            </a:r>
            <a:r>
              <a:rPr lang="zh-CN" sz="105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个用例通过，版本</a:t>
            </a:r>
            <a:r>
              <a:rPr lang="en-US" sz="105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 1.0.0 </a:t>
            </a:r>
            <a:r>
              <a:rPr lang="zh-CN" sz="105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正式上架</a:t>
            </a:r>
            <a:endParaRPr lang="zh-CN" sz="1050">
              <a:solidFill>
                <a:srgbClr val="5C6B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8" name="矩形 237"/>
          <p:cNvSpPr/>
          <p:nvPr/>
        </p:nvSpPr>
        <p:spPr>
          <a:xfrm>
            <a:off x="571500" y="2057400"/>
            <a:ext cx="11049000" cy="9525"/>
          </a:xfrm>
          <a:prstGeom prst="rect">
            <a:avLst/>
          </a:prstGeom>
          <a:solidFill>
            <a:srgbClr val="D9DFD7"/>
          </a:solidFill>
        </p:spPr>
        <p:txBody>
          <a:bodyPr/>
          <a:p/>
        </p:txBody>
      </p:sp>
      <p:sp>
        <p:nvSpPr>
          <p:cNvPr id="239" name="文本框 238" descr="{&quot;isTemplate&quot;:true,&quot;type&quot;:&quot;text&quot;}"/>
          <p:cNvSpPr txBox="1"/>
          <p:nvPr/>
        </p:nvSpPr>
        <p:spPr>
          <a:xfrm>
            <a:off x="571500" y="6400800"/>
            <a:ext cx="13049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AA69D"/>
                </a:solidFill>
                <a:latin typeface="微软雅黑" panose="020B0503020204020204" charset="-122"/>
                <a:ea typeface="微软雅黑" panose="020B0503020204020204" charset="-122"/>
              </a:rPr>
              <a:t>Life Graph · </a:t>
            </a:r>
            <a:r>
              <a:rPr lang="zh-CN" sz="1050">
                <a:solidFill>
                  <a:srgbClr val="9AA69D"/>
                </a:solidFill>
                <a:latin typeface="微软雅黑" panose="020B0503020204020204" charset="-122"/>
                <a:ea typeface="微软雅黑" panose="020B0503020204020204" charset="-122"/>
              </a:rPr>
              <a:t>生活脉络</a:t>
            </a:r>
            <a:endParaRPr lang="zh-CN" sz="1050">
              <a:solidFill>
                <a:srgbClr val="9AA69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0" name="文本框 239" descr="{&quot;isTemplate&quot;:true,&quot;type&quot;:&quot;text&quot;}"/>
          <p:cNvSpPr txBox="1"/>
          <p:nvPr/>
        </p:nvSpPr>
        <p:spPr>
          <a:xfrm>
            <a:off x="11458575" y="6400800"/>
            <a:ext cx="1619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AA69D"/>
                </a:solidFill>
                <a:latin typeface="微软雅黑" panose="020B0503020204020204" charset="-122"/>
                <a:ea typeface="微软雅黑" panose="020B0503020204020204" charset="-122"/>
              </a:rPr>
              <a:t>18</a:t>
            </a:r>
            <a:endParaRPr lang="en-US" sz="1050">
              <a:solidFill>
                <a:srgbClr val="9AA69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矩形 24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8F2"/>
          </a:solidFill>
        </p:spPr>
        <p:txBody>
          <a:bodyPr/>
          <a:p/>
        </p:txBody>
      </p:sp>
      <p:sp>
        <p:nvSpPr>
          <p:cNvPr id="243" name="圆角矩形 242"/>
          <p:cNvSpPr/>
          <p:nvPr/>
        </p:nvSpPr>
        <p:spPr>
          <a:xfrm>
            <a:off x="571500" y="6286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C05F38"/>
          </a:solidFill>
        </p:spPr>
        <p:txBody>
          <a:bodyPr/>
          <a:p/>
        </p:txBody>
      </p:sp>
      <p:sp>
        <p:nvSpPr>
          <p:cNvPr id="244" name="文本框 243" descr="{&quot;isTemplate&quot;:true,&quot;type&quot;:&quot;text&quot;}"/>
          <p:cNvSpPr txBox="1"/>
          <p:nvPr/>
        </p:nvSpPr>
        <p:spPr>
          <a:xfrm>
            <a:off x="723900" y="571500"/>
            <a:ext cx="10477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13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05 — </a:t>
            </a:r>
            <a:r>
              <a:rPr lang="zh-CN" sz="1050" spc="113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工程质量</a:t>
            </a:r>
            <a:endParaRPr lang="zh-CN" sz="1050" spc="113">
              <a:solidFill>
                <a:srgbClr val="7C8A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5" name="文本框 244" descr="{&quot;isTemplate&quot;:true,&quot;type&quot;:&quot;text&quot;}"/>
          <p:cNvSpPr txBox="1"/>
          <p:nvPr/>
        </p:nvSpPr>
        <p:spPr>
          <a:xfrm>
            <a:off x="571500" y="809625"/>
            <a:ext cx="11049000" cy="4667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F2B26"/>
                </a:solidFill>
                <a:latin typeface="微软雅黑" panose="020B0503020204020204" charset="-122"/>
                <a:ea typeface="微软雅黑" panose="020B0503020204020204" charset="-122"/>
              </a:rPr>
              <a:t>文档，从需求到验证</a:t>
            </a:r>
            <a:endParaRPr lang="zh-CN" sz="2550" b="1">
              <a:solidFill>
                <a:srgbClr val="1F2B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6" name="矩形 245"/>
          <p:cNvSpPr/>
          <p:nvPr/>
        </p:nvSpPr>
        <p:spPr>
          <a:xfrm>
            <a:off x="571500" y="1428750"/>
            <a:ext cx="11049000" cy="9525"/>
          </a:xfrm>
          <a:prstGeom prst="rect">
            <a:avLst/>
          </a:prstGeom>
          <a:solidFill>
            <a:srgbClr val="D9DFD7"/>
          </a:solidFill>
        </p:spPr>
        <p:txBody>
          <a:bodyPr/>
          <a:p/>
        </p:txBody>
      </p:sp>
      <p:sp>
        <p:nvSpPr>
          <p:cNvPr id="247" name="文本框 246" descr="{&quot;isTemplate&quot;:true,&quot;type&quot;:&quot;text&quot;}"/>
          <p:cNvSpPr txBox="1"/>
          <p:nvPr/>
        </p:nvSpPr>
        <p:spPr>
          <a:xfrm>
            <a:off x="571500" y="1647825"/>
            <a:ext cx="57150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docs </a:t>
            </a:r>
            <a:r>
              <a:rPr lang="zh-CN" sz="1050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目录　·　按阶段归档</a:t>
            </a:r>
            <a:endParaRPr lang="zh-CN" sz="1050">
              <a:solidFill>
                <a:srgbClr val="7C8A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8" name="任意多边形 247"/>
          <p:cNvSpPr/>
          <p:nvPr/>
        </p:nvSpPr>
        <p:spPr>
          <a:xfrm>
            <a:off x="571500" y="1905000"/>
            <a:ext cx="5715000" cy="657225"/>
          </a:xfrm>
          <a:custGeom>
            <a:avLst/>
            <a:gdLst/>
            <a:ahLst/>
            <a:cxnLst/>
            <a:pathLst>
              <a:path w="600" h="69">
                <a:moveTo>
                  <a:pt x="0" y="0"/>
                </a:moveTo>
                <a:lnTo>
                  <a:pt x="600" y="0"/>
                </a:lnTo>
                <a:lnTo>
                  <a:pt x="60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6DF"/>
          </a:solidFill>
        </p:spPr>
        <p:txBody>
          <a:bodyPr/>
          <a:p/>
        </p:txBody>
      </p:sp>
      <p:sp>
        <p:nvSpPr>
          <p:cNvPr id="249" name="文本框 248" descr="{&quot;isTemplate&quot;:true,&quot;type&quot;:&quot;text&quot;}"/>
          <p:cNvSpPr txBox="1"/>
          <p:nvPr/>
        </p:nvSpPr>
        <p:spPr>
          <a:xfrm>
            <a:off x="571500" y="2057400"/>
            <a:ext cx="4191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C05F38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sz="1050" b="1">
              <a:solidFill>
                <a:srgbClr val="C05F3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0" name="文本框 249" descr="{&quot;isTemplate&quot;:true,&quot;type&quot;:&quot;text&quot;}"/>
          <p:cNvSpPr txBox="1"/>
          <p:nvPr/>
        </p:nvSpPr>
        <p:spPr>
          <a:xfrm>
            <a:off x="990600" y="2028825"/>
            <a:ext cx="50387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F2B26"/>
                </a:solidFill>
                <a:latin typeface="微软雅黑" panose="020B0503020204020204" charset="-122"/>
                <a:ea typeface="微软雅黑" panose="020B0503020204020204" charset="-122"/>
              </a:rPr>
              <a:t>项目与需求</a:t>
            </a:r>
            <a:endParaRPr lang="zh-CN" sz="1350" b="1">
              <a:solidFill>
                <a:srgbClr val="1F2B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1" name="文本框 250" descr="{&quot;isTemplate&quot;:true,&quot;type&quot;:&quot;text&quot;}"/>
          <p:cNvSpPr txBox="1"/>
          <p:nvPr/>
        </p:nvSpPr>
        <p:spPr>
          <a:xfrm>
            <a:off x="6029325" y="2057400"/>
            <a:ext cx="2571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AA69D"/>
                </a:solidFill>
                <a:latin typeface="微软雅黑" panose="020B0503020204020204" charset="-122"/>
                <a:ea typeface="微软雅黑" panose="020B0503020204020204" charset="-122"/>
              </a:rPr>
              <a:t>3 </a:t>
            </a:r>
            <a:r>
              <a:rPr lang="zh-CN" sz="1050">
                <a:solidFill>
                  <a:srgbClr val="9AA69D"/>
                </a:solidFill>
                <a:latin typeface="微软雅黑" panose="020B0503020204020204" charset="-122"/>
                <a:ea typeface="微软雅黑" panose="020B0503020204020204" charset="-122"/>
              </a:rPr>
              <a:t>篇</a:t>
            </a:r>
            <a:endParaRPr lang="zh-CN" sz="1050">
              <a:solidFill>
                <a:srgbClr val="9AA69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2" name="文本框 251" descr="{&quot;isTemplate&quot;:true,&quot;type&quot;:&quot;text&quot;}"/>
          <p:cNvSpPr txBox="1"/>
          <p:nvPr/>
        </p:nvSpPr>
        <p:spPr>
          <a:xfrm>
            <a:off x="571500" y="2276475"/>
            <a:ext cx="57150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需求规格</a:t>
            </a:r>
            <a:r>
              <a:rPr lang="en-US" sz="1050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050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功能规格与验收</a:t>
            </a:r>
            <a:r>
              <a:rPr lang="en-US" sz="1050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050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需求决策追踪</a:t>
            </a:r>
            <a:endParaRPr lang="zh-CN" sz="1050">
              <a:solidFill>
                <a:srgbClr val="7C8A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3" name="任意多边形 252"/>
          <p:cNvSpPr/>
          <p:nvPr/>
        </p:nvSpPr>
        <p:spPr>
          <a:xfrm>
            <a:off x="571500" y="2552700"/>
            <a:ext cx="5715000" cy="657225"/>
          </a:xfrm>
          <a:custGeom>
            <a:avLst/>
            <a:gdLst/>
            <a:ahLst/>
            <a:cxnLst/>
            <a:pathLst>
              <a:path w="600" h="69">
                <a:moveTo>
                  <a:pt x="0" y="0"/>
                </a:moveTo>
                <a:lnTo>
                  <a:pt x="600" y="0"/>
                </a:lnTo>
                <a:lnTo>
                  <a:pt x="60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6DF"/>
          </a:solidFill>
        </p:spPr>
        <p:txBody>
          <a:bodyPr/>
          <a:p/>
        </p:txBody>
      </p:sp>
      <p:sp>
        <p:nvSpPr>
          <p:cNvPr id="254" name="文本框 253" descr="{&quot;isTemplate&quot;:true,&quot;type&quot;:&quot;text&quot;}"/>
          <p:cNvSpPr txBox="1"/>
          <p:nvPr/>
        </p:nvSpPr>
        <p:spPr>
          <a:xfrm>
            <a:off x="571500" y="2705100"/>
            <a:ext cx="4191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C05F38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sz="1050" b="1">
              <a:solidFill>
                <a:srgbClr val="C05F3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5" name="文本框 254" descr="{&quot;isTemplate&quot;:true,&quot;type&quot;:&quot;text&quot;}"/>
          <p:cNvSpPr txBox="1"/>
          <p:nvPr/>
        </p:nvSpPr>
        <p:spPr>
          <a:xfrm>
            <a:off x="990600" y="2676525"/>
            <a:ext cx="50387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F2B26"/>
                </a:solidFill>
                <a:latin typeface="微软雅黑" panose="020B0503020204020204" charset="-122"/>
                <a:ea typeface="微软雅黑" panose="020B0503020204020204" charset="-122"/>
              </a:rPr>
              <a:t>用户研究</a:t>
            </a:r>
            <a:endParaRPr lang="zh-CN" sz="1350" b="1">
              <a:solidFill>
                <a:srgbClr val="1F2B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6" name="文本框 255" descr="{&quot;isTemplate&quot;:true,&quot;type&quot;:&quot;text&quot;}"/>
          <p:cNvSpPr txBox="1"/>
          <p:nvPr/>
        </p:nvSpPr>
        <p:spPr>
          <a:xfrm>
            <a:off x="6029325" y="2705100"/>
            <a:ext cx="2571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AA69D"/>
                </a:solidFill>
                <a:latin typeface="微软雅黑" panose="020B0503020204020204" charset="-122"/>
                <a:ea typeface="微软雅黑" panose="020B0503020204020204" charset="-122"/>
              </a:rPr>
              <a:t>1 </a:t>
            </a:r>
            <a:r>
              <a:rPr lang="zh-CN" sz="1050">
                <a:solidFill>
                  <a:srgbClr val="9AA69D"/>
                </a:solidFill>
                <a:latin typeface="微软雅黑" panose="020B0503020204020204" charset="-122"/>
                <a:ea typeface="微软雅黑" panose="020B0503020204020204" charset="-122"/>
              </a:rPr>
              <a:t>篇</a:t>
            </a:r>
            <a:endParaRPr lang="zh-CN" sz="1050">
              <a:solidFill>
                <a:srgbClr val="9AA69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7" name="文本框 256" descr="{&quot;isTemplate&quot;:true,&quot;type&quot;:&quot;text&quot;}"/>
          <p:cNvSpPr txBox="1"/>
          <p:nvPr/>
        </p:nvSpPr>
        <p:spPr>
          <a:xfrm>
            <a:off x="571500" y="2924175"/>
            <a:ext cx="57150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用户研究报告：样本构成、逐题统计与局限</a:t>
            </a:r>
            <a:endParaRPr lang="zh-CN" sz="1050">
              <a:solidFill>
                <a:srgbClr val="7C8A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8" name="任意多边形 257"/>
          <p:cNvSpPr/>
          <p:nvPr/>
        </p:nvSpPr>
        <p:spPr>
          <a:xfrm>
            <a:off x="571500" y="3200400"/>
            <a:ext cx="5715000" cy="657225"/>
          </a:xfrm>
          <a:custGeom>
            <a:avLst/>
            <a:gdLst/>
            <a:ahLst/>
            <a:cxnLst/>
            <a:pathLst>
              <a:path w="600" h="69">
                <a:moveTo>
                  <a:pt x="0" y="0"/>
                </a:moveTo>
                <a:lnTo>
                  <a:pt x="600" y="0"/>
                </a:lnTo>
                <a:lnTo>
                  <a:pt x="60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6DF"/>
          </a:solidFill>
        </p:spPr>
        <p:txBody>
          <a:bodyPr/>
          <a:p/>
        </p:txBody>
      </p:sp>
      <p:sp>
        <p:nvSpPr>
          <p:cNvPr id="259" name="文本框 258" descr="{&quot;isTemplate&quot;:true,&quot;type&quot;:&quot;text&quot;}"/>
          <p:cNvSpPr txBox="1"/>
          <p:nvPr/>
        </p:nvSpPr>
        <p:spPr>
          <a:xfrm>
            <a:off x="571500" y="3352800"/>
            <a:ext cx="4191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C05F38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sz="1050" b="1">
              <a:solidFill>
                <a:srgbClr val="C05F3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0" name="文本框 259" descr="{&quot;isTemplate&quot;:true,&quot;type&quot;:&quot;text&quot;}"/>
          <p:cNvSpPr txBox="1"/>
          <p:nvPr/>
        </p:nvSpPr>
        <p:spPr>
          <a:xfrm>
            <a:off x="990600" y="3324225"/>
            <a:ext cx="50387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F2B26"/>
                </a:solidFill>
                <a:latin typeface="微软雅黑" panose="020B0503020204020204" charset="-122"/>
                <a:ea typeface="微软雅黑" panose="020B0503020204020204" charset="-122"/>
              </a:rPr>
              <a:t>系统设计与实现</a:t>
            </a:r>
            <a:endParaRPr lang="zh-CN" sz="1350" b="1">
              <a:solidFill>
                <a:srgbClr val="1F2B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1" name="文本框 260" descr="{&quot;isTemplate&quot;:true,&quot;type&quot;:&quot;text&quot;}"/>
          <p:cNvSpPr txBox="1"/>
          <p:nvPr/>
        </p:nvSpPr>
        <p:spPr>
          <a:xfrm>
            <a:off x="6029325" y="3352800"/>
            <a:ext cx="2571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AA69D"/>
                </a:solidFill>
                <a:latin typeface="微软雅黑" panose="020B0503020204020204" charset="-122"/>
                <a:ea typeface="微软雅黑" panose="020B0503020204020204" charset="-122"/>
              </a:rPr>
              <a:t>2 </a:t>
            </a:r>
            <a:r>
              <a:rPr lang="zh-CN" sz="1050">
                <a:solidFill>
                  <a:srgbClr val="9AA69D"/>
                </a:solidFill>
                <a:latin typeface="微软雅黑" panose="020B0503020204020204" charset="-122"/>
                <a:ea typeface="微软雅黑" panose="020B0503020204020204" charset="-122"/>
              </a:rPr>
              <a:t>篇</a:t>
            </a:r>
            <a:endParaRPr lang="zh-CN" sz="1050">
              <a:solidFill>
                <a:srgbClr val="9AA69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2" name="文本框 261" descr="{&quot;isTemplate&quot;:true,&quot;type&quot;:&quot;text&quot;}"/>
          <p:cNvSpPr txBox="1"/>
          <p:nvPr/>
        </p:nvSpPr>
        <p:spPr>
          <a:xfrm>
            <a:off x="571500" y="3571875"/>
            <a:ext cx="57150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架构与数据设计</a:t>
            </a:r>
            <a:r>
              <a:rPr lang="en-US" sz="1050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050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桌面关系微图设计</a:t>
            </a:r>
            <a:endParaRPr lang="zh-CN" sz="1050">
              <a:solidFill>
                <a:srgbClr val="7C8A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3" name="任意多边形 262"/>
          <p:cNvSpPr/>
          <p:nvPr/>
        </p:nvSpPr>
        <p:spPr>
          <a:xfrm>
            <a:off x="571500" y="3848100"/>
            <a:ext cx="5715000" cy="657225"/>
          </a:xfrm>
          <a:custGeom>
            <a:avLst/>
            <a:gdLst/>
            <a:ahLst/>
            <a:cxnLst/>
            <a:pathLst>
              <a:path w="600" h="69">
                <a:moveTo>
                  <a:pt x="0" y="0"/>
                </a:moveTo>
                <a:lnTo>
                  <a:pt x="600" y="0"/>
                </a:lnTo>
                <a:lnTo>
                  <a:pt x="60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6DF"/>
          </a:solidFill>
        </p:spPr>
        <p:txBody>
          <a:bodyPr/>
          <a:p/>
        </p:txBody>
      </p:sp>
      <p:sp>
        <p:nvSpPr>
          <p:cNvPr id="264" name="文本框 263" descr="{&quot;isTemplate&quot;:true,&quot;type&quot;:&quot;text&quot;}"/>
          <p:cNvSpPr txBox="1"/>
          <p:nvPr/>
        </p:nvSpPr>
        <p:spPr>
          <a:xfrm>
            <a:off x="571500" y="4000500"/>
            <a:ext cx="4191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C05F38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lang="en-US" sz="1050" b="1">
              <a:solidFill>
                <a:srgbClr val="C05F3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5" name="文本框 264" descr="{&quot;isTemplate&quot;:true,&quot;type&quot;:&quot;text&quot;}"/>
          <p:cNvSpPr txBox="1"/>
          <p:nvPr/>
        </p:nvSpPr>
        <p:spPr>
          <a:xfrm>
            <a:off x="990600" y="3971925"/>
            <a:ext cx="50387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F2B26"/>
                </a:solidFill>
                <a:latin typeface="微软雅黑" panose="020B0503020204020204" charset="-122"/>
                <a:ea typeface="微软雅黑" panose="020B0503020204020204" charset="-122"/>
              </a:rPr>
              <a:t>迭代与质量保障</a:t>
            </a:r>
            <a:endParaRPr lang="zh-CN" sz="1350" b="1">
              <a:solidFill>
                <a:srgbClr val="1F2B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6" name="文本框 265" descr="{&quot;isTemplate&quot;:true,&quot;type&quot;:&quot;text&quot;}"/>
          <p:cNvSpPr txBox="1"/>
          <p:nvPr/>
        </p:nvSpPr>
        <p:spPr>
          <a:xfrm>
            <a:off x="6029325" y="4000500"/>
            <a:ext cx="2571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AA69D"/>
                </a:solidFill>
                <a:latin typeface="微软雅黑" panose="020B0503020204020204" charset="-122"/>
                <a:ea typeface="微软雅黑" panose="020B0503020204020204" charset="-122"/>
              </a:rPr>
              <a:t>8 </a:t>
            </a:r>
            <a:r>
              <a:rPr lang="zh-CN" sz="1050">
                <a:solidFill>
                  <a:srgbClr val="9AA69D"/>
                </a:solidFill>
                <a:latin typeface="微软雅黑" panose="020B0503020204020204" charset="-122"/>
                <a:ea typeface="微软雅黑" panose="020B0503020204020204" charset="-122"/>
              </a:rPr>
              <a:t>篇</a:t>
            </a:r>
            <a:endParaRPr lang="zh-CN" sz="1050">
              <a:solidFill>
                <a:srgbClr val="9AA69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7" name="文本框 266" descr="{&quot;isTemplate&quot;:true,&quot;type&quot;:&quot;text&quot;}"/>
          <p:cNvSpPr txBox="1"/>
          <p:nvPr/>
        </p:nvSpPr>
        <p:spPr>
          <a:xfrm>
            <a:off x="571500" y="4219575"/>
            <a:ext cx="57150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迭代决策</a:t>
            </a:r>
            <a:r>
              <a:rPr lang="en-US" sz="1050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050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上架检测</a:t>
            </a:r>
            <a:r>
              <a:rPr lang="en-US" sz="1050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050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缺陷记录</a:t>
            </a:r>
            <a:r>
              <a:rPr lang="en-US" sz="1050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050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五项专题复盘</a:t>
            </a:r>
            <a:endParaRPr lang="zh-CN" sz="1050">
              <a:solidFill>
                <a:srgbClr val="7C8A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8" name="任意多边形 267"/>
          <p:cNvSpPr/>
          <p:nvPr/>
        </p:nvSpPr>
        <p:spPr>
          <a:xfrm>
            <a:off x="571500" y="4495800"/>
            <a:ext cx="5715000" cy="676275"/>
          </a:xfrm>
          <a:custGeom>
            <a:avLst/>
            <a:gdLst/>
            <a:ahLst/>
            <a:cxnLst/>
            <a:pathLst>
              <a:path w="600" h="71">
                <a:moveTo>
                  <a:pt x="0" y="0"/>
                </a:moveTo>
                <a:lnTo>
                  <a:pt x="600" y="0"/>
                </a:lnTo>
                <a:lnTo>
                  <a:pt x="60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6DF"/>
          </a:solidFill>
        </p:spPr>
        <p:txBody>
          <a:bodyPr/>
          <a:p/>
        </p:txBody>
      </p:sp>
      <p:sp>
        <p:nvSpPr>
          <p:cNvPr id="269" name="任意多边形 268"/>
          <p:cNvSpPr/>
          <p:nvPr/>
        </p:nvSpPr>
        <p:spPr>
          <a:xfrm>
            <a:off x="571500" y="4495800"/>
            <a:ext cx="5715000" cy="676275"/>
          </a:xfrm>
          <a:custGeom>
            <a:avLst/>
            <a:gdLst/>
            <a:ahLst/>
            <a:cxnLst/>
            <a:pathLst>
              <a:path w="600" h="71">
                <a:moveTo>
                  <a:pt x="0" y="70"/>
                </a:moveTo>
                <a:lnTo>
                  <a:pt x="600" y="70"/>
                </a:lnTo>
                <a:lnTo>
                  <a:pt x="600" y="71"/>
                </a:lnTo>
                <a:lnTo>
                  <a:pt x="0" y="71"/>
                </a:lnTo>
                <a:close/>
              </a:path>
            </a:pathLst>
          </a:custGeom>
          <a:solidFill>
            <a:srgbClr val="E2E6DF"/>
          </a:solidFill>
        </p:spPr>
        <p:txBody>
          <a:bodyPr/>
          <a:p/>
        </p:txBody>
      </p:sp>
      <p:sp>
        <p:nvSpPr>
          <p:cNvPr id="270" name="文本框 269" descr="{&quot;isTemplate&quot;:true,&quot;type&quot;:&quot;text&quot;}"/>
          <p:cNvSpPr txBox="1"/>
          <p:nvPr/>
        </p:nvSpPr>
        <p:spPr>
          <a:xfrm>
            <a:off x="571500" y="4648200"/>
            <a:ext cx="4191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C05F38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lang="en-US" sz="1050" b="1">
              <a:solidFill>
                <a:srgbClr val="C05F3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1" name="文本框 270" descr="{&quot;isTemplate&quot;:true,&quot;type&quot;:&quot;text&quot;}"/>
          <p:cNvSpPr txBox="1"/>
          <p:nvPr/>
        </p:nvSpPr>
        <p:spPr>
          <a:xfrm>
            <a:off x="990600" y="4619625"/>
            <a:ext cx="50387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F2B26"/>
                </a:solidFill>
                <a:latin typeface="微软雅黑" panose="020B0503020204020204" charset="-122"/>
                <a:ea typeface="微软雅黑" panose="020B0503020204020204" charset="-122"/>
              </a:rPr>
              <a:t>部署与使用</a:t>
            </a:r>
            <a:endParaRPr lang="zh-CN" sz="1350" b="1">
              <a:solidFill>
                <a:srgbClr val="1F2B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2" name="文本框 271" descr="{&quot;isTemplate&quot;:true,&quot;type&quot;:&quot;text&quot;}"/>
          <p:cNvSpPr txBox="1"/>
          <p:nvPr/>
        </p:nvSpPr>
        <p:spPr>
          <a:xfrm>
            <a:off x="6029325" y="4648200"/>
            <a:ext cx="2571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AA69D"/>
                </a:solidFill>
                <a:latin typeface="微软雅黑" panose="020B0503020204020204" charset="-122"/>
                <a:ea typeface="微软雅黑" panose="020B0503020204020204" charset="-122"/>
              </a:rPr>
              <a:t>3 </a:t>
            </a:r>
            <a:r>
              <a:rPr lang="zh-CN" sz="1050">
                <a:solidFill>
                  <a:srgbClr val="9AA69D"/>
                </a:solidFill>
                <a:latin typeface="微软雅黑" panose="020B0503020204020204" charset="-122"/>
                <a:ea typeface="微软雅黑" panose="020B0503020204020204" charset="-122"/>
              </a:rPr>
              <a:t>篇</a:t>
            </a:r>
            <a:endParaRPr lang="zh-CN" sz="1050">
              <a:solidFill>
                <a:srgbClr val="9AA69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3" name="文本框 272" descr="{&quot;isTemplate&quot;:true,&quot;type&quot;:&quot;text&quot;}"/>
          <p:cNvSpPr txBox="1"/>
          <p:nvPr/>
        </p:nvSpPr>
        <p:spPr>
          <a:xfrm>
            <a:off x="571500" y="4867275"/>
            <a:ext cx="57150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构建与部署</a:t>
            </a:r>
            <a:r>
              <a:rPr lang="en-US" sz="1050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050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使用手册</a:t>
            </a:r>
            <a:r>
              <a:rPr lang="en-US" sz="1050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050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离线与权限核对</a:t>
            </a:r>
            <a:endParaRPr lang="zh-CN" sz="1050">
              <a:solidFill>
                <a:srgbClr val="7C8A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4" name="文本框 273" descr="{&quot;isTemplate&quot;:true,&quot;type&quot;:&quot;text&quot;}"/>
          <p:cNvSpPr txBox="1"/>
          <p:nvPr/>
        </p:nvSpPr>
        <p:spPr>
          <a:xfrm>
            <a:off x="6781800" y="1647825"/>
            <a:ext cx="48387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追溯链　·　每条需求都能追到实现与验证</a:t>
            </a:r>
            <a:endParaRPr lang="zh-CN" sz="1050">
              <a:solidFill>
                <a:srgbClr val="7C8A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5" name="任意多边形 274"/>
          <p:cNvSpPr/>
          <p:nvPr/>
        </p:nvSpPr>
        <p:spPr>
          <a:xfrm>
            <a:off x="6781800" y="1905000"/>
            <a:ext cx="4848225" cy="2790825"/>
          </a:xfrm>
          <a:custGeom>
            <a:avLst/>
            <a:gdLst/>
            <a:ahLst/>
            <a:cxnLst/>
            <a:pathLst>
              <a:path w="509" h="293">
                <a:moveTo>
                  <a:pt x="0" y="0"/>
                </a:moveTo>
                <a:lnTo>
                  <a:pt x="1" y="0"/>
                </a:lnTo>
                <a:lnTo>
                  <a:pt x="1" y="293"/>
                </a:lnTo>
                <a:lnTo>
                  <a:pt x="0" y="293"/>
                </a:lnTo>
                <a:close/>
              </a:path>
            </a:pathLst>
          </a:custGeom>
          <a:solidFill>
            <a:srgbClr val="DCE3DA"/>
          </a:solidFill>
        </p:spPr>
        <p:txBody>
          <a:bodyPr/>
          <a:p/>
        </p:txBody>
      </p:sp>
      <p:sp>
        <p:nvSpPr>
          <p:cNvPr id="276" name="文本框 275" descr="{&quot;isTemplate&quot;:true,&quot;type&quot;:&quot;text&quot;}"/>
          <p:cNvSpPr txBox="1"/>
          <p:nvPr/>
        </p:nvSpPr>
        <p:spPr>
          <a:xfrm>
            <a:off x="7000875" y="1905000"/>
            <a:ext cx="46196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F2B26"/>
                </a:solidFill>
                <a:latin typeface="微软雅黑" panose="020B0503020204020204" charset="-122"/>
                <a:ea typeface="微软雅黑" panose="020B0503020204020204" charset="-122"/>
              </a:rPr>
              <a:t>需求　</a:t>
            </a:r>
            <a:r>
              <a:rPr lang="en-US" sz="1350" b="1">
                <a:solidFill>
                  <a:srgbClr val="1F2B26"/>
                </a:solidFill>
                <a:latin typeface="微软雅黑" panose="020B0503020204020204" charset="-122"/>
                <a:ea typeface="微软雅黑" panose="020B0503020204020204" charset="-122"/>
              </a:rPr>
              <a:t>R-01 — R-07</a:t>
            </a:r>
            <a:endParaRPr lang="en-US" sz="1350" b="1">
              <a:solidFill>
                <a:srgbClr val="1F2B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7" name="文本框 276" descr="{&quot;isTemplate&quot;:true,&quot;type&quot;:&quot;text&quot;}"/>
          <p:cNvSpPr txBox="1"/>
          <p:nvPr/>
        </p:nvSpPr>
        <p:spPr>
          <a:xfrm>
            <a:off x="7000875" y="2152650"/>
            <a:ext cx="4619625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人物与关系、多参与者事件、检索、删除语义、本地备份、桌面入口、操作反馈</a:t>
            </a:r>
            <a:endParaRPr lang="zh-CN" sz="1050">
              <a:solidFill>
                <a:srgbClr val="5C6B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8" name="文本框 277" descr="{&quot;isTemplate&quot;:true,&quot;type&quot;:&quot;text&quot;}"/>
          <p:cNvSpPr txBox="1"/>
          <p:nvPr/>
        </p:nvSpPr>
        <p:spPr>
          <a:xfrm>
            <a:off x="7000875" y="2838450"/>
            <a:ext cx="46196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F2B26"/>
                </a:solidFill>
                <a:latin typeface="微软雅黑" panose="020B0503020204020204" charset="-122"/>
                <a:ea typeface="微软雅黑" panose="020B0503020204020204" charset="-122"/>
              </a:rPr>
              <a:t>规格　</a:t>
            </a:r>
            <a:r>
              <a:rPr lang="en-US" sz="1350" b="1">
                <a:solidFill>
                  <a:srgbClr val="1F2B26"/>
                </a:solidFill>
                <a:latin typeface="微软雅黑" panose="020B0503020204020204" charset="-122"/>
                <a:ea typeface="微软雅黑" panose="020B0503020204020204" charset="-122"/>
              </a:rPr>
              <a:t>10 </a:t>
            </a:r>
            <a:r>
              <a:rPr lang="zh-CN" sz="1350" b="1">
                <a:solidFill>
                  <a:srgbClr val="1F2B26"/>
                </a:solidFill>
                <a:latin typeface="微软雅黑" panose="020B0503020204020204" charset="-122"/>
                <a:ea typeface="微软雅黑" panose="020B0503020204020204" charset="-122"/>
              </a:rPr>
              <a:t>组编号</a:t>
            </a:r>
            <a:endParaRPr lang="zh-CN" sz="1350" b="1">
              <a:solidFill>
                <a:srgbClr val="1F2B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9" name="文本框 278" descr="{&quot;isTemplate&quot;:true,&quot;type&quot;:&quot;text&quot;}"/>
          <p:cNvSpPr txBox="1"/>
          <p:nvPr/>
        </p:nvSpPr>
        <p:spPr>
          <a:xfrm>
            <a:off x="7000875" y="3086100"/>
            <a:ext cx="461962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P / E / M / G / T / S / C / B / D / Q</a:t>
            </a:r>
            <a:r>
              <a:rPr lang="zh-CN" sz="105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，写清输入约束与验收场景</a:t>
            </a:r>
            <a:endParaRPr lang="zh-CN" sz="1050">
              <a:solidFill>
                <a:srgbClr val="5C6B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0" name="文本框 279" descr="{&quot;isTemplate&quot;:true,&quot;type&quot;:&quot;text&quot;}"/>
          <p:cNvSpPr txBox="1"/>
          <p:nvPr/>
        </p:nvSpPr>
        <p:spPr>
          <a:xfrm>
            <a:off x="7000875" y="3514725"/>
            <a:ext cx="46196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F2B26"/>
                </a:solidFill>
                <a:latin typeface="微软雅黑" panose="020B0503020204020204" charset="-122"/>
                <a:ea typeface="微软雅黑" panose="020B0503020204020204" charset="-122"/>
              </a:rPr>
              <a:t>实现　分层模块与</a:t>
            </a:r>
            <a:r>
              <a:rPr lang="en-US" sz="1350" b="1">
                <a:solidFill>
                  <a:srgbClr val="1F2B26"/>
                </a:solidFill>
                <a:latin typeface="微软雅黑" panose="020B0503020204020204" charset="-122"/>
                <a:ea typeface="微软雅黑" panose="020B0503020204020204" charset="-122"/>
              </a:rPr>
              <a:t> 12 </a:t>
            </a:r>
            <a:r>
              <a:rPr lang="zh-CN" sz="1350" b="1">
                <a:solidFill>
                  <a:srgbClr val="1F2B26"/>
                </a:solidFill>
                <a:latin typeface="微软雅黑" panose="020B0503020204020204" charset="-122"/>
                <a:ea typeface="微软雅黑" panose="020B0503020204020204" charset="-122"/>
              </a:rPr>
              <a:t>张表</a:t>
            </a:r>
            <a:endParaRPr lang="zh-CN" sz="1350" b="1">
              <a:solidFill>
                <a:srgbClr val="1F2B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1" name="文本框 280" descr="{&quot;isTemplate&quot;:true,&quot;type&quot;:&quot;text&quot;}"/>
          <p:cNvSpPr txBox="1"/>
          <p:nvPr/>
        </p:nvSpPr>
        <p:spPr>
          <a:xfrm>
            <a:off x="7000875" y="3762375"/>
            <a:ext cx="461962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架构文档标注每个规格对应的模块与文件</a:t>
            </a:r>
            <a:endParaRPr lang="zh-CN" sz="1050">
              <a:solidFill>
                <a:srgbClr val="5C6B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2" name="文本框 281" descr="{&quot;isTemplate&quot;:true,&quot;type&quot;:&quot;text&quot;}"/>
          <p:cNvSpPr txBox="1"/>
          <p:nvPr/>
        </p:nvSpPr>
        <p:spPr>
          <a:xfrm>
            <a:off x="7000875" y="4191000"/>
            <a:ext cx="46196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F2B26"/>
                </a:solidFill>
                <a:latin typeface="微软雅黑" panose="020B0503020204020204" charset="-122"/>
                <a:ea typeface="微软雅黑" panose="020B0503020204020204" charset="-122"/>
              </a:rPr>
              <a:t>验证　</a:t>
            </a:r>
            <a:r>
              <a:rPr lang="en-US" sz="1350" b="1">
                <a:solidFill>
                  <a:srgbClr val="1F2B26"/>
                </a:solidFill>
                <a:latin typeface="微软雅黑" panose="020B0503020204020204" charset="-122"/>
                <a:ea typeface="微软雅黑" panose="020B0503020204020204" charset="-122"/>
              </a:rPr>
              <a:t>6 </a:t>
            </a:r>
            <a:r>
              <a:rPr lang="zh-CN" sz="1350" b="1">
                <a:solidFill>
                  <a:srgbClr val="1F2B26"/>
                </a:solidFill>
                <a:latin typeface="微软雅黑" panose="020B0503020204020204" charset="-122"/>
                <a:ea typeface="微软雅黑" panose="020B0503020204020204" charset="-122"/>
              </a:rPr>
              <a:t>套脚本与</a:t>
            </a:r>
            <a:r>
              <a:rPr lang="en-US" sz="1350" b="1">
                <a:solidFill>
                  <a:srgbClr val="1F2B26"/>
                </a:solidFill>
                <a:latin typeface="微软雅黑" panose="020B0503020204020204" charset="-122"/>
                <a:ea typeface="微软雅黑" panose="020B0503020204020204" charset="-122"/>
              </a:rPr>
              <a:t> 128 </a:t>
            </a:r>
            <a:r>
              <a:rPr lang="zh-CN" sz="1350" b="1">
                <a:solidFill>
                  <a:srgbClr val="1F2B26"/>
                </a:solidFill>
                <a:latin typeface="微软雅黑" panose="020B0503020204020204" charset="-122"/>
                <a:ea typeface="微软雅黑" panose="020B0503020204020204" charset="-122"/>
              </a:rPr>
              <a:t>个用例</a:t>
            </a:r>
            <a:endParaRPr lang="zh-CN" sz="1350" b="1">
              <a:solidFill>
                <a:srgbClr val="1F2B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3" name="文本框 282" descr="{&quot;isTemplate&quot;:true,&quot;type&quot;:&quot;text&quot;}"/>
          <p:cNvSpPr txBox="1"/>
          <p:nvPr/>
        </p:nvSpPr>
        <p:spPr>
          <a:xfrm>
            <a:off x="7000875" y="4438650"/>
            <a:ext cx="461962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自动化结果不替代真机验收，文档中标明各自边界</a:t>
            </a:r>
            <a:endParaRPr lang="zh-CN" sz="1050">
              <a:solidFill>
                <a:srgbClr val="5C6B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4" name="文本框 283" descr="{&quot;isTemplate&quot;:true,&quot;type&quot;:&quot;text&quot;}"/>
          <p:cNvSpPr txBox="1"/>
          <p:nvPr/>
        </p:nvSpPr>
        <p:spPr>
          <a:xfrm>
            <a:off x="6781800" y="4924425"/>
            <a:ext cx="4838700" cy="6667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3B4A41"/>
                </a:solidFill>
                <a:latin typeface="微软雅黑" panose="020B0503020204020204" charset="-122"/>
                <a:ea typeface="微软雅黑" panose="020B0503020204020204" charset="-122"/>
              </a:rPr>
              <a:t>文档写清了</a:t>
            </a:r>
            <a:r>
              <a:rPr lang="zh-CN" sz="1350" b="1">
                <a:solidFill>
                  <a:srgbClr val="C05F38"/>
                </a:solidFill>
                <a:latin typeface="微软雅黑" panose="020B0503020204020204" charset="-122"/>
                <a:ea typeface="微软雅黑" panose="020B0503020204020204" charset="-122"/>
              </a:rPr>
              <a:t>做了什么，也写清了没做什么</a:t>
            </a:r>
            <a:r>
              <a:rPr lang="zh-CN" sz="1350">
                <a:solidFill>
                  <a:srgbClr val="3B4A41"/>
                </a:solidFill>
                <a:latin typeface="微软雅黑" panose="020B0503020204020204" charset="-122"/>
                <a:ea typeface="微软雅黑" panose="020B0503020204020204" charset="-122"/>
              </a:rPr>
              <a:t>——范围之外的功能不冒充已有能力。</a:t>
            </a:r>
            <a:endParaRPr lang="zh-CN" sz="1350">
              <a:solidFill>
                <a:srgbClr val="3B4A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5" name="文本框 284" descr="{&quot;isTemplate&quot;:true,&quot;type&quot;:&quot;text&quot;}"/>
          <p:cNvSpPr txBox="1"/>
          <p:nvPr/>
        </p:nvSpPr>
        <p:spPr>
          <a:xfrm>
            <a:off x="571500" y="6400800"/>
            <a:ext cx="13049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AA69D"/>
                </a:solidFill>
                <a:latin typeface="微软雅黑" panose="020B0503020204020204" charset="-122"/>
                <a:ea typeface="微软雅黑" panose="020B0503020204020204" charset="-122"/>
              </a:rPr>
              <a:t>Life Graph · </a:t>
            </a:r>
            <a:r>
              <a:rPr lang="zh-CN" sz="1050">
                <a:solidFill>
                  <a:srgbClr val="9AA69D"/>
                </a:solidFill>
                <a:latin typeface="微软雅黑" panose="020B0503020204020204" charset="-122"/>
                <a:ea typeface="微软雅黑" panose="020B0503020204020204" charset="-122"/>
              </a:rPr>
              <a:t>生活脉络</a:t>
            </a:r>
            <a:endParaRPr lang="zh-CN" sz="1050">
              <a:solidFill>
                <a:srgbClr val="9AA69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6" name="文本框 285" descr="{&quot;isTemplate&quot;:true,&quot;type&quot;:&quot;text&quot;}"/>
          <p:cNvSpPr txBox="1"/>
          <p:nvPr/>
        </p:nvSpPr>
        <p:spPr>
          <a:xfrm>
            <a:off x="11458575" y="6400800"/>
            <a:ext cx="1619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AA69D"/>
                </a:solidFill>
                <a:latin typeface="微软雅黑" panose="020B0503020204020204" charset="-122"/>
                <a:ea typeface="微软雅黑" panose="020B0503020204020204" charset="-122"/>
              </a:rPr>
              <a:t>19</a:t>
            </a:r>
            <a:endParaRPr lang="en-US" sz="1050">
              <a:solidFill>
                <a:srgbClr val="9AA69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5" name="" descr="&lt;Slide style={{ width: 1280, height: 720, background: '#FAF8F2', position: 'relative', display: 'flex', flexDirection: 'column', fontFamily: 'Microsoft YaHei' }}&gt;&#10;&#10;    &lt;Text style={{ position: 'absolute', left: 56, top: 196, fontSize: 210, fontWeight: 'bold', color: '#DFE8DB', lineHeight: 1, letterSpacing: -4 }}&gt;06&lt;/Text&gt;&#10;&#10;    &lt;Box style={{ position: 'absolute', left: 500, top: 262, width: 660, display: 'flex', flexDirection: 'column' }}&gt;&#10;        &lt;Text style={{ fontSize: 52, fontWeight: 'bold', color: '#1F2B26', letterSpacing: 3 }}&gt;商业价值&lt;/Text&gt;&#10;        &lt;Text style={{ fontSize: 18, color: '#7C8A81', lineHeight: 1.8, marginTop: 22, width: 560 }}&gt;免费交付了什么、将来凭什么收钱，以及做它的是谁。&lt;/Text&gt;&#10;    &lt;/Box&gt;&#10;&#10;    &lt;Box style={{ position: 'absolute', left: 60, top: 470, width: 1160, height: 1, background: '#DCE3DA' }} /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矩形 3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8F2"/>
          </a:solidFill>
        </p:spPr>
        <p:txBody>
          <a:bodyPr/>
          <a:p/>
        </p:txBody>
      </p:sp>
      <p:sp>
        <p:nvSpPr>
          <p:cNvPr id="317" name="文本框 316" descr="{&quot;isTemplate&quot;:true,&quot;type&quot;:&quot;text&quot;}"/>
          <p:cNvSpPr txBox="1"/>
          <p:nvPr/>
        </p:nvSpPr>
        <p:spPr>
          <a:xfrm>
            <a:off x="533400" y="1866900"/>
            <a:ext cx="2400300" cy="2400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0" b="1" spc="-300">
                <a:solidFill>
                  <a:srgbClr val="DFE8DB"/>
                </a:solidFill>
                <a:latin typeface="微软雅黑" panose="020B0503020204020204" charset="-122"/>
                <a:ea typeface="微软雅黑" panose="020B0503020204020204" charset="-122"/>
              </a:rPr>
              <a:t>06</a:t>
            </a:r>
            <a:endParaRPr lang="en-US" sz="15750" b="1" spc="-300">
              <a:solidFill>
                <a:srgbClr val="DFE8D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8" name="文本框 317" descr="{&quot;isTemplate&quot;:true,&quot;type&quot;:&quot;text&quot;}"/>
          <p:cNvSpPr txBox="1"/>
          <p:nvPr/>
        </p:nvSpPr>
        <p:spPr>
          <a:xfrm>
            <a:off x="4762500" y="2495550"/>
            <a:ext cx="6286500" cy="600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900" b="1" spc="225">
                <a:solidFill>
                  <a:srgbClr val="1F2B26"/>
                </a:solidFill>
                <a:latin typeface="微软雅黑" panose="020B0503020204020204" charset="-122"/>
                <a:ea typeface="微软雅黑" panose="020B0503020204020204" charset="-122"/>
              </a:rPr>
              <a:t>商业价值</a:t>
            </a:r>
            <a:endParaRPr lang="zh-CN" sz="3900" b="1" spc="225">
              <a:solidFill>
                <a:srgbClr val="1F2B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9" name="文本框 318" descr="{&quot;isTemplate&quot;:true,&quot;type&quot;:&quot;text&quot;}"/>
          <p:cNvSpPr txBox="1"/>
          <p:nvPr/>
        </p:nvSpPr>
        <p:spPr>
          <a:xfrm>
            <a:off x="4762500" y="3305175"/>
            <a:ext cx="533400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350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免费交付了什么、将来凭什么收钱，以及做它的是谁。</a:t>
            </a:r>
            <a:endParaRPr lang="zh-CN" sz="1350">
              <a:solidFill>
                <a:srgbClr val="7C8A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0" name="矩形 319"/>
          <p:cNvSpPr/>
          <p:nvPr/>
        </p:nvSpPr>
        <p:spPr>
          <a:xfrm>
            <a:off x="571500" y="4476750"/>
            <a:ext cx="11049000" cy="9525"/>
          </a:xfrm>
          <a:prstGeom prst="rect">
            <a:avLst/>
          </a:prstGeom>
          <a:solidFill>
            <a:srgbClr val="DCE3DA"/>
          </a:solidFill>
        </p:spPr>
        <p:txBody>
          <a:bodyPr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1" name="" descr="&lt;Slide style={{ width: 1280, height: 720, background: '#FAF8F2', padding: '60px', display: 'flex', flexDirection: 'column', fontFamily: 'Microsoft YaHei' }}&gt;&#10;&#10;    &lt;Box style={{ flexDirection: 'row', alignItems: 'center', gap: 10 }}&gt;&#10;        &lt;Box style={{ width: 6, height: 6, borderRadius: 3, background: '#C05F38' }} /&gt;&#10;        &lt;Text style={{ fontSize: 14, color: '#7C8A81', letterSpacing: 1.5 }}&gt;06 — 商业价值 · 商业模式&lt;/Text&gt;&#10;    &lt;/Box&gt;&#10;    &lt;Text style={{ fontSize: 34, fontWeight: 'bold', color: '#1F2B26', lineHeight: 1.2, marginTop: 8 }}&gt;基础功能永久免费，会员只为「增量」付费&lt;/Text&gt;&#10;    &lt;Box style={{ height: 1, background: '#D9DFD7', marginTop: 16, marginBottom: 24 }} /&gt;&#10;&#10;    &lt;Box style={{ flexDirection: 'row', gap: 56 }}&gt;&#10;&#10;        &lt;Box style={{ width: 560, display: 'flex', flexDirection: 'column' }}&gt;&#10;            &lt;Text style={{ fontSize: 14, color: '#7C8A81', letterSpacing: 1 }}&gt;这一版刻意做到「不联网、不收钱」&lt;/Text&gt;&#10;&#10;            &lt;Box style={{ borderTop: '1px solid #E2E6DF', paddingTop: 15, paddingBottom: 15, marginTop: 12, flexDirection: 'row' }}&gt;&#10;                &lt;Text style={{ fontSize: 14, color: '#C05F38', width: 34, lineHeight: 1.9 }}&gt;01&lt;/Text&gt;&#10;                &lt;Box style={{ width: 526, display: 'flex', flexDirection: 'column' }}&gt;&#10;                    &lt;Text style={{ fontSize: 20, fontWeight: 'bold', color: '#1F2B26' }}&gt;不联网是信任的前提&lt;/Text&gt;&#10;                    &lt;Text style={{ fontSize: 18, color: '#5C6B62', lineHeight: 1.6, marginTop: 6 }}&gt;未声明 INTERNET 权限，数据只在本机、不要求账号。先把「愿意把它装在手机上」的人拿到手，再谈服务端。&lt;/Text&gt;&#10;                &lt;/Box&gt;&#10;            &lt;/Box&gt;&#10;&#10;            &lt;Box style={{ borderTop: '1px solid #E2E6DF', paddingTop: 15, paddingBottom: 15, flexDirection: 'row' }}&gt;&#10;                &lt;Text style={{ fontSize: 14, color: '#C05F38', width: 34, lineHeight: 1.9 }}&gt;02&lt;/Text&gt;&#10;                &lt;Box style={{ width: 526, display: 'flex', flexDirection: 'column' }}&gt;&#10;                    &lt;Text style={{ fontSize: 20, fontWeight: 'bold', color: '#1F2B26' }}&gt;没有服务器，就没有变现压力&lt;/Text&gt;&#10;                    &lt;Text style={{ fontSize: 18, color: '#5C6B62', lineHeight: 1.6, marginTop: 6 }}&gt;安装包 0.49 MB、无后台成本，分发边际成本接近零。可以先长期免费运营，而不是被每月账单推着做商业化。&lt;/Text&gt;&#10;                &lt;/Box&gt;&#10;            &lt;/Box&gt;&#10;&#10;            &lt;Box style={{ borderTop: '1px solid #E2E6DF', borderBottom: '1px solid #E2E6DF', paddingTop: 15, paddingBottom: 15, flexDirection: 'row' }}&gt;&#10;                &lt;Text style={{ fontSize: 14, color: '#C05F38', width: 34, lineHeight: 1.9 }}&gt;03&lt;/Text&gt;&#10;                &lt;Box style={{ width: 526, display: 'flex', flexDirection: 'column' }}&gt;&#10;                    &lt;Text style={{ fontSize: 20, fontWeight: 'bold', color: '#1F2B26' }}&gt;付费功能排在留存之后&lt;/Text&gt;&#10;                    &lt;Text style={{ fontSize: 18, color: '#5C6B62', lineHeight: 1.6, marginTop: 6 }}&gt;当前版本已真实上架、128 项平台用例全通过。先证明有人持续记录，再让用户为这份记录付费。&lt;/Text&gt;&#10;                &lt;/Box&gt;&#10;            &lt;/Box&gt;&#10;        &lt;/Box&gt;&#10;&#10;        &lt;Box style={{ width: 544, display: 'flex', flexDirection: 'column' }}&gt;&#10;            &lt;Text style={{ fontSize: 14, color: '#7C8A81', letterSpacing: 1 }}&gt;付费点来自「已经攒下的记录」，不是新功能&lt;/Text&gt;&#10;            &lt;Text style={{ fontSize: 18, color: '#3B4A41', lineHeight: 1.7, marginTop: 10 }}&gt;记满一年之后，最贵的东西是那批记录本身。会员卖的是三件事：&lt;span style={{ fontWeight: 'bold', color: '#C05F38' }}&gt;不丢、不分家、不用自己整理&lt;/span&gt;。&lt;/Text&gt;&#10;&#10;            &lt;Box style={{ background: '#EDF2EA', borderRadius: 8, padding: 20, marginTop: 16 }}&gt;&#10;                &lt;Box style={{ flexDirection: 'row', alignItems: 'center', gap: 10 }}&gt;&#10;                    &lt;Text style={{ fontSize: 14, color: '#2C4A3F', letterSpacing: 1.5 }}&gt;免费层&lt;/Text&gt;&#10;                    &lt;Text style={{ fontSize: 14, color: '#7C8A81' }}&gt;已交付&lt;/Text&gt;&#10;                &lt;/Box&gt;&#10;                &lt;Text style={{ fontSize: 18, color: '#2E3B34', lineHeight: 1.6, marginTop: 8 }}&gt;本机人物与事件记录 · 三种关系图谱 · 桌面卡片 · 本地 ZIP 备份&lt;/Text&gt;&#10;            &lt;/Box&gt;&#10;&#10;            &lt;Box style={{ background: '#2C4A3F', borderRadius: 8, padding: 20, marginTop: 12 }}&gt;&#10;                &lt;Box style={{ flexDirection: 'row', alignItems: 'center', gap: 10 }}&gt;&#10;                    &lt;Text style={{ fontSize: 14, color: '#D79A73', letterSpacing: 1.5 }}&gt;会员层&lt;/Text&gt;&#10;                    &lt;Text style={{ fontSize: 14, color: '#9DB3A2' }}&gt;规划中&lt;/Text&gt;&#10;                &lt;/Box&gt;&#10;                &lt;Text style={{ fontSize: 18, color: '#F0F3EC', lineHeight: 1.6, marginTop: 8 }}&gt;AI 助手 · 云端备份与多端同步 · 一键导出与跨平台迁移&lt;/Text&gt;&#10;            &lt;/Box&gt;&#10;&#10;            &lt;Box style={{ borderTop: '1px solid #E2E6DF', borderBottom: '1px solid #E2E6DF', paddingTop: 14, paddingBottom: 14, marginTop: 12 }}&gt;&#10;                &lt;Text style={{ fontSize: 14, color: '#9AA69D' }}&gt;启动前提&lt;/Text&gt;&#10;                &lt;Text style={{ fontSize: 18, color: '#2E3B34', marginTop: 4 }}&gt;留存达到门槛后才投入服务端成本，不为「先把功能做出来」烧钱&lt;/Text&gt;&#10;            &lt;/Box&gt;&#10;        &lt;/Box&gt;&#10;    &lt;/Box&gt;&#10;&#10;    &lt;Text style={{ fontSize: 18, color: '#3B4A41', lineHeight: 1.6, marginTop: 22 }}&gt;同赛道常见做法是「先联网、先讲 AI」；我们反过来——先用零联网成本把用户攒起来，再让一部分人为确定性的省事付钱。&lt;/Text&gt;&#10;&#10;    &lt;Box style={{ position: 'absolute', left: 60, right: 60, bottom: 30, height: 20, flexDirection: 'row', justifyContent: 'space-between', alignItems: 'center' }}&gt;&#10;        &lt;Text style={{ fontSize: 14, color: '#9AA69D' }}&gt;Life Graph · 生活脉络&lt;/Text&gt;&#10;        &lt;Text style={{ fontSize: 14, color: '#9AA69D' }}&gt;2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矩形 3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8F2"/>
          </a:solidFill>
        </p:spPr>
        <p:txBody>
          <a:bodyPr/>
          <a:p/>
        </p:txBody>
      </p:sp>
      <p:sp>
        <p:nvSpPr>
          <p:cNvPr id="323" name="圆角矩形 322"/>
          <p:cNvSpPr/>
          <p:nvPr/>
        </p:nvSpPr>
        <p:spPr>
          <a:xfrm>
            <a:off x="571500" y="6286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C05F38"/>
          </a:solidFill>
        </p:spPr>
        <p:txBody>
          <a:bodyPr/>
          <a:p/>
        </p:txBody>
      </p:sp>
      <p:sp>
        <p:nvSpPr>
          <p:cNvPr id="324" name="文本框 323" descr="{&quot;isTemplate&quot;:true,&quot;type&quot;:&quot;text&quot;}"/>
          <p:cNvSpPr txBox="1"/>
          <p:nvPr/>
        </p:nvSpPr>
        <p:spPr>
          <a:xfrm>
            <a:off x="723900" y="571500"/>
            <a:ext cx="17907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13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06 — </a:t>
            </a:r>
            <a:r>
              <a:rPr lang="zh-CN" sz="1050" spc="113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商业价值</a:t>
            </a:r>
            <a:r>
              <a:rPr lang="en-US" sz="1050" spc="113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050" spc="113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商业模式</a:t>
            </a:r>
            <a:endParaRPr lang="zh-CN" sz="1050" spc="113">
              <a:solidFill>
                <a:srgbClr val="7C8A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5" name="文本框 324" descr="{&quot;isTemplate&quot;:true,&quot;type&quot;:&quot;text&quot;}"/>
          <p:cNvSpPr txBox="1"/>
          <p:nvPr/>
        </p:nvSpPr>
        <p:spPr>
          <a:xfrm>
            <a:off x="571500" y="809625"/>
            <a:ext cx="11049000" cy="4667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F2B26"/>
                </a:solidFill>
                <a:latin typeface="微软雅黑" panose="020B0503020204020204" charset="-122"/>
                <a:ea typeface="微软雅黑" panose="020B0503020204020204" charset="-122"/>
              </a:rPr>
              <a:t>基础功能永久免费，会员只为「增量」付费</a:t>
            </a:r>
            <a:endParaRPr lang="zh-CN" sz="2550" b="1">
              <a:solidFill>
                <a:srgbClr val="1F2B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6" name="矩形 325"/>
          <p:cNvSpPr/>
          <p:nvPr/>
        </p:nvSpPr>
        <p:spPr>
          <a:xfrm>
            <a:off x="571500" y="1428750"/>
            <a:ext cx="11049000" cy="9525"/>
          </a:xfrm>
          <a:prstGeom prst="rect">
            <a:avLst/>
          </a:prstGeom>
          <a:solidFill>
            <a:srgbClr val="D9DFD7"/>
          </a:solidFill>
        </p:spPr>
        <p:txBody>
          <a:bodyPr/>
          <a:p/>
        </p:txBody>
      </p:sp>
      <p:sp>
        <p:nvSpPr>
          <p:cNvPr id="327" name="文本框 326" descr="{&quot;isTemplate&quot;:true,&quot;type&quot;:&quot;text&quot;}"/>
          <p:cNvSpPr txBox="1"/>
          <p:nvPr/>
        </p:nvSpPr>
        <p:spPr>
          <a:xfrm>
            <a:off x="571500" y="1666875"/>
            <a:ext cx="53340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75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这一版刻意做到「不联网、不收钱」</a:t>
            </a:r>
            <a:endParaRPr lang="zh-CN" sz="1050" spc="75">
              <a:solidFill>
                <a:srgbClr val="7C8A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8" name="任意多边形 327"/>
          <p:cNvSpPr/>
          <p:nvPr/>
        </p:nvSpPr>
        <p:spPr>
          <a:xfrm>
            <a:off x="571500" y="1943100"/>
            <a:ext cx="5334000" cy="1257300"/>
          </a:xfrm>
          <a:custGeom>
            <a:avLst/>
            <a:gdLst/>
            <a:ahLst/>
            <a:cxnLst/>
            <a:pathLst>
              <a:path w="560" h="132">
                <a:moveTo>
                  <a:pt x="0" y="0"/>
                </a:moveTo>
                <a:lnTo>
                  <a:pt x="560" y="0"/>
                </a:lnTo>
                <a:lnTo>
                  <a:pt x="56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6DF"/>
          </a:solidFill>
        </p:spPr>
        <p:txBody>
          <a:bodyPr/>
          <a:p/>
        </p:txBody>
      </p:sp>
      <p:sp>
        <p:nvSpPr>
          <p:cNvPr id="329" name="文本框 328" descr="{&quot;isTemplate&quot;:true,&quot;type&quot;:&quot;text&quot;}"/>
          <p:cNvSpPr txBox="1"/>
          <p:nvPr/>
        </p:nvSpPr>
        <p:spPr>
          <a:xfrm>
            <a:off x="571500" y="2095500"/>
            <a:ext cx="323850" cy="952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050">
                <a:solidFill>
                  <a:srgbClr val="C05F38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sz="1050">
              <a:solidFill>
                <a:srgbClr val="C05F3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0" name="文本框 329" descr="{&quot;isTemplate&quot;:true,&quot;type&quot;:&quot;text&quot;}"/>
          <p:cNvSpPr txBox="1"/>
          <p:nvPr/>
        </p:nvSpPr>
        <p:spPr>
          <a:xfrm>
            <a:off x="895350" y="2095500"/>
            <a:ext cx="50101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F2B26"/>
                </a:solidFill>
                <a:latin typeface="微软雅黑" panose="020B0503020204020204" charset="-122"/>
                <a:ea typeface="微软雅黑" panose="020B0503020204020204" charset="-122"/>
              </a:rPr>
              <a:t>不联网是信任的前提</a:t>
            </a:r>
            <a:endParaRPr lang="zh-CN" sz="1500" b="1">
              <a:solidFill>
                <a:srgbClr val="1F2B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1" name="文本框 330" descr="{&quot;isTemplate&quot;:true,&quot;type&quot;:&quot;text&quot;}"/>
          <p:cNvSpPr txBox="1"/>
          <p:nvPr/>
        </p:nvSpPr>
        <p:spPr>
          <a:xfrm>
            <a:off x="895350" y="2381250"/>
            <a:ext cx="5010150" cy="6667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未声明</a:t>
            </a:r>
            <a:r>
              <a:rPr lang="en-US" sz="135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 INTERNET </a:t>
            </a:r>
            <a:r>
              <a:rPr lang="zh-CN" sz="135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权限，数据只在本机、不要求账号。先把「愿意把它装在手机上」的人拿到手，再谈服务端。</a:t>
            </a:r>
            <a:endParaRPr lang="zh-CN" sz="1350">
              <a:solidFill>
                <a:srgbClr val="5C6B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2" name="任意多边形 331"/>
          <p:cNvSpPr/>
          <p:nvPr/>
        </p:nvSpPr>
        <p:spPr>
          <a:xfrm>
            <a:off x="571500" y="3190875"/>
            <a:ext cx="5334000" cy="1257300"/>
          </a:xfrm>
          <a:custGeom>
            <a:avLst/>
            <a:gdLst/>
            <a:ahLst/>
            <a:cxnLst/>
            <a:pathLst>
              <a:path w="560" h="132">
                <a:moveTo>
                  <a:pt x="0" y="0"/>
                </a:moveTo>
                <a:lnTo>
                  <a:pt x="560" y="0"/>
                </a:lnTo>
                <a:lnTo>
                  <a:pt x="56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6DF"/>
          </a:solidFill>
        </p:spPr>
        <p:txBody>
          <a:bodyPr/>
          <a:p/>
        </p:txBody>
      </p:sp>
      <p:sp>
        <p:nvSpPr>
          <p:cNvPr id="333" name="文本框 332" descr="{&quot;isTemplate&quot;:true,&quot;type&quot;:&quot;text&quot;}"/>
          <p:cNvSpPr txBox="1"/>
          <p:nvPr/>
        </p:nvSpPr>
        <p:spPr>
          <a:xfrm>
            <a:off x="571500" y="3343275"/>
            <a:ext cx="323850" cy="952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050">
                <a:solidFill>
                  <a:srgbClr val="C05F38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sz="1050">
              <a:solidFill>
                <a:srgbClr val="C05F3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4" name="文本框 333" descr="{&quot;isTemplate&quot;:true,&quot;type&quot;:&quot;text&quot;}"/>
          <p:cNvSpPr txBox="1"/>
          <p:nvPr/>
        </p:nvSpPr>
        <p:spPr>
          <a:xfrm>
            <a:off x="895350" y="3343275"/>
            <a:ext cx="50101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F2B26"/>
                </a:solidFill>
                <a:latin typeface="微软雅黑" panose="020B0503020204020204" charset="-122"/>
                <a:ea typeface="微软雅黑" panose="020B0503020204020204" charset="-122"/>
              </a:rPr>
              <a:t>没有服务器，就没有变现压力</a:t>
            </a:r>
            <a:endParaRPr lang="zh-CN" sz="1500" b="1">
              <a:solidFill>
                <a:srgbClr val="1F2B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5" name="文本框 334" descr="{&quot;isTemplate&quot;:true,&quot;type&quot;:&quot;text&quot;}"/>
          <p:cNvSpPr txBox="1"/>
          <p:nvPr/>
        </p:nvSpPr>
        <p:spPr>
          <a:xfrm>
            <a:off x="895350" y="3629025"/>
            <a:ext cx="5010150" cy="6667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安装包</a:t>
            </a:r>
            <a:r>
              <a:rPr lang="en-US" sz="135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 0.49 MB</a:t>
            </a:r>
            <a:r>
              <a:rPr lang="zh-CN" sz="135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、无后台成本，分发边际成本接近零。可以先长期免费运营，而不是被每月账单推着做商业化。</a:t>
            </a:r>
            <a:endParaRPr lang="zh-CN" sz="1350">
              <a:solidFill>
                <a:srgbClr val="5C6B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6" name="任意多边形 335"/>
          <p:cNvSpPr/>
          <p:nvPr/>
        </p:nvSpPr>
        <p:spPr>
          <a:xfrm>
            <a:off x="571500" y="4438650"/>
            <a:ext cx="5334000" cy="1276350"/>
          </a:xfrm>
          <a:custGeom>
            <a:avLst/>
            <a:gdLst/>
            <a:ahLst/>
            <a:cxnLst/>
            <a:pathLst>
              <a:path w="560" h="134">
                <a:moveTo>
                  <a:pt x="0" y="0"/>
                </a:moveTo>
                <a:lnTo>
                  <a:pt x="560" y="0"/>
                </a:lnTo>
                <a:lnTo>
                  <a:pt x="56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6DF"/>
          </a:solidFill>
        </p:spPr>
        <p:txBody>
          <a:bodyPr/>
          <a:p/>
        </p:txBody>
      </p:sp>
      <p:sp>
        <p:nvSpPr>
          <p:cNvPr id="337" name="任意多边形 336"/>
          <p:cNvSpPr/>
          <p:nvPr/>
        </p:nvSpPr>
        <p:spPr>
          <a:xfrm>
            <a:off x="571500" y="4438650"/>
            <a:ext cx="5334000" cy="1276350"/>
          </a:xfrm>
          <a:custGeom>
            <a:avLst/>
            <a:gdLst/>
            <a:ahLst/>
            <a:cxnLst/>
            <a:pathLst>
              <a:path w="560" h="134">
                <a:moveTo>
                  <a:pt x="0" y="133"/>
                </a:moveTo>
                <a:lnTo>
                  <a:pt x="560" y="133"/>
                </a:lnTo>
                <a:lnTo>
                  <a:pt x="560" y="134"/>
                </a:lnTo>
                <a:lnTo>
                  <a:pt x="0" y="134"/>
                </a:lnTo>
                <a:close/>
              </a:path>
            </a:pathLst>
          </a:custGeom>
          <a:solidFill>
            <a:srgbClr val="E2E6DF"/>
          </a:solidFill>
        </p:spPr>
        <p:txBody>
          <a:bodyPr/>
          <a:p/>
        </p:txBody>
      </p:sp>
      <p:sp>
        <p:nvSpPr>
          <p:cNvPr id="338" name="文本框 337" descr="{&quot;isTemplate&quot;:true,&quot;type&quot;:&quot;text&quot;}"/>
          <p:cNvSpPr txBox="1"/>
          <p:nvPr/>
        </p:nvSpPr>
        <p:spPr>
          <a:xfrm>
            <a:off x="571500" y="4591050"/>
            <a:ext cx="323850" cy="952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050">
                <a:solidFill>
                  <a:srgbClr val="C05F38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sz="1050">
              <a:solidFill>
                <a:srgbClr val="C05F3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9" name="文本框 338" descr="{&quot;isTemplate&quot;:true,&quot;type&quot;:&quot;text&quot;}"/>
          <p:cNvSpPr txBox="1"/>
          <p:nvPr/>
        </p:nvSpPr>
        <p:spPr>
          <a:xfrm>
            <a:off x="895350" y="4591050"/>
            <a:ext cx="50101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F2B26"/>
                </a:solidFill>
                <a:latin typeface="微软雅黑" panose="020B0503020204020204" charset="-122"/>
                <a:ea typeface="微软雅黑" panose="020B0503020204020204" charset="-122"/>
              </a:rPr>
              <a:t>付费功能排在留存之后</a:t>
            </a:r>
            <a:endParaRPr lang="zh-CN" sz="1500" b="1">
              <a:solidFill>
                <a:srgbClr val="1F2B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0" name="文本框 339" descr="{&quot;isTemplate&quot;:true,&quot;type&quot;:&quot;text&quot;}"/>
          <p:cNvSpPr txBox="1"/>
          <p:nvPr/>
        </p:nvSpPr>
        <p:spPr>
          <a:xfrm>
            <a:off x="895350" y="4876800"/>
            <a:ext cx="5010150" cy="6667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当前版本已真实上架、</a:t>
            </a:r>
            <a:r>
              <a:rPr lang="en-US" sz="135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128 </a:t>
            </a:r>
            <a:r>
              <a:rPr lang="zh-CN" sz="135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项平台用例全通过。先证明有人持续记录，再让用户为这份记录付费。</a:t>
            </a:r>
            <a:endParaRPr lang="zh-CN" sz="1350">
              <a:solidFill>
                <a:srgbClr val="5C6B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1" name="文本框 340" descr="{&quot;isTemplate&quot;:true,&quot;type&quot;:&quot;text&quot;}"/>
          <p:cNvSpPr txBox="1"/>
          <p:nvPr/>
        </p:nvSpPr>
        <p:spPr>
          <a:xfrm>
            <a:off x="6438900" y="1666875"/>
            <a:ext cx="51816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75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付费点来自「已经攒下的记录」，不是新功能</a:t>
            </a:r>
            <a:endParaRPr lang="zh-CN" sz="1050" spc="75">
              <a:solidFill>
                <a:srgbClr val="7C8A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2" name="文本框 341" descr="{&quot;isTemplate&quot;:true,&quot;type&quot;:&quot;text&quot;}"/>
          <p:cNvSpPr txBox="1"/>
          <p:nvPr/>
        </p:nvSpPr>
        <p:spPr>
          <a:xfrm>
            <a:off x="6438900" y="1924050"/>
            <a:ext cx="5181600" cy="7048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350">
                <a:solidFill>
                  <a:srgbClr val="3B4A41"/>
                </a:solidFill>
                <a:latin typeface="微软雅黑" panose="020B0503020204020204" charset="-122"/>
                <a:ea typeface="微软雅黑" panose="020B0503020204020204" charset="-122"/>
              </a:rPr>
              <a:t>记满一年之后，最贵的东西是那批记录本身。会员卖的是三件事：</a:t>
            </a:r>
            <a:r>
              <a:rPr lang="zh-CN" sz="1350" b="1">
                <a:solidFill>
                  <a:srgbClr val="C05F38"/>
                </a:solidFill>
                <a:latin typeface="微软雅黑" panose="020B0503020204020204" charset="-122"/>
                <a:ea typeface="微软雅黑" panose="020B0503020204020204" charset="-122"/>
              </a:rPr>
              <a:t>不丢、不分家、不用自己整理</a:t>
            </a:r>
            <a:r>
              <a:rPr lang="zh-CN" sz="1350">
                <a:solidFill>
                  <a:srgbClr val="3B4A41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350">
              <a:solidFill>
                <a:srgbClr val="3B4A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3" name="圆角矩形 342"/>
          <p:cNvSpPr/>
          <p:nvPr/>
        </p:nvSpPr>
        <p:spPr>
          <a:xfrm>
            <a:off x="6438900" y="2781300"/>
            <a:ext cx="5181600" cy="952500"/>
          </a:xfrm>
          <a:prstGeom prst="roundRect">
            <a:avLst>
              <a:gd name="adj" fmla="val 8000"/>
            </a:avLst>
          </a:prstGeom>
          <a:solidFill>
            <a:srgbClr val="EDF2EA"/>
          </a:solidFill>
        </p:spPr>
        <p:txBody>
          <a:bodyPr/>
          <a:p/>
        </p:txBody>
      </p:sp>
      <p:sp>
        <p:nvSpPr>
          <p:cNvPr id="344" name="文本框 343" descr="{&quot;isTemplate&quot;:true,&quot;type&quot;:&quot;text&quot;}"/>
          <p:cNvSpPr txBox="1"/>
          <p:nvPr/>
        </p:nvSpPr>
        <p:spPr>
          <a:xfrm>
            <a:off x="6629400" y="2971800"/>
            <a:ext cx="4476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13">
                <a:solidFill>
                  <a:srgbClr val="2C4A3F"/>
                </a:solidFill>
                <a:latin typeface="微软雅黑" panose="020B0503020204020204" charset="-122"/>
                <a:ea typeface="微软雅黑" panose="020B0503020204020204" charset="-122"/>
              </a:rPr>
              <a:t>免费层</a:t>
            </a:r>
            <a:endParaRPr lang="zh-CN" sz="1050" spc="113">
              <a:solidFill>
                <a:srgbClr val="2C4A3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5" name="文本框 344" descr="{&quot;isTemplate&quot;:true,&quot;type&quot;:&quot;text&quot;}"/>
          <p:cNvSpPr txBox="1"/>
          <p:nvPr/>
        </p:nvSpPr>
        <p:spPr>
          <a:xfrm>
            <a:off x="7172325" y="2971800"/>
            <a:ext cx="4000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已交付</a:t>
            </a:r>
            <a:endParaRPr lang="zh-CN" sz="1050">
              <a:solidFill>
                <a:srgbClr val="7C8A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6" name="文本框 345" descr="{&quot;isTemplate&quot;:true,&quot;type&quot;:&quot;text&quot;}"/>
          <p:cNvSpPr txBox="1"/>
          <p:nvPr/>
        </p:nvSpPr>
        <p:spPr>
          <a:xfrm>
            <a:off x="6629400" y="3209925"/>
            <a:ext cx="4800600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2E3B34"/>
                </a:solidFill>
                <a:latin typeface="微软雅黑" panose="020B0503020204020204" charset="-122"/>
                <a:ea typeface="微软雅黑" panose="020B0503020204020204" charset="-122"/>
              </a:rPr>
              <a:t>本机人物与事件记录</a:t>
            </a:r>
            <a:r>
              <a:rPr lang="en-US" sz="1350">
                <a:solidFill>
                  <a:srgbClr val="2E3B34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350">
                <a:solidFill>
                  <a:srgbClr val="2E3B34"/>
                </a:solidFill>
                <a:latin typeface="微软雅黑" panose="020B0503020204020204" charset="-122"/>
                <a:ea typeface="微软雅黑" panose="020B0503020204020204" charset="-122"/>
              </a:rPr>
              <a:t>三种关系图谱</a:t>
            </a:r>
            <a:r>
              <a:rPr lang="en-US" sz="1350">
                <a:solidFill>
                  <a:srgbClr val="2E3B34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350">
                <a:solidFill>
                  <a:srgbClr val="2E3B34"/>
                </a:solidFill>
                <a:latin typeface="微软雅黑" panose="020B0503020204020204" charset="-122"/>
                <a:ea typeface="微软雅黑" panose="020B0503020204020204" charset="-122"/>
              </a:rPr>
              <a:t>桌面卡片</a:t>
            </a:r>
            <a:r>
              <a:rPr lang="en-US" sz="1350">
                <a:solidFill>
                  <a:srgbClr val="2E3B34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350">
                <a:solidFill>
                  <a:srgbClr val="2E3B34"/>
                </a:solidFill>
                <a:latin typeface="微软雅黑" panose="020B0503020204020204" charset="-122"/>
                <a:ea typeface="微软雅黑" panose="020B0503020204020204" charset="-122"/>
              </a:rPr>
              <a:t>本地</a:t>
            </a:r>
            <a:r>
              <a:rPr lang="en-US" sz="1350">
                <a:solidFill>
                  <a:srgbClr val="2E3B34"/>
                </a:solidFill>
                <a:latin typeface="微软雅黑" panose="020B0503020204020204" charset="-122"/>
                <a:ea typeface="微软雅黑" panose="020B0503020204020204" charset="-122"/>
              </a:rPr>
              <a:t> ZIP </a:t>
            </a:r>
            <a:r>
              <a:rPr lang="zh-CN" sz="1350">
                <a:solidFill>
                  <a:srgbClr val="2E3B34"/>
                </a:solidFill>
                <a:latin typeface="微软雅黑" panose="020B0503020204020204" charset="-122"/>
                <a:ea typeface="微软雅黑" panose="020B0503020204020204" charset="-122"/>
              </a:rPr>
              <a:t>备份</a:t>
            </a:r>
            <a:endParaRPr lang="zh-CN" sz="1350">
              <a:solidFill>
                <a:srgbClr val="2E3B3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7" name="圆角矩形 346"/>
          <p:cNvSpPr/>
          <p:nvPr/>
        </p:nvSpPr>
        <p:spPr>
          <a:xfrm>
            <a:off x="6438900" y="3848100"/>
            <a:ext cx="5181600" cy="952500"/>
          </a:xfrm>
          <a:prstGeom prst="roundRect">
            <a:avLst>
              <a:gd name="adj" fmla="val 8000"/>
            </a:avLst>
          </a:prstGeom>
          <a:solidFill>
            <a:srgbClr val="2C4A3F"/>
          </a:solidFill>
        </p:spPr>
        <p:txBody>
          <a:bodyPr/>
          <a:p/>
        </p:txBody>
      </p:sp>
      <p:sp>
        <p:nvSpPr>
          <p:cNvPr id="348" name="文本框 347" descr="{&quot;isTemplate&quot;:true,&quot;type&quot;:&quot;text&quot;}"/>
          <p:cNvSpPr txBox="1"/>
          <p:nvPr/>
        </p:nvSpPr>
        <p:spPr>
          <a:xfrm>
            <a:off x="6629400" y="4038600"/>
            <a:ext cx="4476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13">
                <a:solidFill>
                  <a:srgbClr val="D79A73"/>
                </a:solidFill>
                <a:latin typeface="微软雅黑" panose="020B0503020204020204" charset="-122"/>
                <a:ea typeface="微软雅黑" panose="020B0503020204020204" charset="-122"/>
              </a:rPr>
              <a:t>会员层</a:t>
            </a:r>
            <a:endParaRPr lang="zh-CN" sz="1050" spc="113">
              <a:solidFill>
                <a:srgbClr val="D79A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9" name="文本框 348" descr="{&quot;isTemplate&quot;:true,&quot;type&quot;:&quot;text&quot;}"/>
          <p:cNvSpPr txBox="1"/>
          <p:nvPr/>
        </p:nvSpPr>
        <p:spPr>
          <a:xfrm>
            <a:off x="7172325" y="4038600"/>
            <a:ext cx="4000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DB3A2"/>
                </a:solidFill>
                <a:latin typeface="微软雅黑" panose="020B0503020204020204" charset="-122"/>
                <a:ea typeface="微软雅黑" panose="020B0503020204020204" charset="-122"/>
              </a:rPr>
              <a:t>规划中</a:t>
            </a:r>
            <a:endParaRPr lang="zh-CN" sz="1050">
              <a:solidFill>
                <a:srgbClr val="9DB3A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0" name="文本框 349" descr="{&quot;isTemplate&quot;:true,&quot;type&quot;:&quot;text&quot;}"/>
          <p:cNvSpPr txBox="1"/>
          <p:nvPr/>
        </p:nvSpPr>
        <p:spPr>
          <a:xfrm>
            <a:off x="6629400" y="4276725"/>
            <a:ext cx="4800600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350">
                <a:solidFill>
                  <a:srgbClr val="F0F3EC"/>
                </a:solidFill>
                <a:latin typeface="微软雅黑" panose="020B0503020204020204" charset="-122"/>
                <a:ea typeface="微软雅黑" panose="020B0503020204020204" charset="-122"/>
              </a:rPr>
              <a:t>AI </a:t>
            </a:r>
            <a:r>
              <a:rPr lang="zh-CN" sz="1350">
                <a:solidFill>
                  <a:srgbClr val="F0F3EC"/>
                </a:solidFill>
                <a:latin typeface="微软雅黑" panose="020B0503020204020204" charset="-122"/>
                <a:ea typeface="微软雅黑" panose="020B0503020204020204" charset="-122"/>
              </a:rPr>
              <a:t>助手</a:t>
            </a:r>
            <a:r>
              <a:rPr lang="en-US" sz="1350">
                <a:solidFill>
                  <a:srgbClr val="F0F3EC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350">
                <a:solidFill>
                  <a:srgbClr val="F0F3EC"/>
                </a:solidFill>
                <a:latin typeface="微软雅黑" panose="020B0503020204020204" charset="-122"/>
                <a:ea typeface="微软雅黑" panose="020B0503020204020204" charset="-122"/>
              </a:rPr>
              <a:t>云端备份与多端同步</a:t>
            </a:r>
            <a:r>
              <a:rPr lang="en-US" sz="1350">
                <a:solidFill>
                  <a:srgbClr val="F0F3EC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350">
                <a:solidFill>
                  <a:srgbClr val="F0F3EC"/>
                </a:solidFill>
                <a:latin typeface="微软雅黑" panose="020B0503020204020204" charset="-122"/>
                <a:ea typeface="微软雅黑" panose="020B0503020204020204" charset="-122"/>
              </a:rPr>
              <a:t>一键导出与跨平台迁移</a:t>
            </a:r>
            <a:endParaRPr lang="zh-CN" sz="1350">
              <a:solidFill>
                <a:srgbClr val="F0F3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1" name="任意多边形 350"/>
          <p:cNvSpPr/>
          <p:nvPr/>
        </p:nvSpPr>
        <p:spPr>
          <a:xfrm>
            <a:off x="6438900" y="4914900"/>
            <a:ext cx="5181600" cy="714375"/>
          </a:xfrm>
          <a:custGeom>
            <a:avLst/>
            <a:gdLst/>
            <a:ahLst/>
            <a:cxnLst/>
            <a:pathLst>
              <a:path w="544" h="75">
                <a:moveTo>
                  <a:pt x="0" y="0"/>
                </a:moveTo>
                <a:lnTo>
                  <a:pt x="544" y="0"/>
                </a:lnTo>
                <a:lnTo>
                  <a:pt x="544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6DF"/>
          </a:solidFill>
        </p:spPr>
        <p:txBody>
          <a:bodyPr/>
          <a:p/>
        </p:txBody>
      </p:sp>
      <p:sp>
        <p:nvSpPr>
          <p:cNvPr id="352" name="任意多边形 351"/>
          <p:cNvSpPr/>
          <p:nvPr/>
        </p:nvSpPr>
        <p:spPr>
          <a:xfrm>
            <a:off x="6438900" y="4914900"/>
            <a:ext cx="5181600" cy="714375"/>
          </a:xfrm>
          <a:custGeom>
            <a:avLst/>
            <a:gdLst/>
            <a:ahLst/>
            <a:cxnLst/>
            <a:pathLst>
              <a:path w="544" h="75">
                <a:moveTo>
                  <a:pt x="0" y="74"/>
                </a:moveTo>
                <a:lnTo>
                  <a:pt x="544" y="74"/>
                </a:lnTo>
                <a:lnTo>
                  <a:pt x="544" y="75"/>
                </a:lnTo>
                <a:lnTo>
                  <a:pt x="0" y="75"/>
                </a:lnTo>
                <a:close/>
              </a:path>
            </a:pathLst>
          </a:custGeom>
          <a:solidFill>
            <a:srgbClr val="E2E6DF"/>
          </a:solidFill>
        </p:spPr>
        <p:txBody>
          <a:bodyPr/>
          <a:p/>
        </p:txBody>
      </p:sp>
      <p:sp>
        <p:nvSpPr>
          <p:cNvPr id="353" name="文本框 352" descr="{&quot;isTemplate&quot;:true,&quot;type&quot;:&quot;text&quot;}"/>
          <p:cNvSpPr txBox="1"/>
          <p:nvPr/>
        </p:nvSpPr>
        <p:spPr>
          <a:xfrm>
            <a:off x="6438900" y="5057775"/>
            <a:ext cx="51816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AA69D"/>
                </a:solidFill>
                <a:latin typeface="微软雅黑" panose="020B0503020204020204" charset="-122"/>
                <a:ea typeface="微软雅黑" panose="020B0503020204020204" charset="-122"/>
              </a:rPr>
              <a:t>启动前提</a:t>
            </a:r>
            <a:endParaRPr lang="zh-CN" sz="1050">
              <a:solidFill>
                <a:srgbClr val="9AA69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4" name="文本框 353" descr="{&quot;isTemplate&quot;:true,&quot;type&quot;:&quot;text&quot;}"/>
          <p:cNvSpPr txBox="1"/>
          <p:nvPr/>
        </p:nvSpPr>
        <p:spPr>
          <a:xfrm>
            <a:off x="6438900" y="5257800"/>
            <a:ext cx="51816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E3B34"/>
                </a:solidFill>
                <a:latin typeface="微软雅黑" panose="020B0503020204020204" charset="-122"/>
                <a:ea typeface="微软雅黑" panose="020B0503020204020204" charset="-122"/>
              </a:rPr>
              <a:t>留存达到门槛后才投入服务端成本，不为「先把功能做出来」烧钱</a:t>
            </a:r>
            <a:endParaRPr lang="zh-CN" sz="1350">
              <a:solidFill>
                <a:srgbClr val="2E3B3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5" name="文本框 354" descr="{&quot;isTemplate&quot;:true,&quot;type&quot;:&quot;text&quot;}"/>
          <p:cNvSpPr txBox="1"/>
          <p:nvPr/>
        </p:nvSpPr>
        <p:spPr>
          <a:xfrm>
            <a:off x="571500" y="5905500"/>
            <a:ext cx="11049000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3B4A41"/>
                </a:solidFill>
                <a:latin typeface="微软雅黑" panose="020B0503020204020204" charset="-122"/>
                <a:ea typeface="微软雅黑" panose="020B0503020204020204" charset="-122"/>
              </a:rPr>
              <a:t>同赛道常见做法是「先联网、先讲</a:t>
            </a:r>
            <a:r>
              <a:rPr lang="en-US" sz="1350">
                <a:solidFill>
                  <a:srgbClr val="3B4A41"/>
                </a:solidFill>
                <a:latin typeface="微软雅黑" panose="020B0503020204020204" charset="-122"/>
                <a:ea typeface="微软雅黑" panose="020B0503020204020204" charset="-122"/>
              </a:rPr>
              <a:t> AI</a:t>
            </a:r>
            <a:r>
              <a:rPr lang="zh-CN" sz="1350">
                <a:solidFill>
                  <a:srgbClr val="3B4A41"/>
                </a:solidFill>
                <a:latin typeface="微软雅黑" panose="020B0503020204020204" charset="-122"/>
                <a:ea typeface="微软雅黑" panose="020B0503020204020204" charset="-122"/>
              </a:rPr>
              <a:t>」；我们反过来——先用零联网成本把用户攒起来，再让一部分人为确定性的省事付钱。</a:t>
            </a:r>
            <a:endParaRPr lang="zh-CN" sz="1350">
              <a:solidFill>
                <a:srgbClr val="3B4A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6" name="文本框 355" descr="{&quot;isTemplate&quot;:true,&quot;type&quot;:&quot;text&quot;}"/>
          <p:cNvSpPr txBox="1"/>
          <p:nvPr/>
        </p:nvSpPr>
        <p:spPr>
          <a:xfrm>
            <a:off x="571500" y="6400800"/>
            <a:ext cx="13049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AA69D"/>
                </a:solidFill>
                <a:latin typeface="微软雅黑" panose="020B0503020204020204" charset="-122"/>
                <a:ea typeface="微软雅黑" panose="020B0503020204020204" charset="-122"/>
              </a:rPr>
              <a:t>Life Graph · </a:t>
            </a:r>
            <a:r>
              <a:rPr lang="zh-CN" sz="1050">
                <a:solidFill>
                  <a:srgbClr val="9AA69D"/>
                </a:solidFill>
                <a:latin typeface="微软雅黑" panose="020B0503020204020204" charset="-122"/>
                <a:ea typeface="微软雅黑" panose="020B0503020204020204" charset="-122"/>
              </a:rPr>
              <a:t>生活脉络</a:t>
            </a:r>
            <a:endParaRPr lang="zh-CN" sz="1050">
              <a:solidFill>
                <a:srgbClr val="9AA69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7" name="文本框 356" descr="{&quot;isTemplate&quot;:true,&quot;type&quot;:&quot;text&quot;}"/>
          <p:cNvSpPr txBox="1"/>
          <p:nvPr/>
        </p:nvSpPr>
        <p:spPr>
          <a:xfrm>
            <a:off x="11458575" y="6400800"/>
            <a:ext cx="1619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AA69D"/>
                </a:solidFill>
                <a:latin typeface="微软雅黑" panose="020B0503020204020204" charset="-122"/>
                <a:ea typeface="微软雅黑" panose="020B0503020204020204" charset="-122"/>
              </a:rPr>
              <a:t>21</a:t>
            </a:r>
            <a:endParaRPr lang="en-US" sz="1050">
              <a:solidFill>
                <a:srgbClr val="9AA69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8" name="" descr="&lt;Slide style={{ width: 1280, height: 720, background: '#FAF8F2', padding: '60px', display: 'flex', flexDirection: 'column', fontFamily: 'Microsoft YaHei' }}&gt;&#13;&#10;&#13;&#10;    &lt;Box style={{ flexDirection: 'row', alignItems: 'center', gap: 10 }}&gt;&#13;&#10;        &lt;Box style={{ width: 6, height: 6, borderRadius: 3, background: '#C05F38' }} /&gt;&#13;&#10;        &lt;Text style={{ fontSize: 14, color: '#7C8A81', letterSpacing: 1.5 }}&gt;06 — 商业价值 · 会员功能&lt;/Text&gt;&#13;&#10;    &lt;/Box&gt;&#13;&#10;    &lt;Text style={{ fontSize: 34, fontWeight: 'bold', color: '#1F2B26', lineHeight: 1.2, marginTop: 8 }}&gt;会员三件套：AI 助手、云端备份、一键迁移&lt;/Text&gt;&#13;&#10;    &lt;Box style={{ height: 1, background: '#D9DFD7', marginTop: 16, marginBottom: 24 }} /&gt;&#13;&#10;&#13;&#10;    &lt;Box style={{ flexDirection: 'row', gap: 25 }}&gt;&#13;&#10;&#13;&#10;        &lt;Box style={{ width: 370, background: '#EDF2EA', borderRadius: 8, padding: 20 }}&gt;&#13;&#10;            &lt;Text style={{ fontSize: 14, color: '#C05F38', letterSpacing: 2 }}&gt;01&lt;/Text&gt;&#13;&#10;            &lt;Text style={{ fontSize: 24, fontWeight: 'bold', color: '#1F2B26', marginTop: 6 }}&gt;AI 助手&lt;/Text&gt;&#13;&#10;            &lt;Box style={{ height: 1, background: '#D5DFD3', marginTop: 12, marginBottom: 12 }} /&gt;&#13;&#10;            &lt;Text style={{ fontSize: 13, color: '#7C8A81', letterSpacing: 1 }}&gt;解决什么&lt;/Text&gt;&#13;&#10;            &lt;Text style={{ fontSize: 17, color: '#3B4A41', lineHeight: 1.6, marginTop: 5 }}&gt;访谈中「记录琐碎、整理耗时」被反复提到。让用户说一句「上周和阿岚吃饭」，自动落到人物、时间与关系。&lt;/Text&gt;&#13;&#10;            &lt;Text style={{ fontSize: 13, color: '#7C8A81', letterSpacing: 1, marginTop: 10 }}&gt;会员权益&lt;/Text&gt;&#13;&#10;            &lt;Text style={{ fontSize: 17, color: '#3B4A41', lineHeight: 1.6, marginTop: 5 }}&gt;自然语言记录、自动归类，以及按人或按时间生成的阶段回顾。&lt;/Text&gt;&#13;&#10;            &lt;Text style={{ fontSize: 13, color: '#7C8A81', letterSpacing: 1, marginTop: 10 }}&gt;为什么值钱 / 靠什么实现&lt;/Text&gt;&#13;&#10;            &lt;Text style={{ fontSize: 17, color: '#3B4A41', lineHeight: 1.6, marginTop: 5 }}&gt;在线推理有调用成本，无法塞进零服务端版本。本机已保留助手的纯逻辑与数据结构用于兼容，接入时不改变本地存储边界，上传范围由用户选择。&lt;/Text&gt;&#13;&#10;        &lt;/Box&gt;&#13;&#10;&#13;&#10;        &lt;Box style={{ width: 370, background: '#EDF2EA', borderRadius: 8, padding: 20 }}&gt;&#13;&#10;            &lt;Text style={{ fontSize: 14, color: '#C05F38', letterSpacing: 2 }}&gt;02&lt;/Text&gt;&#13;&#10;            &lt;Text style={{ fontSize: 24, fontWeight: 'bold', color: '#1F2B26', marginTop: 6 }}&gt;云端备份与多端同步&lt;/Text&gt;&#13;&#10;            &lt;Box style={{ height: 1, background: '#D5DFD3', marginTop: 12, marginBottom: 12 }} /&gt;&#13;&#10;            &lt;Text style={{ fontSize: 13, color: '#7C8A81', letterSpacing: 1 }}&gt;解决什么&lt;/Text&gt;&#13;&#10;            &lt;Text style={{ fontSize: 17, color: '#3B4A41', lineHeight: 1.6, marginTop: 5 }}&gt;换机即丢、手机上记的平板看不到。现有备份是手动 ZIP，只能在本机恢复。&lt;/Text&gt;&#13;&#10;            &lt;Text style={{ fontSize: 13, color: '#7C8A81', letterSpacing: 1, marginTop: 10 }}&gt;会员权益&lt;/Text&gt;&#13;&#10;            &lt;Text style={{ fontSize: 17, color: '#3B4A41', lineHeight: 1.6, marginTop: 5 }}&gt;后台增量同步、多设备同一份脉络、误删可在时间上回溯。&lt;/Text&gt;&#13;&#10;            &lt;Text style={{ fontSize: 13, color: '#7C8A81', letterSpacing: 1, marginTop: 10 }}&gt;为什么值钱 / 靠什么实现&lt;/Text&gt;&#13;&#10;            &lt;Text style={{ fontSize: 17, color: '#3B4A41', lineHeight: 1.6, marginTop: 5 }}&gt;这是唯一有持续服务器成本的项目，天然构成会员核心权益。底层已有按 12 张表的导出与恢复校验，同步只需在其上增量。&lt;/Text&gt;&#13;&#10;        &lt;/Box&gt;&#13;&#10;&#13;&#10;        &lt;Box style={{ width: 370, background: '#2C4A3F', borderRadius: 8, padding: 20 }}&gt;&#13;&#10;            &lt;Text style={{ fontSize: 14, color: '#D79A73', letterSpacing: 2 }}&gt;03&lt;/Text&gt;&#13;&#10;            &lt;Text style={{ fontSize: 24, fontWeight: 'bold', color: '#F5F2E8', marginTop: 6 }}&gt;一键导出与迁移&lt;/Text&gt;&#13;&#10;            &lt;Box style={{ height: 1, background: '#42604F', marginTop: 12, marginBottom: 12 }} /&gt;&#13;&#10;            &lt;Text style={{ fontSize: 13, color: '#9DB3A2', letterSpacing: 1 }}&gt;解决什么&lt;/Text&gt;&#13;&#10;            &lt;Text style={{ fontSize: 17, color: '#DCE5DC', lineHeight: 1.6, marginTop: 5 }}&gt;现有 ZIP 无加密、清单上限 16 MB，也不能按人物或时间范围选择——退不出的数据，用户反而不敢往里放。&lt;/Text&gt;&#13;&#10;            &lt;Text style={{ fontSize: 13, color: '#9DB3A2', letterSpacing: 1, marginTop: 10 }}&gt;会员权益&lt;/Text&gt;&#13;&#10;            &lt;Text style={{ fontSize: 17, color: '#DCE5DC', lineHeight: 1.6, marginTop: 5 }}&gt;加密备份、按范围选择性导出、输出 JSON / Markdown / 相册等通用格式，可迁入也可迁出。&lt;/Text&gt;&#13;&#10;            &lt;Text style={{ fontSize: 13, color: '#9DB3A2', letterSpacing: 1, marginTop: 10 }}&gt;为什么值钱 / 靠什么实现&lt;/Text&gt;&#13;&#10;            &lt;Text style={{ fontSize: 17, color: '#DCE5DC', lineHeight: 1.6, marginTop: 5 }}&gt;NativeBackup 与 StoredZip 已实现流式读写、数量预览与校验，导出管线是现成的，会员版只做加密与格式层。&lt;/Text&gt;&#13;&#10;        &lt;/Box&gt;&#13;&#10;    &lt;/Box&gt;&#13;&#10;&#13;&#10;    &lt;Text style={{ fontSize: 17, color: '#5C6B62', lineHeight: 1.6, marginTop: 14 }}&gt;三项都建立在同一条原则上：本机已有的能力不收费，收费的是「要连服务器」或「替你省时间」的那一部分。&lt;/Text&gt;&#13;&#10;&#13;&#10;    &lt;Box style={{ position: 'absolute', left: 60, right: 60, bottom: 30, height: 20, flexDirection: 'row', justifyContent: 'space-between', alignItems: 'center' }}&gt;&#13;&#10;        &lt;Text style={{ fontSize: 14, color: '#9AA69D' }}&gt;Life Graph · 生活脉络&lt;/Text&gt;&#13;&#10;        &lt;Text style={{ fontSize: 14, color: '#9AA69D' }}&gt;22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矩形 35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8F2"/>
          </a:solidFill>
        </p:spPr>
        <p:txBody>
          <a:bodyPr/>
          <a:p/>
        </p:txBody>
      </p:sp>
      <p:sp>
        <p:nvSpPr>
          <p:cNvPr id="360" name="圆角矩形 359"/>
          <p:cNvSpPr/>
          <p:nvPr/>
        </p:nvSpPr>
        <p:spPr>
          <a:xfrm>
            <a:off x="571500" y="6286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C05F38"/>
          </a:solidFill>
        </p:spPr>
        <p:txBody>
          <a:bodyPr/>
          <a:p/>
        </p:txBody>
      </p:sp>
      <p:sp>
        <p:nvSpPr>
          <p:cNvPr id="361" name="文本框 360" descr="{&quot;isTemplate&quot;:true,&quot;type&quot;:&quot;text&quot;}"/>
          <p:cNvSpPr txBox="1"/>
          <p:nvPr/>
        </p:nvSpPr>
        <p:spPr>
          <a:xfrm>
            <a:off x="723900" y="571500"/>
            <a:ext cx="17907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13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06 — </a:t>
            </a:r>
            <a:r>
              <a:rPr lang="zh-CN" sz="1050" spc="113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商业价值</a:t>
            </a:r>
            <a:r>
              <a:rPr lang="en-US" sz="1050" spc="113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050" spc="113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会员功能</a:t>
            </a:r>
            <a:endParaRPr lang="zh-CN" sz="1050" spc="113">
              <a:solidFill>
                <a:srgbClr val="7C8A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2" name="文本框 361" descr="{&quot;isTemplate&quot;:true,&quot;type&quot;:&quot;text&quot;}"/>
          <p:cNvSpPr txBox="1"/>
          <p:nvPr/>
        </p:nvSpPr>
        <p:spPr>
          <a:xfrm>
            <a:off x="571500" y="809625"/>
            <a:ext cx="11049000" cy="4667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F2B26"/>
                </a:solidFill>
                <a:latin typeface="微软雅黑" panose="020B0503020204020204" charset="-122"/>
                <a:ea typeface="微软雅黑" panose="020B0503020204020204" charset="-122"/>
              </a:rPr>
              <a:t>会员三件套：</a:t>
            </a:r>
            <a:r>
              <a:rPr lang="en-US" sz="2550" b="1">
                <a:solidFill>
                  <a:srgbClr val="1F2B26"/>
                </a:solidFill>
                <a:latin typeface="微软雅黑" panose="020B0503020204020204" charset="-122"/>
                <a:ea typeface="微软雅黑" panose="020B0503020204020204" charset="-122"/>
              </a:rPr>
              <a:t>AI </a:t>
            </a:r>
            <a:r>
              <a:rPr lang="zh-CN" sz="2550" b="1">
                <a:solidFill>
                  <a:srgbClr val="1F2B26"/>
                </a:solidFill>
                <a:latin typeface="微软雅黑" panose="020B0503020204020204" charset="-122"/>
                <a:ea typeface="微软雅黑" panose="020B0503020204020204" charset="-122"/>
              </a:rPr>
              <a:t>助手、云端备份、一键迁移</a:t>
            </a:r>
            <a:endParaRPr lang="zh-CN" sz="2550" b="1">
              <a:solidFill>
                <a:srgbClr val="1F2B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3" name="矩形 362"/>
          <p:cNvSpPr/>
          <p:nvPr/>
        </p:nvSpPr>
        <p:spPr>
          <a:xfrm>
            <a:off x="571500" y="1428750"/>
            <a:ext cx="11049000" cy="9525"/>
          </a:xfrm>
          <a:prstGeom prst="rect">
            <a:avLst/>
          </a:prstGeom>
          <a:solidFill>
            <a:srgbClr val="D9DFD7"/>
          </a:solidFill>
        </p:spPr>
        <p:txBody>
          <a:bodyPr/>
          <a:p/>
        </p:txBody>
      </p:sp>
      <p:sp>
        <p:nvSpPr>
          <p:cNvPr id="364" name="圆角矩形 363"/>
          <p:cNvSpPr/>
          <p:nvPr/>
        </p:nvSpPr>
        <p:spPr>
          <a:xfrm>
            <a:off x="571500" y="1666875"/>
            <a:ext cx="3524250" cy="4714875"/>
          </a:xfrm>
          <a:prstGeom prst="roundRect">
            <a:avLst>
              <a:gd name="adj" fmla="val 2162"/>
            </a:avLst>
          </a:prstGeom>
          <a:solidFill>
            <a:srgbClr val="EDF2EA"/>
          </a:solidFill>
        </p:spPr>
        <p:txBody>
          <a:bodyPr/>
          <a:p/>
        </p:txBody>
      </p:sp>
      <p:sp>
        <p:nvSpPr>
          <p:cNvPr id="365" name="文本框 364" descr="{&quot;isTemplate&quot;:true,&quot;type&quot;:&quot;text&quot;}"/>
          <p:cNvSpPr txBox="1"/>
          <p:nvPr/>
        </p:nvSpPr>
        <p:spPr>
          <a:xfrm>
            <a:off x="762000" y="1857375"/>
            <a:ext cx="31432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C05F38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sz="1050" spc="150">
              <a:solidFill>
                <a:srgbClr val="C05F3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6" name="文本框 365" descr="{&quot;isTemplate&quot;:true,&quot;type&quot;:&quot;text&quot;}"/>
          <p:cNvSpPr txBox="1"/>
          <p:nvPr/>
        </p:nvSpPr>
        <p:spPr>
          <a:xfrm>
            <a:off x="762000" y="2076450"/>
            <a:ext cx="31432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1F2B26"/>
                </a:solidFill>
                <a:latin typeface="微软雅黑" panose="020B0503020204020204" charset="-122"/>
                <a:ea typeface="微软雅黑" panose="020B0503020204020204" charset="-122"/>
              </a:rPr>
              <a:t>AI </a:t>
            </a:r>
            <a:r>
              <a:rPr lang="zh-CN" sz="1800" b="1">
                <a:solidFill>
                  <a:srgbClr val="1F2B26"/>
                </a:solidFill>
                <a:latin typeface="微软雅黑" panose="020B0503020204020204" charset="-122"/>
                <a:ea typeface="微软雅黑" panose="020B0503020204020204" charset="-122"/>
              </a:rPr>
              <a:t>助手</a:t>
            </a:r>
            <a:endParaRPr lang="zh-CN" sz="1800" b="1">
              <a:solidFill>
                <a:srgbClr val="1F2B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7" name="矩形 366"/>
          <p:cNvSpPr/>
          <p:nvPr/>
        </p:nvSpPr>
        <p:spPr>
          <a:xfrm>
            <a:off x="762000" y="2466975"/>
            <a:ext cx="3143250" cy="9525"/>
          </a:xfrm>
          <a:prstGeom prst="rect">
            <a:avLst/>
          </a:prstGeom>
          <a:solidFill>
            <a:srgbClr val="D5DFD3"/>
          </a:solidFill>
        </p:spPr>
        <p:txBody>
          <a:bodyPr/>
          <a:p/>
        </p:txBody>
      </p:sp>
      <p:sp>
        <p:nvSpPr>
          <p:cNvPr id="368" name="文本框 367" descr="{&quot;isTemplate&quot;:true,&quot;type&quot;:&quot;text&quot;}"/>
          <p:cNvSpPr txBox="1"/>
          <p:nvPr/>
        </p:nvSpPr>
        <p:spPr>
          <a:xfrm>
            <a:off x="762000" y="2590800"/>
            <a:ext cx="31432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解决什么</a:t>
            </a:r>
            <a:endParaRPr lang="zh-CN" sz="975" spc="75">
              <a:solidFill>
                <a:srgbClr val="7C8A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9" name="文本框 368" descr="{&quot;isTemplate&quot;:true,&quot;type&quot;:&quot;text&quot;}"/>
          <p:cNvSpPr txBox="1"/>
          <p:nvPr/>
        </p:nvSpPr>
        <p:spPr>
          <a:xfrm>
            <a:off x="762000" y="2790825"/>
            <a:ext cx="3143250" cy="933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3B4A41"/>
                </a:solidFill>
                <a:latin typeface="微软雅黑" panose="020B0503020204020204" charset="-122"/>
                <a:ea typeface="微软雅黑" panose="020B0503020204020204" charset="-122"/>
              </a:rPr>
              <a:t>访谈中「记录琐碎、整理耗时」被反复提到。让用户说一句「上周和阿岚吃饭」，自动落到人物、时间与关系。</a:t>
            </a:r>
            <a:endParaRPr lang="zh-CN" sz="1275">
              <a:solidFill>
                <a:srgbClr val="3B4A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0" name="文本框 369" descr="{&quot;isTemplate&quot;:true,&quot;type&quot;:&quot;text&quot;}"/>
          <p:cNvSpPr txBox="1"/>
          <p:nvPr/>
        </p:nvSpPr>
        <p:spPr>
          <a:xfrm>
            <a:off x="762000" y="3819525"/>
            <a:ext cx="31432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会员权益</a:t>
            </a:r>
            <a:endParaRPr lang="zh-CN" sz="975" spc="75">
              <a:solidFill>
                <a:srgbClr val="7C8A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1" name="文本框 370" descr="{&quot;isTemplate&quot;:true,&quot;type&quot;:&quot;text&quot;}"/>
          <p:cNvSpPr txBox="1"/>
          <p:nvPr/>
        </p:nvSpPr>
        <p:spPr>
          <a:xfrm>
            <a:off x="762000" y="4019550"/>
            <a:ext cx="3143250" cy="6286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3B4A41"/>
                </a:solidFill>
                <a:latin typeface="微软雅黑" panose="020B0503020204020204" charset="-122"/>
                <a:ea typeface="微软雅黑" panose="020B0503020204020204" charset="-122"/>
              </a:rPr>
              <a:t>自然语言记录、自动归类，以及按人或按时间生成的阶段回顾。</a:t>
            </a:r>
            <a:endParaRPr lang="zh-CN" sz="1275">
              <a:solidFill>
                <a:srgbClr val="3B4A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2" name="文本框 371" descr="{&quot;isTemplate&quot;:true,&quot;type&quot;:&quot;text&quot;}"/>
          <p:cNvSpPr txBox="1"/>
          <p:nvPr/>
        </p:nvSpPr>
        <p:spPr>
          <a:xfrm>
            <a:off x="762000" y="4743450"/>
            <a:ext cx="31432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为什么值钱</a:t>
            </a:r>
            <a:r>
              <a:rPr lang="en-US" sz="975" spc="75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75" spc="75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靠什么实现</a:t>
            </a:r>
            <a:endParaRPr lang="zh-CN" sz="975" spc="75">
              <a:solidFill>
                <a:srgbClr val="7C8A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3" name="文本框 372" descr="{&quot;isTemplate&quot;:true,&quot;type&quot;:&quot;text&quot;}"/>
          <p:cNvSpPr txBox="1"/>
          <p:nvPr/>
        </p:nvSpPr>
        <p:spPr>
          <a:xfrm>
            <a:off x="762000" y="4943475"/>
            <a:ext cx="3143250" cy="12477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3B4A41"/>
                </a:solidFill>
                <a:latin typeface="微软雅黑" panose="020B0503020204020204" charset="-122"/>
                <a:ea typeface="微软雅黑" panose="020B0503020204020204" charset="-122"/>
              </a:rPr>
              <a:t>在线推理有调用成本，无法塞进零服务端版本。本机已保留助手的纯逻辑与数据结构用于兼容，接入时不改变本地存储边界，上传范围由用户选择。</a:t>
            </a:r>
            <a:endParaRPr lang="zh-CN" sz="1275">
              <a:solidFill>
                <a:srgbClr val="3B4A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4" name="圆角矩形 373"/>
          <p:cNvSpPr/>
          <p:nvPr/>
        </p:nvSpPr>
        <p:spPr>
          <a:xfrm>
            <a:off x="4333875" y="1666875"/>
            <a:ext cx="3524250" cy="4714875"/>
          </a:xfrm>
          <a:prstGeom prst="roundRect">
            <a:avLst>
              <a:gd name="adj" fmla="val 2162"/>
            </a:avLst>
          </a:prstGeom>
          <a:solidFill>
            <a:srgbClr val="EDF2EA"/>
          </a:solidFill>
        </p:spPr>
        <p:txBody>
          <a:bodyPr/>
          <a:p/>
        </p:txBody>
      </p:sp>
      <p:sp>
        <p:nvSpPr>
          <p:cNvPr id="375" name="文本框 374" descr="{&quot;isTemplate&quot;:true,&quot;type&quot;:&quot;text&quot;}"/>
          <p:cNvSpPr txBox="1"/>
          <p:nvPr/>
        </p:nvSpPr>
        <p:spPr>
          <a:xfrm>
            <a:off x="4524375" y="1857375"/>
            <a:ext cx="31432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C05F38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sz="1050" spc="150">
              <a:solidFill>
                <a:srgbClr val="C05F3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6" name="文本框 375" descr="{&quot;isTemplate&quot;:true,&quot;type&quot;:&quot;text&quot;}"/>
          <p:cNvSpPr txBox="1"/>
          <p:nvPr/>
        </p:nvSpPr>
        <p:spPr>
          <a:xfrm>
            <a:off x="4524375" y="2076450"/>
            <a:ext cx="31432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F2B26"/>
                </a:solidFill>
                <a:latin typeface="微软雅黑" panose="020B0503020204020204" charset="-122"/>
                <a:ea typeface="微软雅黑" panose="020B0503020204020204" charset="-122"/>
              </a:rPr>
              <a:t>云端备份与多端同步</a:t>
            </a:r>
            <a:endParaRPr lang="zh-CN" sz="1800" b="1">
              <a:solidFill>
                <a:srgbClr val="1F2B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7" name="矩形 376"/>
          <p:cNvSpPr/>
          <p:nvPr/>
        </p:nvSpPr>
        <p:spPr>
          <a:xfrm>
            <a:off x="4524375" y="2466975"/>
            <a:ext cx="3143250" cy="9525"/>
          </a:xfrm>
          <a:prstGeom prst="rect">
            <a:avLst/>
          </a:prstGeom>
          <a:solidFill>
            <a:srgbClr val="D5DFD3"/>
          </a:solidFill>
        </p:spPr>
        <p:txBody>
          <a:bodyPr/>
          <a:p/>
        </p:txBody>
      </p:sp>
      <p:sp>
        <p:nvSpPr>
          <p:cNvPr id="378" name="文本框 377" descr="{&quot;isTemplate&quot;:true,&quot;type&quot;:&quot;text&quot;}"/>
          <p:cNvSpPr txBox="1"/>
          <p:nvPr/>
        </p:nvSpPr>
        <p:spPr>
          <a:xfrm>
            <a:off x="4524375" y="2590800"/>
            <a:ext cx="31432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解决什么</a:t>
            </a:r>
            <a:endParaRPr lang="zh-CN" sz="975" spc="75">
              <a:solidFill>
                <a:srgbClr val="7C8A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9" name="文本框 378" descr="{&quot;isTemplate&quot;:true,&quot;type&quot;:&quot;text&quot;}"/>
          <p:cNvSpPr txBox="1"/>
          <p:nvPr/>
        </p:nvSpPr>
        <p:spPr>
          <a:xfrm>
            <a:off x="4524375" y="2790825"/>
            <a:ext cx="3143250" cy="6286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3B4A41"/>
                </a:solidFill>
                <a:latin typeface="微软雅黑" panose="020B0503020204020204" charset="-122"/>
                <a:ea typeface="微软雅黑" panose="020B0503020204020204" charset="-122"/>
              </a:rPr>
              <a:t>换机即丢、手机上记的平板看不到。现有备份是手动</a:t>
            </a:r>
            <a:r>
              <a:rPr lang="en-US" sz="1275">
                <a:solidFill>
                  <a:srgbClr val="3B4A41"/>
                </a:solidFill>
                <a:latin typeface="微软雅黑" panose="020B0503020204020204" charset="-122"/>
                <a:ea typeface="微软雅黑" panose="020B0503020204020204" charset="-122"/>
              </a:rPr>
              <a:t> ZIP</a:t>
            </a:r>
            <a:r>
              <a:rPr lang="zh-CN" sz="1275">
                <a:solidFill>
                  <a:srgbClr val="3B4A41"/>
                </a:solidFill>
                <a:latin typeface="微软雅黑" panose="020B0503020204020204" charset="-122"/>
                <a:ea typeface="微软雅黑" panose="020B0503020204020204" charset="-122"/>
              </a:rPr>
              <a:t>，只能在本机恢复。</a:t>
            </a:r>
            <a:endParaRPr lang="zh-CN" sz="1275">
              <a:solidFill>
                <a:srgbClr val="3B4A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0" name="文本框 379" descr="{&quot;isTemplate&quot;:true,&quot;type&quot;:&quot;text&quot;}"/>
          <p:cNvSpPr txBox="1"/>
          <p:nvPr/>
        </p:nvSpPr>
        <p:spPr>
          <a:xfrm>
            <a:off x="4524375" y="3514725"/>
            <a:ext cx="31432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会员权益</a:t>
            </a:r>
            <a:endParaRPr lang="zh-CN" sz="975" spc="75">
              <a:solidFill>
                <a:srgbClr val="7C8A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1" name="文本框 380" descr="{&quot;isTemplate&quot;:true,&quot;type&quot;:&quot;text&quot;}"/>
          <p:cNvSpPr txBox="1"/>
          <p:nvPr/>
        </p:nvSpPr>
        <p:spPr>
          <a:xfrm>
            <a:off x="4524375" y="3714750"/>
            <a:ext cx="3143250" cy="6286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3B4A41"/>
                </a:solidFill>
                <a:latin typeface="微软雅黑" panose="020B0503020204020204" charset="-122"/>
                <a:ea typeface="微软雅黑" panose="020B0503020204020204" charset="-122"/>
              </a:rPr>
              <a:t>后台增量同步、多设备同一份脉络、误删可在时间上回溯。</a:t>
            </a:r>
            <a:endParaRPr lang="zh-CN" sz="1275">
              <a:solidFill>
                <a:srgbClr val="3B4A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2" name="文本框 381" descr="{&quot;isTemplate&quot;:true,&quot;type&quot;:&quot;text&quot;}"/>
          <p:cNvSpPr txBox="1"/>
          <p:nvPr/>
        </p:nvSpPr>
        <p:spPr>
          <a:xfrm>
            <a:off x="4524375" y="4438650"/>
            <a:ext cx="31432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为什么值钱</a:t>
            </a:r>
            <a:r>
              <a:rPr lang="en-US" sz="975" spc="75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75" spc="75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靠什么实现</a:t>
            </a:r>
            <a:endParaRPr lang="zh-CN" sz="975" spc="75">
              <a:solidFill>
                <a:srgbClr val="7C8A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3" name="文本框 382" descr="{&quot;isTemplate&quot;:true,&quot;type&quot;:&quot;text&quot;}"/>
          <p:cNvSpPr txBox="1"/>
          <p:nvPr/>
        </p:nvSpPr>
        <p:spPr>
          <a:xfrm>
            <a:off x="4524375" y="4638675"/>
            <a:ext cx="3143250" cy="933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3B4A41"/>
                </a:solidFill>
                <a:latin typeface="微软雅黑" panose="020B0503020204020204" charset="-122"/>
                <a:ea typeface="微软雅黑" panose="020B0503020204020204" charset="-122"/>
              </a:rPr>
              <a:t>这是唯一有持续服务器成本的项目，天然构成会员核心权益。底层已有按</a:t>
            </a:r>
            <a:r>
              <a:rPr lang="en-US" sz="1275">
                <a:solidFill>
                  <a:srgbClr val="3B4A41"/>
                </a:solidFill>
                <a:latin typeface="微软雅黑" panose="020B0503020204020204" charset="-122"/>
                <a:ea typeface="微软雅黑" panose="020B0503020204020204" charset="-122"/>
              </a:rPr>
              <a:t> 12 </a:t>
            </a:r>
            <a:r>
              <a:rPr lang="zh-CN" sz="1275">
                <a:solidFill>
                  <a:srgbClr val="3B4A41"/>
                </a:solidFill>
                <a:latin typeface="微软雅黑" panose="020B0503020204020204" charset="-122"/>
                <a:ea typeface="微软雅黑" panose="020B0503020204020204" charset="-122"/>
              </a:rPr>
              <a:t>张表的导出与恢复校验，同步只需在其上增量。</a:t>
            </a:r>
            <a:endParaRPr lang="zh-CN" sz="1275">
              <a:solidFill>
                <a:srgbClr val="3B4A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4" name="圆角矩形 383"/>
          <p:cNvSpPr/>
          <p:nvPr/>
        </p:nvSpPr>
        <p:spPr>
          <a:xfrm>
            <a:off x="8096250" y="1666875"/>
            <a:ext cx="3524250" cy="4714875"/>
          </a:xfrm>
          <a:prstGeom prst="roundRect">
            <a:avLst>
              <a:gd name="adj" fmla="val 2162"/>
            </a:avLst>
          </a:prstGeom>
          <a:solidFill>
            <a:srgbClr val="2C4A3F"/>
          </a:solidFill>
        </p:spPr>
        <p:txBody>
          <a:bodyPr/>
          <a:p/>
        </p:txBody>
      </p:sp>
      <p:sp>
        <p:nvSpPr>
          <p:cNvPr id="385" name="文本框 384" descr="{&quot;isTemplate&quot;:true,&quot;type&quot;:&quot;text&quot;}"/>
          <p:cNvSpPr txBox="1"/>
          <p:nvPr/>
        </p:nvSpPr>
        <p:spPr>
          <a:xfrm>
            <a:off x="8286750" y="1857375"/>
            <a:ext cx="31432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D79A73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sz="1050" spc="150">
              <a:solidFill>
                <a:srgbClr val="D79A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6" name="文本框 385" descr="{&quot;isTemplate&quot;:true,&quot;type&quot;:&quot;text&quot;}"/>
          <p:cNvSpPr txBox="1"/>
          <p:nvPr/>
        </p:nvSpPr>
        <p:spPr>
          <a:xfrm>
            <a:off x="8286750" y="2076450"/>
            <a:ext cx="31432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5F2E8"/>
                </a:solidFill>
                <a:latin typeface="微软雅黑" panose="020B0503020204020204" charset="-122"/>
                <a:ea typeface="微软雅黑" panose="020B0503020204020204" charset="-122"/>
              </a:rPr>
              <a:t>一键导出与迁移</a:t>
            </a:r>
            <a:endParaRPr lang="zh-CN" sz="1800" b="1">
              <a:solidFill>
                <a:srgbClr val="F5F2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7" name="矩形 386"/>
          <p:cNvSpPr/>
          <p:nvPr/>
        </p:nvSpPr>
        <p:spPr>
          <a:xfrm>
            <a:off x="8286750" y="2466975"/>
            <a:ext cx="3143250" cy="9525"/>
          </a:xfrm>
          <a:prstGeom prst="rect">
            <a:avLst/>
          </a:prstGeom>
          <a:solidFill>
            <a:srgbClr val="42604F"/>
          </a:solidFill>
        </p:spPr>
        <p:txBody>
          <a:bodyPr/>
          <a:p/>
        </p:txBody>
      </p:sp>
      <p:sp>
        <p:nvSpPr>
          <p:cNvPr id="388" name="文本框 387" descr="{&quot;isTemplate&quot;:true,&quot;type&quot;:&quot;text&quot;}"/>
          <p:cNvSpPr txBox="1"/>
          <p:nvPr/>
        </p:nvSpPr>
        <p:spPr>
          <a:xfrm>
            <a:off x="8286750" y="2590800"/>
            <a:ext cx="31432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9DB3A2"/>
                </a:solidFill>
                <a:latin typeface="微软雅黑" panose="020B0503020204020204" charset="-122"/>
                <a:ea typeface="微软雅黑" panose="020B0503020204020204" charset="-122"/>
              </a:rPr>
              <a:t>解决什么</a:t>
            </a:r>
            <a:endParaRPr lang="zh-CN" sz="975" spc="75">
              <a:solidFill>
                <a:srgbClr val="9DB3A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9" name="文本框 388" descr="{&quot;isTemplate&quot;:true,&quot;type&quot;:&quot;text&quot;}"/>
          <p:cNvSpPr txBox="1"/>
          <p:nvPr/>
        </p:nvSpPr>
        <p:spPr>
          <a:xfrm>
            <a:off x="8286750" y="2790825"/>
            <a:ext cx="3143250" cy="933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DCE5DC"/>
                </a:solidFill>
                <a:latin typeface="微软雅黑" panose="020B0503020204020204" charset="-122"/>
                <a:ea typeface="微软雅黑" panose="020B0503020204020204" charset="-122"/>
              </a:rPr>
              <a:t>现有</a:t>
            </a:r>
            <a:r>
              <a:rPr lang="en-US" sz="1275">
                <a:solidFill>
                  <a:srgbClr val="DCE5DC"/>
                </a:solidFill>
                <a:latin typeface="微软雅黑" panose="020B0503020204020204" charset="-122"/>
                <a:ea typeface="微软雅黑" panose="020B0503020204020204" charset="-122"/>
              </a:rPr>
              <a:t> ZIP </a:t>
            </a:r>
            <a:r>
              <a:rPr lang="zh-CN" sz="1275">
                <a:solidFill>
                  <a:srgbClr val="DCE5DC"/>
                </a:solidFill>
                <a:latin typeface="微软雅黑" panose="020B0503020204020204" charset="-122"/>
                <a:ea typeface="微软雅黑" panose="020B0503020204020204" charset="-122"/>
              </a:rPr>
              <a:t>无加密、清单上限</a:t>
            </a:r>
            <a:r>
              <a:rPr lang="en-US" sz="1275">
                <a:solidFill>
                  <a:srgbClr val="DCE5DC"/>
                </a:solidFill>
                <a:latin typeface="微软雅黑" panose="020B0503020204020204" charset="-122"/>
                <a:ea typeface="微软雅黑" panose="020B0503020204020204" charset="-122"/>
              </a:rPr>
              <a:t> 16 MB</a:t>
            </a:r>
            <a:r>
              <a:rPr lang="zh-CN" sz="1275">
                <a:solidFill>
                  <a:srgbClr val="DCE5DC"/>
                </a:solidFill>
                <a:latin typeface="微软雅黑" panose="020B0503020204020204" charset="-122"/>
                <a:ea typeface="微软雅黑" panose="020B0503020204020204" charset="-122"/>
              </a:rPr>
              <a:t>，也不能按人物或时间范围选择——退不出的数据，用户反而不敢往里放。</a:t>
            </a:r>
            <a:endParaRPr lang="zh-CN" sz="1275">
              <a:solidFill>
                <a:srgbClr val="DCE5D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0" name="文本框 389" descr="{&quot;isTemplate&quot;:true,&quot;type&quot;:&quot;text&quot;}"/>
          <p:cNvSpPr txBox="1"/>
          <p:nvPr/>
        </p:nvSpPr>
        <p:spPr>
          <a:xfrm>
            <a:off x="8286750" y="3819525"/>
            <a:ext cx="31432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9DB3A2"/>
                </a:solidFill>
                <a:latin typeface="微软雅黑" panose="020B0503020204020204" charset="-122"/>
                <a:ea typeface="微软雅黑" panose="020B0503020204020204" charset="-122"/>
              </a:rPr>
              <a:t>会员权益</a:t>
            </a:r>
            <a:endParaRPr lang="zh-CN" sz="975" spc="75">
              <a:solidFill>
                <a:srgbClr val="9DB3A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1" name="文本框 390" descr="{&quot;isTemplate&quot;:true,&quot;type&quot;:&quot;text&quot;}"/>
          <p:cNvSpPr txBox="1"/>
          <p:nvPr/>
        </p:nvSpPr>
        <p:spPr>
          <a:xfrm>
            <a:off x="8286750" y="4019550"/>
            <a:ext cx="3143250" cy="933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DCE5DC"/>
                </a:solidFill>
                <a:latin typeface="微软雅黑" panose="020B0503020204020204" charset="-122"/>
                <a:ea typeface="微软雅黑" panose="020B0503020204020204" charset="-122"/>
              </a:rPr>
              <a:t>加密备份、按范围选择性导出、输出</a:t>
            </a:r>
            <a:r>
              <a:rPr lang="en-US" sz="1275">
                <a:solidFill>
                  <a:srgbClr val="DCE5DC"/>
                </a:solidFill>
                <a:latin typeface="微软雅黑" panose="020B0503020204020204" charset="-122"/>
                <a:ea typeface="微软雅黑" panose="020B0503020204020204" charset="-122"/>
              </a:rPr>
              <a:t> JSON / Markdown / </a:t>
            </a:r>
            <a:r>
              <a:rPr lang="zh-CN" sz="1275">
                <a:solidFill>
                  <a:srgbClr val="DCE5DC"/>
                </a:solidFill>
                <a:latin typeface="微软雅黑" panose="020B0503020204020204" charset="-122"/>
                <a:ea typeface="微软雅黑" panose="020B0503020204020204" charset="-122"/>
              </a:rPr>
              <a:t>相册等通用格式，可迁入也可迁出。</a:t>
            </a:r>
            <a:endParaRPr lang="zh-CN" sz="1275">
              <a:solidFill>
                <a:srgbClr val="DCE5D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2" name="文本框 391" descr="{&quot;isTemplate&quot;:true,&quot;type&quot;:&quot;text&quot;}"/>
          <p:cNvSpPr txBox="1"/>
          <p:nvPr/>
        </p:nvSpPr>
        <p:spPr>
          <a:xfrm>
            <a:off x="8286750" y="5048250"/>
            <a:ext cx="31432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9DB3A2"/>
                </a:solidFill>
                <a:latin typeface="微软雅黑" panose="020B0503020204020204" charset="-122"/>
                <a:ea typeface="微软雅黑" panose="020B0503020204020204" charset="-122"/>
              </a:rPr>
              <a:t>为什么值钱</a:t>
            </a:r>
            <a:r>
              <a:rPr lang="en-US" sz="975" spc="75">
                <a:solidFill>
                  <a:srgbClr val="9DB3A2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75" spc="75">
                <a:solidFill>
                  <a:srgbClr val="9DB3A2"/>
                </a:solidFill>
                <a:latin typeface="微软雅黑" panose="020B0503020204020204" charset="-122"/>
                <a:ea typeface="微软雅黑" panose="020B0503020204020204" charset="-122"/>
              </a:rPr>
              <a:t>靠什么实现</a:t>
            </a:r>
            <a:endParaRPr lang="zh-CN" sz="975" spc="75">
              <a:solidFill>
                <a:srgbClr val="9DB3A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3" name="文本框 392" descr="{&quot;isTemplate&quot;:true,&quot;type&quot;:&quot;text&quot;}"/>
          <p:cNvSpPr txBox="1"/>
          <p:nvPr/>
        </p:nvSpPr>
        <p:spPr>
          <a:xfrm>
            <a:off x="8286750" y="5248275"/>
            <a:ext cx="3143250" cy="933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275">
                <a:solidFill>
                  <a:srgbClr val="DCE5DC"/>
                </a:solidFill>
                <a:latin typeface="微软雅黑" panose="020B0503020204020204" charset="-122"/>
                <a:ea typeface="微软雅黑" panose="020B0503020204020204" charset="-122"/>
              </a:rPr>
              <a:t>NativeBackup </a:t>
            </a:r>
            <a:r>
              <a:rPr lang="zh-CN" sz="1275">
                <a:solidFill>
                  <a:srgbClr val="DCE5DC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sz="1275">
                <a:solidFill>
                  <a:srgbClr val="DCE5DC"/>
                </a:solidFill>
                <a:latin typeface="微软雅黑" panose="020B0503020204020204" charset="-122"/>
                <a:ea typeface="微软雅黑" panose="020B0503020204020204" charset="-122"/>
              </a:rPr>
              <a:t> StoredZip </a:t>
            </a:r>
            <a:r>
              <a:rPr lang="zh-CN" sz="1275">
                <a:solidFill>
                  <a:srgbClr val="DCE5DC"/>
                </a:solidFill>
                <a:latin typeface="微软雅黑" panose="020B0503020204020204" charset="-122"/>
                <a:ea typeface="微软雅黑" panose="020B0503020204020204" charset="-122"/>
              </a:rPr>
              <a:t>已实现流式读写、数量预览与校验，导出管线是现成的，会员版只做加密与格式层。</a:t>
            </a:r>
            <a:endParaRPr lang="zh-CN" sz="1275">
              <a:solidFill>
                <a:srgbClr val="DCE5D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4" name="文本框 393" descr="{&quot;isTemplate&quot;:true,&quot;type&quot;:&quot;text&quot;}"/>
          <p:cNvSpPr txBox="1"/>
          <p:nvPr/>
        </p:nvSpPr>
        <p:spPr>
          <a:xfrm>
            <a:off x="571500" y="6515100"/>
            <a:ext cx="11049000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三项都建立在同一条原则上：本机已有的能力不收费，收费的是「要连服务器」或「替你省时间」的那一部分。</a:t>
            </a:r>
            <a:endParaRPr lang="zh-CN" sz="1275">
              <a:solidFill>
                <a:srgbClr val="5C6B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5" name="文本框 394" descr="{&quot;isTemplate&quot;:true,&quot;type&quot;:&quot;text&quot;}"/>
          <p:cNvSpPr txBox="1"/>
          <p:nvPr/>
        </p:nvSpPr>
        <p:spPr>
          <a:xfrm>
            <a:off x="571500" y="6400800"/>
            <a:ext cx="13049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AA69D"/>
                </a:solidFill>
                <a:latin typeface="微软雅黑" panose="020B0503020204020204" charset="-122"/>
                <a:ea typeface="微软雅黑" panose="020B0503020204020204" charset="-122"/>
              </a:rPr>
              <a:t>Life Graph · </a:t>
            </a:r>
            <a:r>
              <a:rPr lang="zh-CN" sz="1050">
                <a:solidFill>
                  <a:srgbClr val="9AA69D"/>
                </a:solidFill>
                <a:latin typeface="微软雅黑" panose="020B0503020204020204" charset="-122"/>
                <a:ea typeface="微软雅黑" panose="020B0503020204020204" charset="-122"/>
              </a:rPr>
              <a:t>生活脉络</a:t>
            </a:r>
            <a:endParaRPr lang="zh-CN" sz="1050">
              <a:solidFill>
                <a:srgbClr val="9AA69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6" name="文本框 395" descr="{&quot;isTemplate&quot;:true,&quot;type&quot;:&quot;text&quot;}"/>
          <p:cNvSpPr txBox="1"/>
          <p:nvPr/>
        </p:nvSpPr>
        <p:spPr>
          <a:xfrm>
            <a:off x="11458575" y="6400800"/>
            <a:ext cx="1619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AA69D"/>
                </a:solidFill>
                <a:latin typeface="微软雅黑" panose="020B0503020204020204" charset="-122"/>
                <a:ea typeface="微软雅黑" panose="020B0503020204020204" charset="-122"/>
              </a:rPr>
              <a:t>22</a:t>
            </a:r>
            <a:endParaRPr lang="en-US" sz="1050">
              <a:solidFill>
                <a:srgbClr val="9AA69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7" name="" descr="&lt;Slide style={{ width: 1280, height: 720, background: '#FAF8F2', padding: '60px', display: 'flex', flexDirection: 'column', fontFamily: 'Microsoft YaHei' }}&gt;&#13;&#10;&#13;&#10;    &lt;Box style={{ flexDirection: 'row', alignItems: 'center', gap: 10 }}&gt;&#13;&#10;        &lt;Box style={{ width: 6, height: 6, borderRadius: 3, background: '#C05F38' }} /&gt;&#13;&#10;        &lt;Text style={{ fontSize: 14, color: '#7C8A81', letterSpacing: 1.5 }}&gt;06 — 商业价值 · 路线与假设&lt;/Text&gt;&#13;&#10;    &lt;/Box&gt;&#13;&#10;    &lt;Text style={{ fontSize: 34, fontWeight: 'bold', color: '#1F2B26', lineHeight: 1.2, marginTop: 8 }}&gt;三步走：先证明有人用，再让一部分人为省事付费&lt;/Text&gt;&#13;&#10;    &lt;Box style={{ height: 1, background: '#D9DFD7', marginTop: 16, marginBottom: 24 }} /&gt;&#13;&#10;&#13;&#10;    &lt;Box style={{ flexDirection: 'row', gap: 56 }}&gt;&#13;&#10;&#13;&#10;        &lt;Box style={{ width: 620, display: 'flex', flexDirection: 'column' }}&gt;&#13;&#10;            &lt;Text style={{ fontSize: 14, color: '#7C8A81', letterSpacing: 1 }}&gt;商业化路径&lt;/Text&gt;&#13;&#10;&#13;&#10;            &lt;Box style={{ borderTop: '1px solid #E2E6DF', paddingTop: 16, paddingBottom: 16, marginTop: 12, flexDirection: 'row' }}&gt;&#13;&#10;                &lt;Box style={{ width: 96, display: 'flex', flexDirection: 'column' }}&gt;&#13;&#10;                    &lt;Text style={{ fontSize: 14, color: '#2C4A3F', letterSpacing: 1.5, fontWeight: 'bold' }}&gt;STEP 01&lt;/Text&gt;&#13;&#10;                    &lt;Text style={{ fontSize: 13, color: '#9AA69D', lineHeight: 1.6, marginTop: 4 }}&gt;2026.04—10&lt;br /&gt;已达成&lt;/Text&gt;&#13;&#10;                &lt;/Box&gt;&#13;&#10;                &lt;Box style={{ width: 524, display: 'flex', flexDirection: 'column' }}&gt;&#13;&#10;                    &lt;Text style={{ fontSize: 20, fontWeight: 'bold', color: '#1F2B26' }}&gt;用离线版拿到第一批真实用户&lt;/Text&gt;&#13;&#10;                    &lt;Text style={{ fontSize: 17, color: '#5C6B62', lineHeight: 1.6, marginTop: 6 }}&gt;本机记录、图谱、桌面卡片、备份全部交付，128 项平台用例通过并以 0.49 MB 真实上架。这一步不收费、不做账号，只攒使用和口碑。&lt;/Text&gt;&#13;&#10;                &lt;/Box&gt;&#13;&#10;            &lt;/Box&gt;&#13;&#10;&#13;&#10;            &lt;Box style={{ borderTop: '1px solid #E2E6DF', paddingTop: 16, paddingBottom: 16, flexDirection: 'row' }}&gt;&#13;&#10;                &lt;Box style={{ width: 96, display: 'flex', flexDirection: 'column' }}&gt;&#13;&#10;                    &lt;Text style={{ fontSize: 14, color: '#C05F38', letterSpacing: 1.5, fontWeight: 'bold' }}&gt;STEP 02&lt;/Text&gt;&#13;&#10;                    &lt;Text style={{ fontSize: 13, color: '#9AA69D', lineHeight: 1.6, marginTop: 4 }}&gt;下一步&lt;br /&gt;会员 MVP&lt;/Text&gt;&#13;&#10;                &lt;/Box&gt;&#13;&#10;                &lt;Box style={{ width: 524, display: 'flex', flexDirection: 'column' }}&gt;&#13;&#10;                    &lt;Text style={{ fontSize: 20, fontWeight: 'bold', color: '#1F2B26' }}&gt;先卖「不丢」与「能迁走」&lt;/Text&gt;&#13;&#10;                    &lt;Text style={{ fontSize: 17, color: '#5C6B62', lineHeight: 1.6, marginTop: 6 }}&gt;把云端备份与一键迁移打包成单一会员套餐先上线：投入可控，也不与「数据在你自己手里」的叙事冲突。同时开始观测留存与导出率。&lt;/Text&gt;&#13;&#10;                &lt;/Box&gt;&#13;&#10;            &lt;/Box&gt;&#13;&#10;&#13;&#10;            &lt;Box style={{ borderTop: '1px solid #E2E6DF', borderBottom: '1px solid #E2E6DF', paddingTop: 16, paddingBottom: 16, flexDirection: 'row' }}&gt;&#13;&#10;                &lt;Box style={{ width: 96, display: 'flex', flexDirection: 'column' }}&gt;&#13;&#10;                    &lt;Text style={{ fontSize: 14, color: '#9AA69D', letterSpacing: 1.5, fontWeight: 'bold' }}&gt;STEP 03&lt;/Text&gt;&#13;&#10;                    &lt;Text style={{ fontSize: 13, color: '#9AA69D', lineHeight: 1.6, marginTop: 4 }}&gt;远期&lt;br /&gt;视收入决定&lt;/Text&gt;&#13;&#10;                &lt;/Box&gt;&#13;&#10;                &lt;Box style={{ width: 524, display: 'flex', flexDirection: 'column' }}&gt;&#13;&#10;                    &lt;Text style={{ fontSize: 20, fontWeight: 'bold', color: '#1F2B26' }}&gt;会员收入覆盖成本后，再上 AI 与多端&lt;/Text&gt;&#13;&#10;                    &lt;Text style={{ fontSize: 17, color: '#5C6B62', lineHeight: 1.6, marginTop: 6 }}&gt;AI 助手与完整多端同步是重投入项。会员收入不足以覆盖服务器与推理成本时，宁可维持免费离线版，也不先烧钱。&lt;/Text&gt;&#13;&#10;                &lt;/Box&gt;&#13;&#10;            &lt;/Box&gt;&#13;&#10;        &lt;/Box&gt;&#13;&#10;&#13;&#10;        &lt;Box style={{ width: 484, display: 'flex', flexDirection: 'column' }}&gt;&#13;&#10;            &lt;Text style={{ fontSize: 14, color: '#7C8A81', letterSpacing: 1 }}&gt;先把没验证的部分说清楚&lt;/Text&gt;&#13;&#10;&#13;&#10;            &lt;Box style={{ borderTop: '1px solid #E2E6DF', marginTop: 12, display: 'flex', flexDirection: 'column' }}&gt;&#13;&#10;                &lt;Box style={{ flexDirection: 'row', justifyContent: 'space-between', alignItems: 'baseline', paddingTop: 12, paddingBottom: 12, borderBottom: '1px solid #E2E6DF' }}&gt;&#13;&#10;                    &lt;Text style={{ fontSize: 17, color: '#2E3B34' }}&gt;免费转付费率&lt;/Text&gt;&#13;&#10;                    &lt;Text style={{ fontSize: 17, color: '#C05F38' }}&gt;待测算&lt;/Text&gt;&#13;&#10;                &lt;/Box&gt;&#13;&#10;                &lt;Box style={{ flexDirection: 'row', justifyContent: 'space-between', alignItems: 'baseline', paddingTop: 12, paddingBottom: 12, borderBottom: '1px solid #E2E6DF' }}&gt;&#13;&#10;                    &lt;Text style={{ fontSize: 17, color: '#2E3B34' }}&gt;会员定价&lt;/Text&gt;&#13;&#10;                    &lt;Text style={{ fontSize: 17, color: '#C05F38' }}&gt;待补充&lt;/Text&gt;&#13;&#10;                &lt;/Box&gt;&#13;&#10;                &lt;Box style={{ flexDirection: 'row', justifyContent: 'space-between', alignItems: 'baseline', paddingTop: 12, paddingBottom: 12, borderBottom: '1px solid #E2E6DF' }}&gt;&#13;&#10;                    &lt;Text style={{ fontSize: 17, color: '#2E3B34' }}&gt;单用户云端月成本&lt;/Text&gt;&#13;&#10;                    &lt;Text style={{ fontSize: 17, color: '#C05F38' }}&gt;待测算&lt;/Text&gt;&#13;&#10;                &lt;/Box&gt;&#13;&#10;                &lt;Box style={{ flexDirection: 'row', justifyContent: 'space-between', alignItems: 'baseline', paddingTop: 12, paddingBottom: 12, borderBottom: '1px solid #E2E6DF' }}&gt;&#13;&#10;                    &lt;Text style={{ fontSize: 17, color: '#2E3B34' }}&gt;留存门槛的量化阈值&lt;/Text&gt;&#13;&#10;                    &lt;Text style={{ fontSize: 17, color: '#C05F38' }}&gt;待定义&lt;/Text&gt;&#13;&#10;                &lt;/Box&gt;&#13;&#10;            &lt;/Box&gt;&#13;&#10;&#13;&#10;            &lt;Box style={{ background: '#EDF2EA', borderRadius: 8, padding: 18, marginTop: 18 }}&gt;&#13;&#10;                &lt;Text style={{ fontSize: 13, color: '#2C4A3F', letterSpacing: 1.5 }}&gt;关于调研中的付费与 AI 题目&lt;/Text&gt;&#13;&#10;                &lt;Text style={{ fontSize: 16, color: '#3B4A41', lineHeight: 1.7, marginTop: 8 }}&gt;70 份问卷里确实有付费意向与 AI 功能的题目，但题面包含 AI 设想、可能影响接受意愿，样本也存在同学网络带来的偏差。因此这部分数据不作为收入预测或功能验收依据——这也是我们把它放在规划而不是承诺里的原因。&lt;/Text&gt;&#13;&#10;            &lt;/Box&gt;&#13;&#10;        &lt;/Box&gt;&#13;&#10;    &lt;/Box&gt;&#13;&#10;&#13;&#10;    &lt;Text style={{ fontSize: 17, color: '#5C6B62', lineHeight: 1.6, marginTop: 20 }}&gt;以上会员功能均为产品规划。当前上架版本不包含任何联网或付费功能，也未收取任何费用。&lt;/Text&gt;&#13;&#10;&#13;&#10;    &lt;Box style={{ position: 'absolute', left: 60, right: 60, bottom: 30, height: 20, flexDirection: 'row', justifyContent: 'space-between', alignItems: 'center' }}&gt;&#13;&#10;        &lt;Text style={{ fontSize: 14, color: '#9AA69D' }}&gt;Life Graph · 生活脉络&lt;/Text&gt;&#13;&#10;        &lt;Text style={{ fontSize: 14, color: '#9AA69D' }}&gt;23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矩形 39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8F2"/>
          </a:solidFill>
        </p:spPr>
        <p:txBody>
          <a:bodyPr/>
          <a:p/>
        </p:txBody>
      </p:sp>
      <p:sp>
        <p:nvSpPr>
          <p:cNvPr id="399" name="圆角矩形 398"/>
          <p:cNvSpPr/>
          <p:nvPr/>
        </p:nvSpPr>
        <p:spPr>
          <a:xfrm>
            <a:off x="571500" y="6286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C05F38"/>
          </a:solidFill>
        </p:spPr>
        <p:txBody>
          <a:bodyPr/>
          <a:p/>
        </p:txBody>
      </p:sp>
      <p:sp>
        <p:nvSpPr>
          <p:cNvPr id="400" name="文本框 399" descr="{&quot;isTemplate&quot;:true,&quot;type&quot;:&quot;text&quot;}"/>
          <p:cNvSpPr txBox="1"/>
          <p:nvPr/>
        </p:nvSpPr>
        <p:spPr>
          <a:xfrm>
            <a:off x="723900" y="571500"/>
            <a:ext cx="19335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13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06 — </a:t>
            </a:r>
            <a:r>
              <a:rPr lang="zh-CN" sz="1050" spc="113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商业价值</a:t>
            </a:r>
            <a:r>
              <a:rPr lang="en-US" sz="1050" spc="113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050" spc="113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路线与假设</a:t>
            </a:r>
            <a:endParaRPr lang="zh-CN" sz="1050" spc="113">
              <a:solidFill>
                <a:srgbClr val="7C8A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1" name="文本框 400" descr="{&quot;isTemplate&quot;:true,&quot;type&quot;:&quot;text&quot;}"/>
          <p:cNvSpPr txBox="1"/>
          <p:nvPr/>
        </p:nvSpPr>
        <p:spPr>
          <a:xfrm>
            <a:off x="571500" y="809625"/>
            <a:ext cx="11049000" cy="4667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F2B26"/>
                </a:solidFill>
                <a:latin typeface="微软雅黑" panose="020B0503020204020204" charset="-122"/>
                <a:ea typeface="微软雅黑" panose="020B0503020204020204" charset="-122"/>
              </a:rPr>
              <a:t>三步走：先证明有人用，再让一部分人为省事付费</a:t>
            </a:r>
            <a:endParaRPr lang="zh-CN" sz="2550" b="1">
              <a:solidFill>
                <a:srgbClr val="1F2B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2" name="矩形 401"/>
          <p:cNvSpPr/>
          <p:nvPr/>
        </p:nvSpPr>
        <p:spPr>
          <a:xfrm>
            <a:off x="571500" y="1428750"/>
            <a:ext cx="11049000" cy="9525"/>
          </a:xfrm>
          <a:prstGeom prst="rect">
            <a:avLst/>
          </a:prstGeom>
          <a:solidFill>
            <a:srgbClr val="D9DFD7"/>
          </a:solidFill>
        </p:spPr>
        <p:txBody>
          <a:bodyPr/>
          <a:p/>
        </p:txBody>
      </p:sp>
      <p:sp>
        <p:nvSpPr>
          <p:cNvPr id="403" name="文本框 402" descr="{&quot;isTemplate&quot;:true,&quot;type&quot;:&quot;text&quot;}"/>
          <p:cNvSpPr txBox="1"/>
          <p:nvPr/>
        </p:nvSpPr>
        <p:spPr>
          <a:xfrm>
            <a:off x="571500" y="1666875"/>
            <a:ext cx="59055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75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商业化路径</a:t>
            </a:r>
            <a:endParaRPr lang="zh-CN" sz="1050" spc="75">
              <a:solidFill>
                <a:srgbClr val="7C8A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4" name="任意多边形 403"/>
          <p:cNvSpPr/>
          <p:nvPr/>
        </p:nvSpPr>
        <p:spPr>
          <a:xfrm>
            <a:off x="571500" y="1943100"/>
            <a:ext cx="5905500" cy="1238250"/>
          </a:xfrm>
          <a:custGeom>
            <a:avLst/>
            <a:gdLst/>
            <a:ahLst/>
            <a:cxnLst/>
            <a:pathLst>
              <a:path w="620" h="130">
                <a:moveTo>
                  <a:pt x="0" y="0"/>
                </a:moveTo>
                <a:lnTo>
                  <a:pt x="620" y="0"/>
                </a:lnTo>
                <a:lnTo>
                  <a:pt x="62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6DF"/>
          </a:solidFill>
        </p:spPr>
        <p:txBody>
          <a:bodyPr/>
          <a:p/>
        </p:txBody>
      </p:sp>
      <p:sp>
        <p:nvSpPr>
          <p:cNvPr id="405" name="文本框 404" descr="{&quot;isTemplate&quot;:true,&quot;type&quot;:&quot;text&quot;}"/>
          <p:cNvSpPr txBox="1"/>
          <p:nvPr/>
        </p:nvSpPr>
        <p:spPr>
          <a:xfrm>
            <a:off x="571500" y="2105025"/>
            <a:ext cx="914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13">
                <a:solidFill>
                  <a:srgbClr val="2C4A3F"/>
                </a:solidFill>
                <a:latin typeface="微软雅黑" panose="020B0503020204020204" charset="-122"/>
                <a:ea typeface="微软雅黑" panose="020B0503020204020204" charset="-122"/>
              </a:rPr>
              <a:t>STEP 01</a:t>
            </a:r>
            <a:endParaRPr lang="en-US" sz="1050" b="1" spc="113">
              <a:solidFill>
                <a:srgbClr val="2C4A3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6" name="文本框 405" descr="{&quot;isTemplate&quot;:true,&quot;type&quot;:&quot;text&quot;}"/>
          <p:cNvSpPr txBox="1"/>
          <p:nvPr/>
        </p:nvSpPr>
        <p:spPr>
          <a:xfrm>
            <a:off x="571500" y="2305050"/>
            <a:ext cx="914400" cy="4762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75">
                <a:solidFill>
                  <a:srgbClr val="9AA69D"/>
                </a:solidFill>
                <a:latin typeface="微软雅黑" panose="020B0503020204020204" charset="-122"/>
                <a:ea typeface="微软雅黑" panose="020B0503020204020204" charset="-122"/>
              </a:rPr>
              <a:t>2026.04—10</a:t>
            </a:r>
            <a:endParaRPr lang="en-US" sz="975">
              <a:solidFill>
                <a:srgbClr val="9AA69D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60000"/>
              </a:lnSpc>
            </a:pPr>
            <a:r>
              <a:rPr lang="zh-CN" sz="975">
                <a:solidFill>
                  <a:srgbClr val="9AA69D"/>
                </a:solidFill>
                <a:latin typeface="微软雅黑" panose="020B0503020204020204" charset="-122"/>
                <a:ea typeface="微软雅黑" panose="020B0503020204020204" charset="-122"/>
              </a:rPr>
              <a:t>已达成</a:t>
            </a:r>
            <a:endParaRPr lang="zh-CN" sz="975">
              <a:solidFill>
                <a:srgbClr val="9AA69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7" name="文本框 406" descr="{&quot;isTemplate&quot;:true,&quot;type&quot;:&quot;text&quot;}"/>
          <p:cNvSpPr txBox="1"/>
          <p:nvPr/>
        </p:nvSpPr>
        <p:spPr>
          <a:xfrm>
            <a:off x="1485900" y="2105025"/>
            <a:ext cx="49911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F2B26"/>
                </a:solidFill>
                <a:latin typeface="微软雅黑" panose="020B0503020204020204" charset="-122"/>
                <a:ea typeface="微软雅黑" panose="020B0503020204020204" charset="-122"/>
              </a:rPr>
              <a:t>用离线版拿到第一批真实用户</a:t>
            </a:r>
            <a:endParaRPr lang="zh-CN" sz="1500" b="1">
              <a:solidFill>
                <a:srgbClr val="1F2B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8" name="文本框 407" descr="{&quot;isTemplate&quot;:true,&quot;type&quot;:&quot;text&quot;}"/>
          <p:cNvSpPr txBox="1"/>
          <p:nvPr/>
        </p:nvSpPr>
        <p:spPr>
          <a:xfrm>
            <a:off x="1485900" y="2390775"/>
            <a:ext cx="4991100" cy="6286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本机记录、图谱、桌面卡片、备份全部交付，</a:t>
            </a:r>
            <a:r>
              <a:rPr lang="en-US" sz="1275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128 </a:t>
            </a:r>
            <a:r>
              <a:rPr lang="zh-CN" sz="1275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项平台用例通过并以</a:t>
            </a:r>
            <a:r>
              <a:rPr lang="en-US" sz="1275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 0.49 MB </a:t>
            </a:r>
            <a:r>
              <a:rPr lang="zh-CN" sz="1275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真实上架。这一步不收费、不做账号，只攒使用和口碑。</a:t>
            </a:r>
            <a:endParaRPr lang="zh-CN" sz="1275">
              <a:solidFill>
                <a:srgbClr val="5C6B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9" name="任意多边形 408"/>
          <p:cNvSpPr/>
          <p:nvPr/>
        </p:nvSpPr>
        <p:spPr>
          <a:xfrm>
            <a:off x="571500" y="3171825"/>
            <a:ext cx="5905500" cy="1238250"/>
          </a:xfrm>
          <a:custGeom>
            <a:avLst/>
            <a:gdLst/>
            <a:ahLst/>
            <a:cxnLst/>
            <a:pathLst>
              <a:path w="620" h="130">
                <a:moveTo>
                  <a:pt x="0" y="0"/>
                </a:moveTo>
                <a:lnTo>
                  <a:pt x="620" y="0"/>
                </a:lnTo>
                <a:lnTo>
                  <a:pt x="62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6DF"/>
          </a:solidFill>
        </p:spPr>
        <p:txBody>
          <a:bodyPr/>
          <a:p/>
        </p:txBody>
      </p:sp>
      <p:sp>
        <p:nvSpPr>
          <p:cNvPr id="410" name="文本框 409" descr="{&quot;isTemplate&quot;:true,&quot;type&quot;:&quot;text&quot;}"/>
          <p:cNvSpPr txBox="1"/>
          <p:nvPr/>
        </p:nvSpPr>
        <p:spPr>
          <a:xfrm>
            <a:off x="571500" y="3333750"/>
            <a:ext cx="914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13">
                <a:solidFill>
                  <a:srgbClr val="C05F38"/>
                </a:solidFill>
                <a:latin typeface="微软雅黑" panose="020B0503020204020204" charset="-122"/>
                <a:ea typeface="微软雅黑" panose="020B0503020204020204" charset="-122"/>
              </a:rPr>
              <a:t>STEP 02</a:t>
            </a:r>
            <a:endParaRPr lang="en-US" sz="1050" b="1" spc="113">
              <a:solidFill>
                <a:srgbClr val="C05F3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1" name="文本框 410" descr="{&quot;isTemplate&quot;:true,&quot;type&quot;:&quot;text&quot;}"/>
          <p:cNvSpPr txBox="1"/>
          <p:nvPr/>
        </p:nvSpPr>
        <p:spPr>
          <a:xfrm>
            <a:off x="571500" y="3533775"/>
            <a:ext cx="914400" cy="4762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>
                <a:solidFill>
                  <a:srgbClr val="9AA69D"/>
                </a:solidFill>
                <a:latin typeface="微软雅黑" panose="020B0503020204020204" charset="-122"/>
                <a:ea typeface="微软雅黑" panose="020B0503020204020204" charset="-122"/>
              </a:rPr>
              <a:t>下一步</a:t>
            </a:r>
            <a:endParaRPr lang="zh-CN" sz="975">
              <a:solidFill>
                <a:srgbClr val="9AA69D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60000"/>
              </a:lnSpc>
            </a:pPr>
            <a:r>
              <a:rPr lang="zh-CN" sz="975">
                <a:solidFill>
                  <a:srgbClr val="9AA69D"/>
                </a:solidFill>
                <a:latin typeface="微软雅黑" panose="020B0503020204020204" charset="-122"/>
                <a:ea typeface="微软雅黑" panose="020B0503020204020204" charset="-122"/>
              </a:rPr>
              <a:t>会员</a:t>
            </a:r>
            <a:r>
              <a:rPr lang="en-US" sz="975">
                <a:solidFill>
                  <a:srgbClr val="9AA69D"/>
                </a:solidFill>
                <a:latin typeface="微软雅黑" panose="020B0503020204020204" charset="-122"/>
                <a:ea typeface="微软雅黑" panose="020B0503020204020204" charset="-122"/>
              </a:rPr>
              <a:t> MVP</a:t>
            </a:r>
            <a:endParaRPr lang="en-US" sz="975">
              <a:solidFill>
                <a:srgbClr val="9AA69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2" name="文本框 411" descr="{&quot;isTemplate&quot;:true,&quot;type&quot;:&quot;text&quot;}"/>
          <p:cNvSpPr txBox="1"/>
          <p:nvPr/>
        </p:nvSpPr>
        <p:spPr>
          <a:xfrm>
            <a:off x="1485900" y="3333750"/>
            <a:ext cx="49911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F2B26"/>
                </a:solidFill>
                <a:latin typeface="微软雅黑" panose="020B0503020204020204" charset="-122"/>
                <a:ea typeface="微软雅黑" panose="020B0503020204020204" charset="-122"/>
              </a:rPr>
              <a:t>先卖「不丢」与「能迁走」</a:t>
            </a:r>
            <a:endParaRPr lang="zh-CN" sz="1500" b="1">
              <a:solidFill>
                <a:srgbClr val="1F2B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3" name="文本框 412" descr="{&quot;isTemplate&quot;:true,&quot;type&quot;:&quot;text&quot;}"/>
          <p:cNvSpPr txBox="1"/>
          <p:nvPr/>
        </p:nvSpPr>
        <p:spPr>
          <a:xfrm>
            <a:off x="1485900" y="3619500"/>
            <a:ext cx="4991100" cy="6286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把云端备份与一键迁移打包成单一会员套餐先上线：投入可控，也不与「数据在你自己手里」的叙事冲突。同时开始观测留存与导出率。</a:t>
            </a:r>
            <a:endParaRPr lang="zh-CN" sz="1275">
              <a:solidFill>
                <a:srgbClr val="5C6B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4" name="任意多边形 413"/>
          <p:cNvSpPr/>
          <p:nvPr/>
        </p:nvSpPr>
        <p:spPr>
          <a:xfrm>
            <a:off x="571500" y="4400550"/>
            <a:ext cx="5905500" cy="1257300"/>
          </a:xfrm>
          <a:custGeom>
            <a:avLst/>
            <a:gdLst/>
            <a:ahLst/>
            <a:cxnLst/>
            <a:pathLst>
              <a:path w="620" h="132">
                <a:moveTo>
                  <a:pt x="0" y="0"/>
                </a:moveTo>
                <a:lnTo>
                  <a:pt x="620" y="0"/>
                </a:lnTo>
                <a:lnTo>
                  <a:pt x="62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6DF"/>
          </a:solidFill>
        </p:spPr>
        <p:txBody>
          <a:bodyPr/>
          <a:p/>
        </p:txBody>
      </p:sp>
      <p:sp>
        <p:nvSpPr>
          <p:cNvPr id="415" name="任意多边形 414"/>
          <p:cNvSpPr/>
          <p:nvPr/>
        </p:nvSpPr>
        <p:spPr>
          <a:xfrm>
            <a:off x="571500" y="4400550"/>
            <a:ext cx="5905500" cy="1257300"/>
          </a:xfrm>
          <a:custGeom>
            <a:avLst/>
            <a:gdLst/>
            <a:ahLst/>
            <a:cxnLst/>
            <a:pathLst>
              <a:path w="620" h="132">
                <a:moveTo>
                  <a:pt x="0" y="131"/>
                </a:moveTo>
                <a:lnTo>
                  <a:pt x="620" y="131"/>
                </a:lnTo>
                <a:lnTo>
                  <a:pt x="620" y="132"/>
                </a:lnTo>
                <a:lnTo>
                  <a:pt x="0" y="132"/>
                </a:lnTo>
                <a:close/>
              </a:path>
            </a:pathLst>
          </a:custGeom>
          <a:solidFill>
            <a:srgbClr val="E2E6DF"/>
          </a:solidFill>
        </p:spPr>
        <p:txBody>
          <a:bodyPr/>
          <a:p/>
        </p:txBody>
      </p:sp>
      <p:sp>
        <p:nvSpPr>
          <p:cNvPr id="416" name="文本框 415" descr="{&quot;isTemplate&quot;:true,&quot;type&quot;:&quot;text&quot;}"/>
          <p:cNvSpPr txBox="1"/>
          <p:nvPr/>
        </p:nvSpPr>
        <p:spPr>
          <a:xfrm>
            <a:off x="571500" y="4562475"/>
            <a:ext cx="914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13">
                <a:solidFill>
                  <a:srgbClr val="9AA69D"/>
                </a:solidFill>
                <a:latin typeface="微软雅黑" panose="020B0503020204020204" charset="-122"/>
                <a:ea typeface="微软雅黑" panose="020B0503020204020204" charset="-122"/>
              </a:rPr>
              <a:t>STEP 03</a:t>
            </a:r>
            <a:endParaRPr lang="en-US" sz="1050" b="1" spc="113">
              <a:solidFill>
                <a:srgbClr val="9AA69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7" name="文本框 416" descr="{&quot;isTemplate&quot;:true,&quot;type&quot;:&quot;text&quot;}"/>
          <p:cNvSpPr txBox="1"/>
          <p:nvPr/>
        </p:nvSpPr>
        <p:spPr>
          <a:xfrm>
            <a:off x="571500" y="4762500"/>
            <a:ext cx="914400" cy="4762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>
                <a:solidFill>
                  <a:srgbClr val="9AA69D"/>
                </a:solidFill>
                <a:latin typeface="微软雅黑" panose="020B0503020204020204" charset="-122"/>
                <a:ea typeface="微软雅黑" panose="020B0503020204020204" charset="-122"/>
              </a:rPr>
              <a:t>远期</a:t>
            </a:r>
            <a:endParaRPr lang="zh-CN" sz="975">
              <a:solidFill>
                <a:srgbClr val="9AA69D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60000"/>
              </a:lnSpc>
            </a:pPr>
            <a:r>
              <a:rPr lang="zh-CN" sz="975">
                <a:solidFill>
                  <a:srgbClr val="9AA69D"/>
                </a:solidFill>
                <a:latin typeface="微软雅黑" panose="020B0503020204020204" charset="-122"/>
                <a:ea typeface="微软雅黑" panose="020B0503020204020204" charset="-122"/>
              </a:rPr>
              <a:t>视收入决定</a:t>
            </a:r>
            <a:endParaRPr lang="zh-CN" sz="975">
              <a:solidFill>
                <a:srgbClr val="9AA69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8" name="文本框 417" descr="{&quot;isTemplate&quot;:true,&quot;type&quot;:&quot;text&quot;}"/>
          <p:cNvSpPr txBox="1"/>
          <p:nvPr/>
        </p:nvSpPr>
        <p:spPr>
          <a:xfrm>
            <a:off x="1485900" y="4562475"/>
            <a:ext cx="49911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F2B26"/>
                </a:solidFill>
                <a:latin typeface="微软雅黑" panose="020B0503020204020204" charset="-122"/>
                <a:ea typeface="微软雅黑" panose="020B0503020204020204" charset="-122"/>
              </a:rPr>
              <a:t>会员收入覆盖成本后，再上</a:t>
            </a:r>
            <a:r>
              <a:rPr lang="en-US" sz="1500" b="1">
                <a:solidFill>
                  <a:srgbClr val="1F2B26"/>
                </a:solidFill>
                <a:latin typeface="微软雅黑" panose="020B0503020204020204" charset="-122"/>
                <a:ea typeface="微软雅黑" panose="020B0503020204020204" charset="-122"/>
              </a:rPr>
              <a:t> AI </a:t>
            </a:r>
            <a:r>
              <a:rPr lang="zh-CN" sz="1500" b="1">
                <a:solidFill>
                  <a:srgbClr val="1F2B26"/>
                </a:solidFill>
                <a:latin typeface="微软雅黑" panose="020B0503020204020204" charset="-122"/>
                <a:ea typeface="微软雅黑" panose="020B0503020204020204" charset="-122"/>
              </a:rPr>
              <a:t>与多端</a:t>
            </a:r>
            <a:endParaRPr lang="zh-CN" sz="1500" b="1">
              <a:solidFill>
                <a:srgbClr val="1F2B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9" name="文本框 418" descr="{&quot;isTemplate&quot;:true,&quot;type&quot;:&quot;text&quot;}"/>
          <p:cNvSpPr txBox="1"/>
          <p:nvPr/>
        </p:nvSpPr>
        <p:spPr>
          <a:xfrm>
            <a:off x="1485900" y="4848225"/>
            <a:ext cx="4991100" cy="6286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275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AI </a:t>
            </a:r>
            <a:r>
              <a:rPr lang="zh-CN" sz="1275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助手与完整多端同步是重投入项。会员收入不足以覆盖服务器与推理成本时，宁可维持免费离线版，也不先烧钱。</a:t>
            </a:r>
            <a:endParaRPr lang="zh-CN" sz="1275">
              <a:solidFill>
                <a:srgbClr val="5C6B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4" name="圆角矩形 433"/>
          <p:cNvSpPr/>
          <p:nvPr/>
        </p:nvSpPr>
        <p:spPr>
          <a:xfrm>
            <a:off x="7010400" y="2581275"/>
            <a:ext cx="4610100" cy="1819275"/>
          </a:xfrm>
          <a:prstGeom prst="roundRect">
            <a:avLst>
              <a:gd name="adj" fmla="val 4188"/>
            </a:avLst>
          </a:prstGeom>
          <a:solidFill>
            <a:srgbClr val="EDF2EA"/>
          </a:solidFill>
        </p:spPr>
        <p:txBody>
          <a:bodyPr/>
          <a:p/>
        </p:txBody>
      </p:sp>
      <p:sp>
        <p:nvSpPr>
          <p:cNvPr id="435" name="文本框 434" descr="{&quot;isTemplate&quot;:true,&quot;type&quot;:&quot;text&quot;}"/>
          <p:cNvSpPr txBox="1"/>
          <p:nvPr/>
        </p:nvSpPr>
        <p:spPr>
          <a:xfrm>
            <a:off x="7073900" y="2667000"/>
            <a:ext cx="42672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113">
                <a:solidFill>
                  <a:srgbClr val="2C4A3F"/>
                </a:solidFill>
                <a:latin typeface="微软雅黑" panose="020B0503020204020204" charset="-122"/>
                <a:ea typeface="微软雅黑" panose="020B0503020204020204" charset="-122"/>
              </a:rPr>
              <a:t>关于调研中的付费与</a:t>
            </a:r>
            <a:r>
              <a:rPr lang="en-US" sz="975" spc="113">
                <a:solidFill>
                  <a:srgbClr val="2C4A3F"/>
                </a:solidFill>
                <a:latin typeface="微软雅黑" panose="020B0503020204020204" charset="-122"/>
                <a:ea typeface="微软雅黑" panose="020B0503020204020204" charset="-122"/>
              </a:rPr>
              <a:t> AI </a:t>
            </a:r>
            <a:r>
              <a:rPr lang="zh-CN" sz="975" spc="113">
                <a:solidFill>
                  <a:srgbClr val="2C4A3F"/>
                </a:solidFill>
                <a:latin typeface="微软雅黑" panose="020B0503020204020204" charset="-122"/>
                <a:ea typeface="微软雅黑" panose="020B0503020204020204" charset="-122"/>
              </a:rPr>
              <a:t>题目</a:t>
            </a:r>
            <a:endParaRPr lang="zh-CN" sz="975" spc="113">
              <a:solidFill>
                <a:srgbClr val="2C4A3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6" name="文本框 435" descr="{&quot;isTemplate&quot;:true,&quot;type&quot;:&quot;text&quot;}"/>
          <p:cNvSpPr txBox="1"/>
          <p:nvPr/>
        </p:nvSpPr>
        <p:spPr>
          <a:xfrm>
            <a:off x="7073900" y="2924175"/>
            <a:ext cx="4267200" cy="12477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200">
                <a:solidFill>
                  <a:srgbClr val="3B4A41"/>
                </a:solidFill>
                <a:latin typeface="微软雅黑" panose="020B0503020204020204" charset="-122"/>
                <a:ea typeface="微软雅黑" panose="020B0503020204020204" charset="-122"/>
              </a:rPr>
              <a:t>70 </a:t>
            </a:r>
            <a:r>
              <a:rPr lang="zh-CN" sz="1200">
                <a:solidFill>
                  <a:srgbClr val="3B4A41"/>
                </a:solidFill>
                <a:latin typeface="微软雅黑" panose="020B0503020204020204" charset="-122"/>
                <a:ea typeface="微软雅黑" panose="020B0503020204020204" charset="-122"/>
              </a:rPr>
              <a:t>份问卷里确实有付费意向与</a:t>
            </a:r>
            <a:r>
              <a:rPr lang="en-US" sz="1200">
                <a:solidFill>
                  <a:srgbClr val="3B4A41"/>
                </a:solidFill>
                <a:latin typeface="微软雅黑" panose="020B0503020204020204" charset="-122"/>
                <a:ea typeface="微软雅黑" panose="020B0503020204020204" charset="-122"/>
              </a:rPr>
              <a:t> AI </a:t>
            </a:r>
            <a:r>
              <a:rPr lang="zh-CN" sz="1200">
                <a:solidFill>
                  <a:srgbClr val="3B4A41"/>
                </a:solidFill>
                <a:latin typeface="微软雅黑" panose="020B0503020204020204" charset="-122"/>
                <a:ea typeface="微软雅黑" panose="020B0503020204020204" charset="-122"/>
              </a:rPr>
              <a:t>功能的题目，但题面包含</a:t>
            </a:r>
            <a:r>
              <a:rPr lang="en-US" sz="1200">
                <a:solidFill>
                  <a:srgbClr val="3B4A41"/>
                </a:solidFill>
                <a:latin typeface="微软雅黑" panose="020B0503020204020204" charset="-122"/>
                <a:ea typeface="微软雅黑" panose="020B0503020204020204" charset="-122"/>
              </a:rPr>
              <a:t> AI </a:t>
            </a:r>
            <a:r>
              <a:rPr lang="zh-CN" sz="1200">
                <a:solidFill>
                  <a:srgbClr val="3B4A41"/>
                </a:solidFill>
                <a:latin typeface="微软雅黑" panose="020B0503020204020204" charset="-122"/>
                <a:ea typeface="微软雅黑" panose="020B0503020204020204" charset="-122"/>
              </a:rPr>
              <a:t>设想、可能影响接受意愿，样本也存在同学网络带来的偏差。因此这部分数据不作为收入预测或功能验收依据——这也是我们把它放在规划而不是承诺里的原因。</a:t>
            </a:r>
            <a:endParaRPr lang="zh-CN" sz="1200">
              <a:solidFill>
                <a:srgbClr val="3B4A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7" name="文本框 436" descr="{&quot;isTemplate&quot;:true,&quot;type&quot;:&quot;text&quot;}"/>
          <p:cNvSpPr txBox="1"/>
          <p:nvPr/>
        </p:nvSpPr>
        <p:spPr>
          <a:xfrm>
            <a:off x="571500" y="5886450"/>
            <a:ext cx="11049000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以上会员功能均为产品规划。当前上架版本不包含任何联网或付费功能，也未收取任何费用。</a:t>
            </a:r>
            <a:endParaRPr lang="zh-CN" sz="1275">
              <a:solidFill>
                <a:srgbClr val="5C6B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8" name="文本框 437" descr="{&quot;isTemplate&quot;:true,&quot;type&quot;:&quot;text&quot;}"/>
          <p:cNvSpPr txBox="1"/>
          <p:nvPr/>
        </p:nvSpPr>
        <p:spPr>
          <a:xfrm>
            <a:off x="571500" y="6400800"/>
            <a:ext cx="13049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AA69D"/>
                </a:solidFill>
                <a:latin typeface="微软雅黑" panose="020B0503020204020204" charset="-122"/>
                <a:ea typeface="微软雅黑" panose="020B0503020204020204" charset="-122"/>
              </a:rPr>
              <a:t>Life Graph · </a:t>
            </a:r>
            <a:r>
              <a:rPr lang="zh-CN" sz="1050">
                <a:solidFill>
                  <a:srgbClr val="9AA69D"/>
                </a:solidFill>
                <a:latin typeface="微软雅黑" panose="020B0503020204020204" charset="-122"/>
                <a:ea typeface="微软雅黑" panose="020B0503020204020204" charset="-122"/>
              </a:rPr>
              <a:t>生活脉络</a:t>
            </a:r>
            <a:endParaRPr lang="zh-CN" sz="1050">
              <a:solidFill>
                <a:srgbClr val="9AA69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9" name="文本框 438" descr="{&quot;isTemplate&quot;:true,&quot;type&quot;:&quot;text&quot;}"/>
          <p:cNvSpPr txBox="1"/>
          <p:nvPr/>
        </p:nvSpPr>
        <p:spPr>
          <a:xfrm>
            <a:off x="11458575" y="6400800"/>
            <a:ext cx="1619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AA69D"/>
                </a:solidFill>
                <a:latin typeface="微软雅黑" panose="020B0503020204020204" charset="-122"/>
                <a:ea typeface="微软雅黑" panose="020B0503020204020204" charset="-122"/>
              </a:rPr>
              <a:t>23</a:t>
            </a:r>
            <a:endParaRPr lang="en-US" sz="1050">
              <a:solidFill>
                <a:srgbClr val="9AA69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40" name="" descr="&lt;Slide style={{ width: 1280, height: 720, background: '#FAF8F2', padding: '60px', display: 'flex', flexDirection: 'column', fontFamily: 'Microsoft YaHei' }}&gt;&#10;&#10;    &lt;Box style={{ flexDirection: 'row', alignItems: 'center', gap: 10 }}&gt;&#10;        &lt;Box style={{ width: 6, height: 6, borderRadius: 3, background: '#C05F38' }} /&gt;&#10;        &lt;Text style={{ fontSize: 14, color: '#7C8A81', letterSpacing: 1.5 }}&gt;06 — 团队&lt;/Text&gt;&#10;    &lt;/Box&gt;&#10;    &lt;Text style={{ fontSize: 34, fontWeight: 'bold', color: '#1F2B26', lineHeight: 1.2, marginTop: 8 }}&gt;三个人，从调研一路做到上架&lt;/Text&gt;&#10;    &lt;Box style={{ height: 1, background: '#D9DFD7', marginTop: 16, marginBottom: 26 }} /&gt;&#10;&#10;    &lt;Box style={{ flexDirection: 'row', gap: 24 }}&gt;&#10;&#10;        &lt;Box style={{ width: 392, background: '#EDF2EA', borderRadius: 8, padding: 30 }}&gt;&#10;            &lt;Text style={{ fontSize: 14, color: '#C05F38', letterSpacing: 2 }}&gt;01&lt;/Text&gt;&#10;            &lt;Text style={{ fontSize: 24, fontWeight: 'bold', color: '#1F2B26', marginTop: 10 }}&gt;产品与研究&lt;/Text&gt;&#10;            &lt;Text style={{ fontSize: 18, color: '#5C6B62', lineHeight: 1.75, marginTop: 16 }}&gt;问卷与访谈设计、需求规格、交互与视觉、上架材料整理。&lt;/Text&gt;&#10;            &lt;Box style={{ height: 1, background: '#D5DFD3', marginTop: 18, marginBottom: 14 }} /&gt;&#10;            &lt;Text style={{ fontSize: 14, color: '#7C8A81' }}&gt;70 份问卷　·　5 位受访者　·　17 篇文档&lt;/Text&gt;&#10;        &lt;/Box&gt;&#10;&#10;        &lt;Box style={{ width: 372, background: '#EDF2EA', borderRadius: 8, padding: 30 }}&gt;&#10;            &lt;Text style={{ fontSize: 14, color: '#C05F38', letterSpacing: 2 }}&gt;02&lt;/Text&gt;&#10;            &lt;Text style={{ fontSize: 24, fontWeight: 'bold', color: '#1F2B26', marginTop: 10 }}&gt;原生开发&lt;/Text&gt;&#10;            &lt;Text style={{ fontSize: 18, color: '#5C6B62', lineHeight: 1.75, marginTop: 16 }}&gt;页面与组件、RDB 数据层、媒体与权限、备份恢复。&lt;/Text&gt;&#10;            &lt;Box style={{ height: 1, background: '#D5DFD3', marginTop: 18, marginBottom: 14 }} /&gt;&#10;            &lt;Text style={{ fontSize: 14, color: '#7C8A81' }}&gt;25 个组件　·　12 张表　·　6,634 行&lt;/Text&gt;&#10;        &lt;/Box&gt;&#10;&#10;        &lt;Box style={{ width: 348, background: '#2C4A3F', borderRadius: 8, padding: 30 }}&gt;&#10;            &lt;Text style={{ fontSize: 14, color: '#D79A73', letterSpacing: 2 }}&gt;03&lt;/Text&gt;&#10;            &lt;Text style={{ fontSize: 24, fontWeight: 'bold', color: '#F5F2E8', marginTop: 10 }}&gt;图谱与工程化&lt;/Text&gt;&#10;            &lt;Text style={{ fontSize: 18, color: '#C6D6C9', lineHeight: 1.75, marginTop: 16 }}&gt;ArkWeb + D3 图谱、桌面卡片、构建与自动化测试。&lt;/Text&gt;&#10;            &lt;Box style={{ height: 1, background: '#42604F', marginTop: 18, marginBottom: 14 }} /&gt;&#10;            &lt;Text style={{ fontSize: 14, color: '#9DB3A2' }}&gt;3 种图谱　·　6 套测试　·　39 次提交&lt;/Text&gt;&#10;        &lt;/Box&gt;&#10;    &lt;/Box&gt;&#10;&#10;    &lt;Box style={{ marginTop: 30, borderTop: '1px solid #E2E6DF', borderBottom: '1px solid #E2E6DF', paddingTop: 18, paddingBottom: 18, flexDirection: 'row', justifyContent: 'space-between', alignItems: 'center' }}&gt;&#10;        &lt;Text style={{ fontSize: 18, color: '#2E3B34' }}&gt;团队 3 人　·　开发周期 2026.04 — 2026.10　·　HarmonyOS API 23&lt;/Text&gt;&#10;        &lt;Text style={{ fontSize: 14, color: '#9AA69D' }}&gt;成员姓名 / 院校 / 指导教师：待补充&lt;/Text&gt;&#10;    &lt;/Box&gt;&#10;&#10;    &lt;Text style={{ fontSize: 18, color: '#5C6B62', lineHeight: 1.6, marginTop: 20 }}&gt;三个人的分工按产出划分，不按头衔划分——每个人都要为自己的部分写出可验证的结果。&lt;/Text&gt;&#10;&#10;    &lt;Box style={{ position: 'absolute', left: 60, right: 60, bottom: 30, height: 20, flexDirection: 'row', justifyContent: 'space-between', alignItems: 'center' }}&gt;&#10;        &lt;Text style={{ fontSize: 14, color: '#9AA69D' }}&gt;Life Graph · 生活脉络&lt;/Text&gt;&#10;        &lt;Text style={{ fontSize: 14, color: '#9AA69D' }}&gt;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矩形 44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8F2"/>
          </a:solidFill>
        </p:spPr>
        <p:txBody>
          <a:bodyPr/>
          <a:p/>
        </p:txBody>
      </p:sp>
      <p:sp>
        <p:nvSpPr>
          <p:cNvPr id="442" name="圆角矩形 441"/>
          <p:cNvSpPr/>
          <p:nvPr/>
        </p:nvSpPr>
        <p:spPr>
          <a:xfrm>
            <a:off x="571500" y="6286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C05F38"/>
          </a:solidFill>
        </p:spPr>
        <p:txBody>
          <a:bodyPr/>
          <a:p/>
        </p:txBody>
      </p:sp>
      <p:sp>
        <p:nvSpPr>
          <p:cNvPr id="443" name="文本框 442" descr="{&quot;isTemplate&quot;:true,&quot;type&quot;:&quot;text&quot;}"/>
          <p:cNvSpPr txBox="1"/>
          <p:nvPr/>
        </p:nvSpPr>
        <p:spPr>
          <a:xfrm>
            <a:off x="723900" y="571500"/>
            <a:ext cx="7524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13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06 — </a:t>
            </a:r>
            <a:r>
              <a:rPr lang="zh-CN" sz="1050" spc="113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团队</a:t>
            </a:r>
            <a:endParaRPr lang="zh-CN" sz="1050" spc="113">
              <a:solidFill>
                <a:srgbClr val="7C8A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4" name="文本框 443" descr="{&quot;isTemplate&quot;:true,&quot;type&quot;:&quot;text&quot;}"/>
          <p:cNvSpPr txBox="1"/>
          <p:nvPr/>
        </p:nvSpPr>
        <p:spPr>
          <a:xfrm>
            <a:off x="571500" y="809625"/>
            <a:ext cx="11049000" cy="4667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F2B26"/>
                </a:solidFill>
                <a:latin typeface="微软雅黑" panose="020B0503020204020204" charset="-122"/>
                <a:ea typeface="微软雅黑" panose="020B0503020204020204" charset="-122"/>
              </a:rPr>
              <a:t>从调研到上架</a:t>
            </a:r>
            <a:endParaRPr lang="zh-CN" sz="2550" b="1">
              <a:solidFill>
                <a:srgbClr val="1F2B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5" name="矩形 444"/>
          <p:cNvSpPr/>
          <p:nvPr/>
        </p:nvSpPr>
        <p:spPr>
          <a:xfrm>
            <a:off x="571500" y="1428750"/>
            <a:ext cx="11049000" cy="9525"/>
          </a:xfrm>
          <a:prstGeom prst="rect">
            <a:avLst/>
          </a:prstGeom>
          <a:solidFill>
            <a:srgbClr val="D9DFD7"/>
          </a:solidFill>
        </p:spPr>
        <p:txBody>
          <a:bodyPr/>
          <a:p/>
        </p:txBody>
      </p:sp>
      <p:sp>
        <p:nvSpPr>
          <p:cNvPr id="446" name="圆角矩形 445"/>
          <p:cNvSpPr/>
          <p:nvPr>
            <p:custDataLst>
              <p:tags r:id="rId1"/>
            </p:custDataLst>
          </p:nvPr>
        </p:nvSpPr>
        <p:spPr>
          <a:xfrm>
            <a:off x="571500" y="1685925"/>
            <a:ext cx="3733800" cy="2457450"/>
          </a:xfrm>
          <a:prstGeom prst="roundRect">
            <a:avLst>
              <a:gd name="adj" fmla="val 3101"/>
            </a:avLst>
          </a:prstGeom>
          <a:solidFill>
            <a:srgbClr val="EDF2EA"/>
          </a:solidFill>
        </p:spPr>
        <p:txBody>
          <a:bodyPr/>
          <a:p/>
        </p:txBody>
      </p:sp>
      <p:sp>
        <p:nvSpPr>
          <p:cNvPr id="447" name="文本框 446" descr="{&quot;isTemplate&quot;:true,&quot;type&quot;:&quot;text&quot;}"/>
          <p:cNvSpPr txBox="1"/>
          <p:nvPr>
            <p:custDataLst>
              <p:tags r:id="rId2"/>
            </p:custDataLst>
          </p:nvPr>
        </p:nvSpPr>
        <p:spPr>
          <a:xfrm>
            <a:off x="857250" y="1971675"/>
            <a:ext cx="31623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C05F38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sz="1050" spc="150">
              <a:solidFill>
                <a:srgbClr val="C05F3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8" name="文本框 447" descr="{&quot;isTemplate&quot;:true,&quot;type&quot;:&quot;text&quot;}"/>
          <p:cNvSpPr txBox="1"/>
          <p:nvPr>
            <p:custDataLst>
              <p:tags r:id="rId3"/>
            </p:custDataLst>
          </p:nvPr>
        </p:nvSpPr>
        <p:spPr>
          <a:xfrm>
            <a:off x="857250" y="2228850"/>
            <a:ext cx="31623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F2B26"/>
                </a:solidFill>
                <a:latin typeface="微软雅黑" panose="020B0503020204020204" charset="-122"/>
                <a:ea typeface="微软雅黑" panose="020B0503020204020204" charset="-122"/>
              </a:rPr>
              <a:t>产品与研究</a:t>
            </a:r>
            <a:endParaRPr lang="zh-CN" sz="1800" b="1">
              <a:solidFill>
                <a:srgbClr val="1F2B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9" name="文本框 448" descr="{&quot;isTemplate&quot;:true,&quot;type&quot;:&quot;text&quot;}"/>
          <p:cNvSpPr txBox="1"/>
          <p:nvPr>
            <p:custDataLst>
              <p:tags r:id="rId4"/>
            </p:custDataLst>
          </p:nvPr>
        </p:nvSpPr>
        <p:spPr>
          <a:xfrm>
            <a:off x="857250" y="2657475"/>
            <a:ext cx="3162300" cy="723900"/>
          </a:xfrm>
          <a:prstGeom prst="rect">
            <a:avLst/>
          </a:prstGeom>
        </p:spPr>
        <p:txBody>
          <a:bodyPr wrap="square" lIns="0" tIns="0" rIns="0" bIns="0">
            <a:normAutofit lnSpcReduction="10000"/>
          </a:bodyPr>
          <a:p>
            <a:pPr>
              <a:lnSpc>
                <a:spcPct val="175000"/>
              </a:lnSpc>
            </a:pPr>
            <a:r>
              <a:rPr lang="zh-CN" sz="135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问卷与访谈设计、需求规格、交互与视觉、上架材料整理。</a:t>
            </a:r>
            <a:endParaRPr lang="zh-CN" sz="1350">
              <a:solidFill>
                <a:srgbClr val="5C6B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0" name="矩形 449"/>
          <p:cNvSpPr/>
          <p:nvPr>
            <p:custDataLst>
              <p:tags r:id="rId5"/>
            </p:custDataLst>
          </p:nvPr>
        </p:nvSpPr>
        <p:spPr>
          <a:xfrm>
            <a:off x="857250" y="3552825"/>
            <a:ext cx="3162300" cy="9525"/>
          </a:xfrm>
          <a:prstGeom prst="rect">
            <a:avLst/>
          </a:prstGeom>
          <a:solidFill>
            <a:srgbClr val="D5DFD3"/>
          </a:solidFill>
        </p:spPr>
        <p:txBody>
          <a:bodyPr/>
          <a:p/>
        </p:txBody>
      </p:sp>
      <p:sp>
        <p:nvSpPr>
          <p:cNvPr id="451" name="文本框 450" descr="{&quot;isTemplate&quot;:true,&quot;type&quot;:&quot;text&quot;}"/>
          <p:cNvSpPr txBox="1"/>
          <p:nvPr>
            <p:custDataLst>
              <p:tags r:id="rId6"/>
            </p:custDataLst>
          </p:nvPr>
        </p:nvSpPr>
        <p:spPr>
          <a:xfrm>
            <a:off x="857250" y="3695700"/>
            <a:ext cx="31623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70 </a:t>
            </a:r>
            <a:r>
              <a:rPr lang="zh-CN" sz="1050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份问卷　·　</a:t>
            </a:r>
            <a:r>
              <a:rPr lang="en-US" sz="1050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5 </a:t>
            </a:r>
            <a:r>
              <a:rPr lang="zh-CN" sz="1050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位受访者　·　</a:t>
            </a:r>
            <a:r>
              <a:rPr lang="en-US" sz="1050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17 </a:t>
            </a:r>
            <a:r>
              <a:rPr lang="zh-CN" sz="1050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篇文档</a:t>
            </a:r>
            <a:endParaRPr lang="zh-CN" sz="1050">
              <a:solidFill>
                <a:srgbClr val="7C8A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2" name="圆角矩形 451"/>
          <p:cNvSpPr/>
          <p:nvPr>
            <p:custDataLst>
              <p:tags r:id="rId7"/>
            </p:custDataLst>
          </p:nvPr>
        </p:nvSpPr>
        <p:spPr>
          <a:xfrm>
            <a:off x="4533900" y="1685925"/>
            <a:ext cx="3543300" cy="2457450"/>
          </a:xfrm>
          <a:prstGeom prst="roundRect">
            <a:avLst>
              <a:gd name="adj" fmla="val 3101"/>
            </a:avLst>
          </a:prstGeom>
          <a:solidFill>
            <a:srgbClr val="EDF2EA"/>
          </a:solidFill>
        </p:spPr>
        <p:txBody>
          <a:bodyPr/>
          <a:p/>
        </p:txBody>
      </p:sp>
      <p:sp>
        <p:nvSpPr>
          <p:cNvPr id="453" name="文本框 452" descr="{&quot;isTemplate&quot;:true,&quot;type&quot;:&quot;text&quot;}"/>
          <p:cNvSpPr txBox="1"/>
          <p:nvPr>
            <p:custDataLst>
              <p:tags r:id="rId8"/>
            </p:custDataLst>
          </p:nvPr>
        </p:nvSpPr>
        <p:spPr>
          <a:xfrm>
            <a:off x="4819650" y="1971675"/>
            <a:ext cx="29718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C05F38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sz="1050" spc="150">
              <a:solidFill>
                <a:srgbClr val="C05F3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4" name="文本框 453" descr="{&quot;isTemplate&quot;:true,&quot;type&quot;:&quot;text&quot;}"/>
          <p:cNvSpPr txBox="1"/>
          <p:nvPr>
            <p:custDataLst>
              <p:tags r:id="rId9"/>
            </p:custDataLst>
          </p:nvPr>
        </p:nvSpPr>
        <p:spPr>
          <a:xfrm>
            <a:off x="4819650" y="2228850"/>
            <a:ext cx="29718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F2B26"/>
                </a:solidFill>
                <a:latin typeface="微软雅黑" panose="020B0503020204020204" charset="-122"/>
                <a:ea typeface="微软雅黑" panose="020B0503020204020204" charset="-122"/>
              </a:rPr>
              <a:t>原生开发</a:t>
            </a:r>
            <a:endParaRPr lang="zh-CN" sz="1800" b="1">
              <a:solidFill>
                <a:srgbClr val="1F2B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5" name="文本框 454" descr="{&quot;isTemplate&quot;:true,&quot;type&quot;:&quot;text&quot;}"/>
          <p:cNvSpPr txBox="1"/>
          <p:nvPr>
            <p:custDataLst>
              <p:tags r:id="rId10"/>
            </p:custDataLst>
          </p:nvPr>
        </p:nvSpPr>
        <p:spPr>
          <a:xfrm>
            <a:off x="4819650" y="2657475"/>
            <a:ext cx="2971800" cy="7239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35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页面与组件、</a:t>
            </a:r>
            <a:r>
              <a:rPr lang="en-US" sz="135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RDB </a:t>
            </a:r>
            <a:r>
              <a:rPr lang="zh-CN" sz="1350">
                <a:solidFill>
                  <a:srgbClr val="5C6B62"/>
                </a:solidFill>
                <a:latin typeface="微软雅黑" panose="020B0503020204020204" charset="-122"/>
                <a:ea typeface="微软雅黑" panose="020B0503020204020204" charset="-122"/>
              </a:rPr>
              <a:t>数据层、媒体与权限、备份恢复。</a:t>
            </a:r>
            <a:endParaRPr lang="zh-CN" sz="1350">
              <a:solidFill>
                <a:srgbClr val="5C6B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6" name="矩形 455"/>
          <p:cNvSpPr/>
          <p:nvPr>
            <p:custDataLst>
              <p:tags r:id="rId11"/>
            </p:custDataLst>
          </p:nvPr>
        </p:nvSpPr>
        <p:spPr>
          <a:xfrm>
            <a:off x="4819650" y="3552825"/>
            <a:ext cx="2971800" cy="9525"/>
          </a:xfrm>
          <a:prstGeom prst="rect">
            <a:avLst/>
          </a:prstGeom>
          <a:solidFill>
            <a:srgbClr val="D5DFD3"/>
          </a:solidFill>
        </p:spPr>
        <p:txBody>
          <a:bodyPr/>
          <a:p/>
        </p:txBody>
      </p:sp>
      <p:sp>
        <p:nvSpPr>
          <p:cNvPr id="457" name="文本框 456" descr="{&quot;isTemplate&quot;:true,&quot;type&quot;:&quot;text&quot;}"/>
          <p:cNvSpPr txBox="1"/>
          <p:nvPr>
            <p:custDataLst>
              <p:tags r:id="rId12"/>
            </p:custDataLst>
          </p:nvPr>
        </p:nvSpPr>
        <p:spPr>
          <a:xfrm>
            <a:off x="4819650" y="3695700"/>
            <a:ext cx="29718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25 </a:t>
            </a:r>
            <a:r>
              <a:rPr lang="zh-CN" sz="1050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个组件　·　</a:t>
            </a:r>
            <a:r>
              <a:rPr lang="en-US" sz="1050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12 </a:t>
            </a:r>
            <a:r>
              <a:rPr lang="zh-CN" sz="1050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张表　·　</a:t>
            </a:r>
            <a:r>
              <a:rPr lang="en-US" sz="1050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6,634 </a:t>
            </a:r>
            <a:r>
              <a:rPr lang="zh-CN" sz="1050">
                <a:solidFill>
                  <a:srgbClr val="7C8A81"/>
                </a:solidFill>
                <a:latin typeface="微软雅黑" panose="020B0503020204020204" charset="-122"/>
                <a:ea typeface="微软雅黑" panose="020B0503020204020204" charset="-122"/>
              </a:rPr>
              <a:t>行</a:t>
            </a:r>
            <a:endParaRPr lang="zh-CN" sz="1050">
              <a:solidFill>
                <a:srgbClr val="7C8A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8" name="圆角矩形 457"/>
          <p:cNvSpPr/>
          <p:nvPr>
            <p:custDataLst>
              <p:tags r:id="rId13"/>
            </p:custDataLst>
          </p:nvPr>
        </p:nvSpPr>
        <p:spPr>
          <a:xfrm>
            <a:off x="8305800" y="1685925"/>
            <a:ext cx="3314700" cy="2457450"/>
          </a:xfrm>
          <a:prstGeom prst="roundRect">
            <a:avLst>
              <a:gd name="adj" fmla="val 3101"/>
            </a:avLst>
          </a:prstGeom>
          <a:solidFill>
            <a:srgbClr val="2C4A3F"/>
          </a:solidFill>
        </p:spPr>
        <p:txBody>
          <a:bodyPr/>
          <a:p/>
        </p:txBody>
      </p:sp>
      <p:sp>
        <p:nvSpPr>
          <p:cNvPr id="459" name="文本框 458" descr="{&quot;isTemplate&quot;:true,&quot;type&quot;:&quot;text&quot;}"/>
          <p:cNvSpPr txBox="1"/>
          <p:nvPr>
            <p:custDataLst>
              <p:tags r:id="rId14"/>
            </p:custDataLst>
          </p:nvPr>
        </p:nvSpPr>
        <p:spPr>
          <a:xfrm>
            <a:off x="8591550" y="1971675"/>
            <a:ext cx="2743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D79A73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sz="1050" spc="150">
              <a:solidFill>
                <a:srgbClr val="D79A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0" name="文本框 459" descr="{&quot;isTemplate&quot;:true,&quot;type&quot;:&quot;text&quot;}"/>
          <p:cNvSpPr txBox="1"/>
          <p:nvPr>
            <p:custDataLst>
              <p:tags r:id="rId15"/>
            </p:custDataLst>
          </p:nvPr>
        </p:nvSpPr>
        <p:spPr>
          <a:xfrm>
            <a:off x="8591550" y="2228850"/>
            <a:ext cx="27432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5F2E8"/>
                </a:solidFill>
                <a:latin typeface="微软雅黑" panose="020B0503020204020204" charset="-122"/>
                <a:ea typeface="微软雅黑" panose="020B0503020204020204" charset="-122"/>
              </a:rPr>
              <a:t>图谱与工程化</a:t>
            </a:r>
            <a:endParaRPr lang="zh-CN" sz="1800" b="1">
              <a:solidFill>
                <a:srgbClr val="F5F2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1" name="文本框 460" descr="{&quot;isTemplate&quot;:true,&quot;type&quot;:&quot;text&quot;}"/>
          <p:cNvSpPr txBox="1"/>
          <p:nvPr>
            <p:custDataLst>
              <p:tags r:id="rId16"/>
            </p:custDataLst>
          </p:nvPr>
        </p:nvSpPr>
        <p:spPr>
          <a:xfrm>
            <a:off x="8591550" y="2657475"/>
            <a:ext cx="2743200" cy="7239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en-US" sz="1350">
                <a:solidFill>
                  <a:srgbClr val="C6D6C9"/>
                </a:solidFill>
                <a:latin typeface="微软雅黑" panose="020B0503020204020204" charset="-122"/>
                <a:ea typeface="微软雅黑" panose="020B0503020204020204" charset="-122"/>
              </a:rPr>
              <a:t>ArkWeb + D3 </a:t>
            </a:r>
            <a:r>
              <a:rPr lang="zh-CN" sz="1350">
                <a:solidFill>
                  <a:srgbClr val="C6D6C9"/>
                </a:solidFill>
                <a:latin typeface="微软雅黑" panose="020B0503020204020204" charset="-122"/>
                <a:ea typeface="微软雅黑" panose="020B0503020204020204" charset="-122"/>
              </a:rPr>
              <a:t>图谱、桌面卡片、构建与自动化测试。</a:t>
            </a:r>
            <a:endParaRPr lang="zh-CN" sz="1350">
              <a:solidFill>
                <a:srgbClr val="C6D6C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2" name="矩形 461"/>
          <p:cNvSpPr/>
          <p:nvPr>
            <p:custDataLst>
              <p:tags r:id="rId17"/>
            </p:custDataLst>
          </p:nvPr>
        </p:nvSpPr>
        <p:spPr>
          <a:xfrm>
            <a:off x="8591550" y="3552825"/>
            <a:ext cx="2743200" cy="9525"/>
          </a:xfrm>
          <a:prstGeom prst="rect">
            <a:avLst/>
          </a:prstGeom>
          <a:solidFill>
            <a:srgbClr val="42604F"/>
          </a:solidFill>
        </p:spPr>
        <p:txBody>
          <a:bodyPr/>
          <a:p/>
        </p:txBody>
      </p:sp>
      <p:sp>
        <p:nvSpPr>
          <p:cNvPr id="463" name="文本框 462" descr="{&quot;isTemplate&quot;:true,&quot;type&quot;:&quot;text&quot;}"/>
          <p:cNvSpPr txBox="1"/>
          <p:nvPr>
            <p:custDataLst>
              <p:tags r:id="rId18"/>
            </p:custDataLst>
          </p:nvPr>
        </p:nvSpPr>
        <p:spPr>
          <a:xfrm>
            <a:off x="8591550" y="3695700"/>
            <a:ext cx="2743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DB3A2"/>
                </a:solidFill>
                <a:latin typeface="微软雅黑" panose="020B0503020204020204" charset="-122"/>
                <a:ea typeface="微软雅黑" panose="020B0503020204020204" charset="-122"/>
              </a:rPr>
              <a:t>3 </a:t>
            </a:r>
            <a:r>
              <a:rPr lang="zh-CN" sz="1050">
                <a:solidFill>
                  <a:srgbClr val="9DB3A2"/>
                </a:solidFill>
                <a:latin typeface="微软雅黑" panose="020B0503020204020204" charset="-122"/>
                <a:ea typeface="微软雅黑" panose="020B0503020204020204" charset="-122"/>
              </a:rPr>
              <a:t>种图谱　·　</a:t>
            </a:r>
            <a:r>
              <a:rPr lang="en-US" sz="1050">
                <a:solidFill>
                  <a:srgbClr val="9DB3A2"/>
                </a:solidFill>
                <a:latin typeface="微软雅黑" panose="020B0503020204020204" charset="-122"/>
                <a:ea typeface="微软雅黑" panose="020B0503020204020204" charset="-122"/>
              </a:rPr>
              <a:t>6 </a:t>
            </a:r>
            <a:r>
              <a:rPr lang="zh-CN" sz="1050">
                <a:solidFill>
                  <a:srgbClr val="9DB3A2"/>
                </a:solidFill>
                <a:latin typeface="微软雅黑" panose="020B0503020204020204" charset="-122"/>
                <a:ea typeface="微软雅黑" panose="020B0503020204020204" charset="-122"/>
              </a:rPr>
              <a:t>套测试　·　</a:t>
            </a:r>
            <a:r>
              <a:rPr lang="en-US" sz="1050">
                <a:solidFill>
                  <a:srgbClr val="9DB3A2"/>
                </a:solidFill>
                <a:latin typeface="微软雅黑" panose="020B0503020204020204" charset="-122"/>
                <a:ea typeface="微软雅黑" panose="020B0503020204020204" charset="-122"/>
              </a:rPr>
              <a:t>39 </a:t>
            </a:r>
            <a:r>
              <a:rPr lang="zh-CN" sz="1050">
                <a:solidFill>
                  <a:srgbClr val="9DB3A2"/>
                </a:solidFill>
                <a:latin typeface="微软雅黑" panose="020B0503020204020204" charset="-122"/>
                <a:ea typeface="微软雅黑" panose="020B0503020204020204" charset="-122"/>
              </a:rPr>
              <a:t>次提交</a:t>
            </a:r>
            <a:endParaRPr lang="zh-CN" sz="1050">
              <a:solidFill>
                <a:srgbClr val="9DB3A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4" name="任意多边形 463"/>
          <p:cNvSpPr/>
          <p:nvPr/>
        </p:nvSpPr>
        <p:spPr>
          <a:xfrm>
            <a:off x="571500" y="4429125"/>
            <a:ext cx="11049000" cy="590550"/>
          </a:xfrm>
          <a:custGeom>
            <a:avLst/>
            <a:gdLst/>
            <a:ahLst/>
            <a:cxnLst/>
            <a:pathLst>
              <a:path w="1160" h="62">
                <a:moveTo>
                  <a:pt x="0" y="0"/>
                </a:moveTo>
                <a:lnTo>
                  <a:pt x="1160" y="0"/>
                </a:lnTo>
                <a:lnTo>
                  <a:pt x="116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6DF"/>
          </a:solidFill>
        </p:spPr>
        <p:txBody>
          <a:bodyPr/>
          <a:p/>
        </p:txBody>
      </p:sp>
      <p:sp>
        <p:nvSpPr>
          <p:cNvPr id="466" name="文本框 465" descr="{&quot;isTemplate&quot;:true,&quot;type&quot;:&quot;text&quot;}"/>
          <p:cNvSpPr txBox="1"/>
          <p:nvPr/>
        </p:nvSpPr>
        <p:spPr>
          <a:xfrm>
            <a:off x="1708150" y="4565650"/>
            <a:ext cx="5381625" cy="209550"/>
          </a:xfrm>
          <a:prstGeom prst="rect">
            <a:avLst/>
          </a:prstGeom>
        </p:spPr>
        <p:txBody>
          <a:bodyPr wrap="none" lIns="0" tIns="0" rIns="0" bIns="0"/>
          <a:p>
            <a:pPr algn="l">
              <a:lnSpc>
                <a:spcPct val="100000"/>
              </a:lnSpc>
            </a:pPr>
            <a:r>
              <a:rPr lang="zh-CN" sz="1350">
                <a:solidFill>
                  <a:srgbClr val="2E3B34"/>
                </a:solidFill>
                <a:latin typeface="微软雅黑" panose="020B0503020204020204" charset="-122"/>
                <a:ea typeface="微软雅黑" panose="020B0503020204020204" charset="-122"/>
              </a:rPr>
              <a:t>团队：陈柯男</a:t>
            </a:r>
            <a:r>
              <a:rPr lang="en-US" altLang="zh-CN" sz="1350">
                <a:solidFill>
                  <a:srgbClr val="2E3B34"/>
                </a:solidFill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lang="zh-CN" altLang="en-US" sz="1350">
                <a:solidFill>
                  <a:srgbClr val="2E3B34"/>
                </a:solidFill>
                <a:latin typeface="微软雅黑" panose="020B0503020204020204" charset="-122"/>
                <a:ea typeface="微软雅黑" panose="020B0503020204020204" charset="-122"/>
              </a:rPr>
              <a:t>王艺允</a:t>
            </a:r>
            <a:r>
              <a:rPr lang="en-US" altLang="zh-CN" sz="1350">
                <a:solidFill>
                  <a:srgbClr val="2E3B34"/>
                </a:solidFill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lang="zh-CN" altLang="en-US" sz="1350">
                <a:solidFill>
                  <a:srgbClr val="2E3B34"/>
                </a:solidFill>
                <a:latin typeface="微软雅黑" panose="020B0503020204020204" charset="-122"/>
                <a:ea typeface="微软雅黑" panose="020B0503020204020204" charset="-122"/>
              </a:rPr>
              <a:t>颜欣杰</a:t>
            </a:r>
            <a:endParaRPr lang="zh-CN" altLang="en-US" sz="1350">
              <a:solidFill>
                <a:srgbClr val="2E3B3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0000"/>
              </a:lnSpc>
            </a:pPr>
            <a:endParaRPr lang="zh-CN" altLang="en-US" sz="1350">
              <a:solidFill>
                <a:srgbClr val="2E3B34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lnSpc>
                <a:spcPct val="100000"/>
              </a:lnSpc>
            </a:pPr>
            <a:r>
              <a:rPr lang="zh-CN" altLang="en-US" sz="1350">
                <a:solidFill>
                  <a:srgbClr val="2E3B3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特别鸣谢：毛泽毅</a:t>
            </a:r>
            <a:r>
              <a:rPr lang="en-US" altLang="zh-CN" sz="1350">
                <a:solidFill>
                  <a:srgbClr val="2E3B3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</a:t>
            </a:r>
            <a:r>
              <a:rPr lang="zh-CN" altLang="en-US" sz="1350">
                <a:solidFill>
                  <a:srgbClr val="2E3B3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宋昌致</a:t>
            </a:r>
            <a:endParaRPr lang="zh-CN" altLang="en-US" sz="1350">
              <a:solidFill>
                <a:srgbClr val="2E3B3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0000"/>
              </a:lnSpc>
            </a:pPr>
            <a:r>
              <a:rPr lang="en-US" altLang="zh-CN" sz="1350">
                <a:solidFill>
                  <a:srgbClr val="2E3B34"/>
                </a:solidFill>
                <a:latin typeface="微软雅黑" panose="020B0503020204020204" charset="-122"/>
                <a:ea typeface="微软雅黑" panose="020B0503020204020204" charset="-122"/>
              </a:rPr>
              <a:t>      </a:t>
            </a:r>
            <a:endParaRPr lang="en-US" altLang="zh-CN" sz="1350">
              <a:solidFill>
                <a:srgbClr val="2E3B3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0000"/>
              </a:lnSpc>
            </a:pPr>
            <a:r>
              <a:rPr lang="zh-CN" altLang="en-US" sz="1350">
                <a:solidFill>
                  <a:srgbClr val="2E3B34"/>
                </a:solidFill>
                <a:latin typeface="微软雅黑" panose="020B0503020204020204" charset="-122"/>
                <a:ea typeface="微软雅黑" panose="020B0503020204020204" charset="-122"/>
              </a:rPr>
              <a:t>指导老师：</a:t>
            </a:r>
            <a:r>
              <a:rPr lang="zh-CN" altLang="en-US" sz="1350">
                <a:solidFill>
                  <a:srgbClr val="2E3B34"/>
                </a:solidFill>
                <a:latin typeface="微软雅黑" panose="020B0503020204020204" charset="-122"/>
                <a:ea typeface="微软雅黑" panose="020B0503020204020204" charset="-122"/>
              </a:rPr>
              <a:t>刘钦</a:t>
            </a:r>
            <a:endParaRPr lang="zh-CN" altLang="en-US" sz="1350">
              <a:solidFill>
                <a:srgbClr val="2E3B3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0000"/>
              </a:lnSpc>
            </a:pPr>
            <a:endParaRPr lang="zh-CN" altLang="en-US" sz="1350">
              <a:solidFill>
                <a:srgbClr val="2E3B3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0000"/>
              </a:lnSpc>
            </a:pPr>
            <a:r>
              <a:rPr lang="zh-CN" altLang="en-US" sz="1350">
                <a:solidFill>
                  <a:srgbClr val="2E3B34"/>
                </a:solidFill>
                <a:latin typeface="微软雅黑" panose="020B0503020204020204" charset="-122"/>
                <a:ea typeface="微软雅黑" panose="020B0503020204020204" charset="-122"/>
              </a:rPr>
              <a:t>（以上人员均来自</a:t>
            </a:r>
            <a:r>
              <a:rPr lang="zh-CN" altLang="en-US" sz="1350">
                <a:solidFill>
                  <a:srgbClr val="2E3B34"/>
                </a:solidFill>
                <a:latin typeface="微软雅黑" panose="020B0503020204020204" charset="-122"/>
                <a:ea typeface="微软雅黑" panose="020B0503020204020204" charset="-122"/>
              </a:rPr>
              <a:t>南京大学）</a:t>
            </a:r>
            <a:r>
              <a:rPr lang="zh-CN" sz="1350">
                <a:solidFill>
                  <a:srgbClr val="2E3B34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endParaRPr lang="en-US" sz="1350">
              <a:solidFill>
                <a:srgbClr val="2E3B3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9" name="文本框 468" descr="{&quot;isTemplate&quot;:true,&quot;type&quot;:&quot;text&quot;}"/>
          <p:cNvSpPr txBox="1"/>
          <p:nvPr/>
        </p:nvSpPr>
        <p:spPr>
          <a:xfrm>
            <a:off x="571500" y="6400800"/>
            <a:ext cx="13049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AA69D"/>
                </a:solidFill>
                <a:latin typeface="微软雅黑" panose="020B0503020204020204" charset="-122"/>
                <a:ea typeface="微软雅黑" panose="020B0503020204020204" charset="-122"/>
              </a:rPr>
              <a:t>Life Graph · </a:t>
            </a:r>
            <a:r>
              <a:rPr lang="zh-CN" sz="1050">
                <a:solidFill>
                  <a:srgbClr val="9AA69D"/>
                </a:solidFill>
                <a:latin typeface="微软雅黑" panose="020B0503020204020204" charset="-122"/>
                <a:ea typeface="微软雅黑" panose="020B0503020204020204" charset="-122"/>
              </a:rPr>
              <a:t>生活脉络</a:t>
            </a:r>
            <a:endParaRPr lang="zh-CN" sz="1050">
              <a:solidFill>
                <a:srgbClr val="9AA69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0" name="文本框 469" descr="{&quot;isTemplate&quot;:true,&quot;type&quot;:&quot;text&quot;}"/>
          <p:cNvSpPr txBox="1"/>
          <p:nvPr/>
        </p:nvSpPr>
        <p:spPr>
          <a:xfrm>
            <a:off x="11458575" y="6400800"/>
            <a:ext cx="1619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AA69D"/>
                </a:solidFill>
                <a:latin typeface="微软雅黑" panose="020B0503020204020204" charset="-122"/>
                <a:ea typeface="微软雅黑" panose="020B0503020204020204" charset="-122"/>
              </a:rPr>
              <a:t>24</a:t>
            </a:r>
            <a:endParaRPr lang="en-US" sz="1050">
              <a:solidFill>
                <a:srgbClr val="9AA69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" name="文本框 0" descr="{&quot;isTemplate&quot;:true,&quot;type&quot;:&quot;text&quot;}"/>
          <p:cNvSpPr txBox="1"/>
          <p:nvPr/>
        </p:nvSpPr>
        <p:spPr>
          <a:xfrm>
            <a:off x="5698490" y="4565650"/>
            <a:ext cx="5381625" cy="209550"/>
          </a:xfrm>
          <a:prstGeom prst="rect">
            <a:avLst/>
          </a:prstGeom>
        </p:spPr>
        <p:txBody>
          <a:bodyPr wrap="none" lIns="0" tIns="0" rIns="0" bIns="0"/>
          <a:p>
            <a:pPr algn="l">
              <a:lnSpc>
                <a:spcPct val="100000"/>
              </a:lnSpc>
            </a:pPr>
            <a:r>
              <a:rPr lang="zh-CN" altLang="en-US" sz="1350">
                <a:solidFill>
                  <a:srgbClr val="2E3B34"/>
                </a:solidFill>
                <a:latin typeface="微软雅黑" panose="020B0503020204020204" charset="-122"/>
                <a:ea typeface="微软雅黑" panose="020B0503020204020204" charset="-122"/>
              </a:rPr>
              <a:t>开发周期：</a:t>
            </a:r>
            <a:r>
              <a:rPr lang="en-US" altLang="zh-CN" sz="1350">
                <a:solidFill>
                  <a:srgbClr val="2E3B34"/>
                </a:solidFill>
                <a:latin typeface="微软雅黑" panose="020B0503020204020204" charset="-122"/>
                <a:ea typeface="微软雅黑" panose="020B0503020204020204" charset="-122"/>
              </a:rPr>
              <a:t>2026.4-2026.10      </a:t>
            </a:r>
            <a:endParaRPr lang="en-US" altLang="zh-CN" sz="1350">
              <a:solidFill>
                <a:srgbClr val="2E3B3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0000"/>
              </a:lnSpc>
            </a:pPr>
            <a:endParaRPr lang="en-US" altLang="zh-CN" sz="1350">
              <a:solidFill>
                <a:srgbClr val="2E3B3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0000"/>
              </a:lnSpc>
            </a:pPr>
            <a:r>
              <a:rPr lang="en-US" altLang="zh-CN" sz="1350">
                <a:solidFill>
                  <a:srgbClr val="2E3B34"/>
                </a:solidFill>
                <a:latin typeface="微软雅黑" panose="020B0503020204020204" charset="-122"/>
                <a:ea typeface="微软雅黑" panose="020B0503020204020204" charset="-122"/>
              </a:rPr>
              <a:t>HarmonyOS API 23</a:t>
            </a:r>
            <a:endParaRPr lang="en-US" altLang="zh-CN" sz="1350">
              <a:solidFill>
                <a:srgbClr val="2E3B3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0000"/>
              </a:lnSpc>
            </a:pPr>
            <a:r>
              <a:rPr lang="zh-CN" sz="1350">
                <a:solidFill>
                  <a:srgbClr val="2E3B34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endParaRPr lang="en-US" sz="1350">
              <a:solidFill>
                <a:srgbClr val="2E3B3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71" name="" descr="&lt;Slide style={{ width: 1280, height: 720, background: '#20372D', position: 'relative', display: 'flex', flexDirection: 'column', fontFamily: 'Microsoft YaHei', overflow: 'hidden' }}&gt;&#10;&#10;    &lt;Box style={{ position: 'absolute', left: 620, top: 40, width: 620, height: 640, opacity: 0.5 }}&gt;&#10;        &lt;svg width={620} height={640} viewBox='0 0 620 640'&gt;&#10;            &lt;line x1='90' y1='120' x2='300' y2='230' stroke='#7E9A86' strokeWidth='1' /&gt;&#10;            &lt;line x1='300' y1='230' x2='200' y2='420' stroke='#7E9A86' strokeWidth='1' /&gt;&#10;            &lt;line x1='300' y1='230' x2='480' y2='300' stroke='#7E9A86' strokeWidth='1' /&gt;&#10;            &lt;line x1='480' y1='300' x2='420' y2='520' stroke='#7E9A86' strokeWidth='1' /&gt;&#10;            &lt;line x1='200' y1='420' x2='420' y2='520' stroke='#7E9A86' strokeWidth='1' /&gt;&#10;            &lt;line x1='300' y1='230' x2='560' y2='120' stroke='#7E9A86' strokeWidth='1' /&gt;&#10;            &lt;circle cx='90' cy='120' r='9' fill='none' stroke='#8FA998' strokeWidth='1.2' /&gt;&#10;            &lt;circle cx='300' cy='230' r='14' fill='none' stroke='#8FA998' strokeWidth='1.2' /&gt;&#10;            &lt;circle cx='200' cy='420' r='8' fill='none' stroke='#8FA998' strokeWidth='1.2' /&gt;&#10;            &lt;circle cx='480' cy='300' r='11' fill='none' stroke='#8FA998' strokeWidth='1.2' /&gt;&#10;            &lt;circle cx='420' cy='520' r='8' fill='none' stroke='#8FA998' strokeWidth='1.2' /&gt;&#10;            &lt;circle cx='560' cy='120' r='7' fill='none' stroke='#8FA998' strokeWidth='1.2' /&gt;&#10;            &lt;circle cx='300' cy='230' r='4' fill='#C98A63' /&gt;&#10;        &lt;/svg&gt;&#10;    &lt;/Box&gt;&#10;&#10;    &lt;Box style={{ position: 'absolute', left: 80, top: 214, width: 720, display: 'flex', flexDirection: 'column' }}&gt;&#10;        &lt;Text style={{ fontSize: 14, color: '#9DB3A2', letterSpacing: 4 }}&gt;LIFE GRAPH&lt;/Text&gt;&#10;        &lt;Text style={{ fontSize: 46, fontWeight: 'bold', color: '#F5F2E8', lineHeight: 1.6, marginTop: 20, letterSpacing: 2 }}&gt;把重要的人与事，&lt;br /&gt;留在生活的脉络里。&lt;/Text&gt;&#10;        &lt;Box style={{ width: 56, height: 2, background: '#4E6B5C', marginTop: 32 }} /&gt;&#10;        &lt;Text style={{ fontSize: 18, color: '#AFC2B2', lineHeight: 1.9, marginTop: 26 }}&gt;Life Graph · 生活脉络　｜　HarmonyOS 原生应用，版本 1.0.0&lt;br /&gt;2026 开源鸿蒙大学生创新大赛　·　赛道三：校园与创新应用&lt;/Text&gt;&#10;    &lt;/Box&gt;&#10;&#10;    &lt;Box style={{ position: 'absolute', left: 80, top: 596, width: 620 }}&gt;&#10;        &lt;Box style={{ height: 1, background: '#3A5346', marginBottom: 18 }} /&gt;&#10;        &lt;Text style={{ fontSize: 14, color: '#8FA695' }}&gt;LifeGraph 团队　｜　2026 年 10 月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矩形 47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0372D"/>
          </a:solidFill>
        </p:spPr>
        <p:txBody>
          <a:bodyPr/>
          <a:p/>
        </p:txBody>
      </p:sp>
      <p:pic>
        <p:nvPicPr>
          <p:cNvPr id="473" name="图片 472"/>
          <p:cNvPicPr>
            <a:picLocks noChangeAspect="1"/>
          </p:cNvPicPr>
          <p:nvPr/>
        </p:nvPicPr>
        <p:blipFill>
          <a:blip r:embed="rId1">
            <a:alphaModFix amt="5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05500" y="381000"/>
            <a:ext cx="5905500" cy="6096000"/>
          </a:xfrm>
          <a:prstGeom prst="rect">
            <a:avLst/>
          </a:prstGeom>
        </p:spPr>
      </p:pic>
      <p:sp>
        <p:nvSpPr>
          <p:cNvPr id="474" name="文本框 473" descr="{&quot;isTemplate&quot;:true,&quot;type&quot;:&quot;text&quot;}"/>
          <p:cNvSpPr txBox="1"/>
          <p:nvPr/>
        </p:nvSpPr>
        <p:spPr>
          <a:xfrm>
            <a:off x="762000" y="2038350"/>
            <a:ext cx="68580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300">
                <a:solidFill>
                  <a:srgbClr val="9DB3A2"/>
                </a:solidFill>
                <a:latin typeface="微软雅黑" panose="020B0503020204020204" charset="-122"/>
                <a:ea typeface="微软雅黑" panose="020B0503020204020204" charset="-122"/>
              </a:rPr>
              <a:t>LIFE GRAPH</a:t>
            </a:r>
            <a:endParaRPr lang="en-US" sz="1050" spc="300">
              <a:solidFill>
                <a:srgbClr val="9DB3A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5" name="文本框 474" descr="{&quot;isTemplate&quot;:true,&quot;type&quot;:&quot;text&quot;}"/>
          <p:cNvSpPr txBox="1"/>
          <p:nvPr/>
        </p:nvSpPr>
        <p:spPr>
          <a:xfrm>
            <a:off x="762000" y="2390775"/>
            <a:ext cx="6858000" cy="1685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3450" b="1" spc="150">
                <a:solidFill>
                  <a:srgbClr val="F5F2E8"/>
                </a:solidFill>
                <a:latin typeface="微软雅黑" panose="020B0503020204020204" charset="-122"/>
                <a:ea typeface="微软雅黑" panose="020B0503020204020204" charset="-122"/>
              </a:rPr>
              <a:t>把重要的人与事，</a:t>
            </a:r>
            <a:endParaRPr lang="zh-CN" sz="3450" b="1" spc="150">
              <a:solidFill>
                <a:srgbClr val="F5F2E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60000"/>
              </a:lnSpc>
            </a:pPr>
            <a:r>
              <a:rPr lang="zh-CN" sz="3450" b="1" spc="150">
                <a:solidFill>
                  <a:srgbClr val="F5F2E8"/>
                </a:solidFill>
                <a:latin typeface="微软雅黑" panose="020B0503020204020204" charset="-122"/>
                <a:ea typeface="微软雅黑" panose="020B0503020204020204" charset="-122"/>
              </a:rPr>
              <a:t>留在生活的脉络里。</a:t>
            </a:r>
            <a:endParaRPr lang="zh-CN" sz="3450" b="1" spc="150">
              <a:solidFill>
                <a:srgbClr val="F5F2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6" name="矩形 475"/>
          <p:cNvSpPr/>
          <p:nvPr/>
        </p:nvSpPr>
        <p:spPr>
          <a:xfrm>
            <a:off x="762000" y="4381500"/>
            <a:ext cx="533400" cy="19050"/>
          </a:xfrm>
          <a:prstGeom prst="rect">
            <a:avLst/>
          </a:prstGeom>
          <a:solidFill>
            <a:srgbClr val="4E6B5C"/>
          </a:solidFill>
        </p:spPr>
        <p:txBody>
          <a:bodyPr/>
          <a:p/>
        </p:txBody>
      </p:sp>
      <p:sp>
        <p:nvSpPr>
          <p:cNvPr id="477" name="文本框 476" descr="{&quot;isTemplate&quot;:true,&quot;type&quot;:&quot;text&quot;}"/>
          <p:cNvSpPr txBox="1"/>
          <p:nvPr/>
        </p:nvSpPr>
        <p:spPr>
          <a:xfrm>
            <a:off x="762000" y="4648200"/>
            <a:ext cx="6858000" cy="7905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350">
                <a:solidFill>
                  <a:srgbClr val="AFC2B2"/>
                </a:solidFill>
                <a:latin typeface="微软雅黑" panose="020B0503020204020204" charset="-122"/>
                <a:ea typeface="微软雅黑" panose="020B0503020204020204" charset="-122"/>
              </a:rPr>
              <a:t>Life Graph · </a:t>
            </a:r>
            <a:r>
              <a:rPr lang="zh-CN" sz="1350">
                <a:solidFill>
                  <a:srgbClr val="AFC2B2"/>
                </a:solidFill>
                <a:latin typeface="微软雅黑" panose="020B0503020204020204" charset="-122"/>
                <a:ea typeface="微软雅黑" panose="020B0503020204020204" charset="-122"/>
              </a:rPr>
              <a:t>生活脉络　｜　</a:t>
            </a:r>
            <a:r>
              <a:rPr lang="en-US" sz="1350">
                <a:solidFill>
                  <a:srgbClr val="AFC2B2"/>
                </a:solidFill>
                <a:latin typeface="微软雅黑" panose="020B0503020204020204" charset="-122"/>
                <a:ea typeface="微软雅黑" panose="020B0503020204020204" charset="-122"/>
              </a:rPr>
              <a:t>HarmonyOS </a:t>
            </a:r>
            <a:r>
              <a:rPr lang="zh-CN" sz="1350">
                <a:solidFill>
                  <a:srgbClr val="AFC2B2"/>
                </a:solidFill>
                <a:latin typeface="微软雅黑" panose="020B0503020204020204" charset="-122"/>
                <a:ea typeface="微软雅黑" panose="020B0503020204020204" charset="-122"/>
              </a:rPr>
              <a:t>原生应用，版本</a:t>
            </a:r>
            <a:r>
              <a:rPr lang="en-US" sz="1350">
                <a:solidFill>
                  <a:srgbClr val="AFC2B2"/>
                </a:solidFill>
                <a:latin typeface="微软雅黑" panose="020B0503020204020204" charset="-122"/>
                <a:ea typeface="微软雅黑" panose="020B0503020204020204" charset="-122"/>
              </a:rPr>
              <a:t> 1.0.0</a:t>
            </a:r>
            <a:endParaRPr lang="en-US" sz="1350">
              <a:solidFill>
                <a:srgbClr val="AFC2B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90000"/>
              </a:lnSpc>
            </a:pPr>
            <a:r>
              <a:rPr lang="en-US" sz="1350">
                <a:solidFill>
                  <a:srgbClr val="AFC2B2"/>
                </a:solidFill>
                <a:latin typeface="微软雅黑" panose="020B0503020204020204" charset="-122"/>
                <a:ea typeface="微软雅黑" panose="020B0503020204020204" charset="-122"/>
              </a:rPr>
              <a:t>2026 </a:t>
            </a:r>
            <a:r>
              <a:rPr lang="zh-CN" sz="1350">
                <a:solidFill>
                  <a:srgbClr val="AFC2B2"/>
                </a:solidFill>
                <a:latin typeface="微软雅黑" panose="020B0503020204020204" charset="-122"/>
                <a:ea typeface="微软雅黑" panose="020B0503020204020204" charset="-122"/>
              </a:rPr>
              <a:t>开源鸿蒙大学生创新大赛　·　赛道三：校园与创新应用</a:t>
            </a:r>
            <a:endParaRPr lang="zh-CN" sz="1350">
              <a:solidFill>
                <a:srgbClr val="AFC2B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8" name="矩形 477"/>
          <p:cNvSpPr/>
          <p:nvPr/>
        </p:nvSpPr>
        <p:spPr>
          <a:xfrm>
            <a:off x="762000" y="5676900"/>
            <a:ext cx="5905500" cy="9525"/>
          </a:xfrm>
          <a:prstGeom prst="rect">
            <a:avLst/>
          </a:prstGeom>
          <a:solidFill>
            <a:srgbClr val="3A5346"/>
          </a:solidFill>
        </p:spPr>
        <p:txBody>
          <a:bodyPr/>
          <a:p/>
        </p:txBody>
      </p:sp>
      <p:sp>
        <p:nvSpPr>
          <p:cNvPr id="479" name="文本框 478" descr="{&quot;isTemplate&quot;:true,&quot;type&quot;:&quot;text&quot;}"/>
          <p:cNvSpPr txBox="1"/>
          <p:nvPr/>
        </p:nvSpPr>
        <p:spPr>
          <a:xfrm>
            <a:off x="762000" y="5857875"/>
            <a:ext cx="59055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FA695"/>
                </a:solidFill>
                <a:latin typeface="微软雅黑" panose="020B0503020204020204" charset="-122"/>
                <a:ea typeface="微软雅黑" panose="020B0503020204020204" charset="-122"/>
              </a:rPr>
              <a:t>LifeGraph </a:t>
            </a:r>
            <a:r>
              <a:rPr lang="zh-CN" sz="1050">
                <a:solidFill>
                  <a:srgbClr val="8FA695"/>
                </a:solidFill>
                <a:latin typeface="微软雅黑" panose="020B0503020204020204" charset="-122"/>
                <a:ea typeface="微软雅黑" panose="020B0503020204020204" charset="-122"/>
              </a:rPr>
              <a:t>团队　｜　</a:t>
            </a:r>
            <a:r>
              <a:rPr lang="en-US" sz="1050">
                <a:solidFill>
                  <a:srgbClr val="8FA695"/>
                </a:solidFill>
                <a:latin typeface="微软雅黑" panose="020B0503020204020204" charset="-122"/>
                <a:ea typeface="微软雅黑" panose="020B0503020204020204" charset="-122"/>
              </a:rPr>
              <a:t>2026 </a:t>
            </a:r>
            <a:r>
              <a:rPr lang="zh-CN" sz="1050">
                <a:solidFill>
                  <a:srgbClr val="8FA695"/>
                </a:solidFill>
                <a:latin typeface="微软雅黑" panose="020B0503020204020204" charset="-122"/>
                <a:ea typeface="微软雅黑" panose="020B0503020204020204" charset="-122"/>
              </a:rPr>
              <a:t>年</a:t>
            </a:r>
            <a:r>
              <a:rPr lang="en-US" sz="1050">
                <a:solidFill>
                  <a:srgbClr val="8FA695"/>
                </a:solidFill>
                <a:latin typeface="微软雅黑" panose="020B0503020204020204" charset="-122"/>
                <a:ea typeface="微软雅黑" panose="020B0503020204020204" charset="-122"/>
              </a:rPr>
              <a:t> 10 </a:t>
            </a:r>
            <a:r>
              <a:rPr lang="zh-CN" sz="1050">
                <a:solidFill>
                  <a:srgbClr val="8FA695"/>
                </a:solidFill>
                <a:latin typeface="微软雅黑" panose="020B0503020204020204" charset="-122"/>
                <a:ea typeface="微软雅黑" panose="020B0503020204020204" charset="-122"/>
              </a:rPr>
              <a:t>月</a:t>
            </a:r>
            <a:endParaRPr lang="zh-CN" sz="1050">
              <a:solidFill>
                <a:srgbClr val="8FA69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93.5,&quot;left&quot;:45,&quot;top&quot;:132.75,&quot;width&quot;:870}"/>
</p:tagLst>
</file>

<file path=ppt/tags/tag2.xml><?xml version="1.0" encoding="utf-8"?>
<p:tagLst xmlns:p="http://schemas.openxmlformats.org/presentationml/2006/main">
  <p:tag name="KSO_WM_DIAGRAM_VIRTUALLY_FRAME" val="{&quot;height&quot;:193.5,&quot;left&quot;:45,&quot;top&quot;:132.75,&quot;width&quot;:870}"/>
</p:tagLst>
</file>

<file path=ppt/tags/tag3.xml><?xml version="1.0" encoding="utf-8"?>
<p:tagLst xmlns:p="http://schemas.openxmlformats.org/presentationml/2006/main">
  <p:tag name="KSO_WM_DIAGRAM_VIRTUALLY_FRAME" val="{&quot;height&quot;:193.5,&quot;left&quot;:45,&quot;top&quot;:132.75,&quot;width&quot;:870}"/>
</p:tagLst>
</file>

<file path=ppt/tags/tag4.xml><?xml version="1.0" encoding="utf-8"?>
<p:tagLst xmlns:p="http://schemas.openxmlformats.org/presentationml/2006/main">
  <p:tag name="KSO_WM_DIAGRAM_VIRTUALLY_FRAME" val="{&quot;height&quot;:193.5,&quot;left&quot;:45,&quot;top&quot;:132.75,&quot;width&quot;:870}"/>
</p:tagLst>
</file>

<file path=ppt/tags/tag5.xml><?xml version="1.0" encoding="utf-8"?>
<p:tagLst xmlns:p="http://schemas.openxmlformats.org/presentationml/2006/main">
  <p:tag name="KSO_WM_DIAGRAM_VIRTUALLY_FRAME" val="{&quot;height&quot;:193.5,&quot;left&quot;:45,&quot;top&quot;:132.75,&quot;width&quot;:870}"/>
</p:tagLst>
</file>

<file path=ppt/tags/tag6.xml><?xml version="1.0" encoding="utf-8"?>
<p:tagLst xmlns:p="http://schemas.openxmlformats.org/presentationml/2006/main">
  <p:tag name="KSO_WM_DIAGRAM_VIRTUALLY_FRAME" val="{&quot;height&quot;:193.5,&quot;left&quot;:45,&quot;top&quot;:132.75,&quot;width&quot;:870}"/>
</p:tagLst>
</file>

<file path=ppt/tags/tag7.xml><?xml version="1.0" encoding="utf-8"?>
<p:tagLst xmlns:p="http://schemas.openxmlformats.org/presentationml/2006/main">
  <p:tag name="KSO_WM_DIAGRAM_VIRTUALLY_FRAME" val="{&quot;height&quot;:193.5,&quot;left&quot;:45,&quot;top&quot;:132.75,&quot;width&quot;:870}"/>
</p:tagLst>
</file>

<file path=ppt/tags/tag8.xml><?xml version="1.0" encoding="utf-8"?>
<p:tagLst xmlns:p="http://schemas.openxmlformats.org/presentationml/2006/main">
  <p:tag name="KSO_WM_DIAGRAM_VIRTUALLY_FRAME" val="{&quot;height&quot;:193.5,&quot;left&quot;:45,&quot;top&quot;:132.75,&quot;width&quot;:870}"/>
</p:tagLst>
</file>

<file path=ppt/tags/tag9.xml><?xml version="1.0" encoding="utf-8"?>
<p:tagLst xmlns:p="http://schemas.openxmlformats.org/presentationml/2006/main">
  <p:tag name="KSO_WM_DIAGRAM_VIRTUALLY_FRAME" val="{&quot;height&quot;:193.5,&quot;left&quot;:45,&quot;top&quot;:132.75,&quot;width&quot;:870}"/>
</p:tagLst>
</file>

<file path=ppt/tags/tag10.xml><?xml version="1.0" encoding="utf-8"?>
<p:tagLst xmlns:p="http://schemas.openxmlformats.org/presentationml/2006/main">
  <p:tag name="KSO_WM_DIAGRAM_VIRTUALLY_FRAME" val="{&quot;height&quot;:193.5,&quot;left&quot;:45,&quot;top&quot;:132.75,&quot;width&quot;:870}"/>
</p:tagLst>
</file>

<file path=ppt/tags/tag11.xml><?xml version="1.0" encoding="utf-8"?>
<p:tagLst xmlns:p="http://schemas.openxmlformats.org/presentationml/2006/main">
  <p:tag name="KSO_WM_DIAGRAM_VIRTUALLY_FRAME" val="{&quot;height&quot;:193.5,&quot;left&quot;:45,&quot;top&quot;:132.75,&quot;width&quot;:870}"/>
</p:tagLst>
</file>

<file path=ppt/tags/tag12.xml><?xml version="1.0" encoding="utf-8"?>
<p:tagLst xmlns:p="http://schemas.openxmlformats.org/presentationml/2006/main">
  <p:tag name="KSO_WM_DIAGRAM_VIRTUALLY_FRAME" val="{&quot;height&quot;:193.5,&quot;left&quot;:45,&quot;top&quot;:132.75,&quot;width&quot;:870}"/>
</p:tagLst>
</file>

<file path=ppt/tags/tag13.xml><?xml version="1.0" encoding="utf-8"?>
<p:tagLst xmlns:p="http://schemas.openxmlformats.org/presentationml/2006/main">
  <p:tag name="KSO_WM_DIAGRAM_VIRTUALLY_FRAME" val="{&quot;height&quot;:193.5,&quot;left&quot;:45,&quot;top&quot;:132.75,&quot;width&quot;:870}"/>
</p:tagLst>
</file>

<file path=ppt/tags/tag14.xml><?xml version="1.0" encoding="utf-8"?>
<p:tagLst xmlns:p="http://schemas.openxmlformats.org/presentationml/2006/main">
  <p:tag name="KSO_WM_DIAGRAM_VIRTUALLY_FRAME" val="{&quot;height&quot;:193.5,&quot;left&quot;:45,&quot;top&quot;:132.75,&quot;width&quot;:870}"/>
</p:tagLst>
</file>

<file path=ppt/tags/tag15.xml><?xml version="1.0" encoding="utf-8"?>
<p:tagLst xmlns:p="http://schemas.openxmlformats.org/presentationml/2006/main">
  <p:tag name="KSO_WM_DIAGRAM_VIRTUALLY_FRAME" val="{&quot;height&quot;:193.5,&quot;left&quot;:45,&quot;top&quot;:132.75,&quot;width&quot;:870}"/>
</p:tagLst>
</file>

<file path=ppt/tags/tag16.xml><?xml version="1.0" encoding="utf-8"?>
<p:tagLst xmlns:p="http://schemas.openxmlformats.org/presentationml/2006/main">
  <p:tag name="KSO_WM_DIAGRAM_VIRTUALLY_FRAME" val="{&quot;height&quot;:193.5,&quot;left&quot;:45,&quot;top&quot;:132.75,&quot;width&quot;:870}"/>
</p:tagLst>
</file>

<file path=ppt/tags/tag17.xml><?xml version="1.0" encoding="utf-8"?>
<p:tagLst xmlns:p="http://schemas.openxmlformats.org/presentationml/2006/main">
  <p:tag name="KSO_WM_DIAGRAM_VIRTUALLY_FRAME" val="{&quot;height&quot;:193.5,&quot;left&quot;:45,&quot;top&quot;:132.75,&quot;width&quot;:870}"/>
</p:tagLst>
</file>

<file path=ppt/tags/tag18.xml><?xml version="1.0" encoding="utf-8"?>
<p:tagLst xmlns:p="http://schemas.openxmlformats.org/presentationml/2006/main">
  <p:tag name="KSO_WM_DIAGRAM_VIRTUALLY_FRAME" val="{&quot;height&quot;:193.5,&quot;left&quot;:45,&quot;top&quot;:132.75,&quot;width&quot;:870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6283</Words>
  <Application>WPS 演示</Application>
  <PresentationFormat/>
  <Paragraphs>773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3" baseType="lpstr">
      <vt:lpstr>Arial</vt:lpstr>
      <vt:lpstr>宋体</vt:lpstr>
      <vt:lpstr>Wingdings</vt:lpstr>
      <vt:lpstr>微软雅黑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小王</cp:lastModifiedBy>
  <cp:revision>8</cp:revision>
  <dcterms:created xsi:type="dcterms:W3CDTF">2026-10-30T12:19:00Z</dcterms:created>
  <dcterms:modified xsi:type="dcterms:W3CDTF">2026-10-30T14:15:23Z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{"AIGC":{"Label":"1","ContentProducer":"00119111010856365494821B355","ProduceID":"01a18c3c3c4178ab922e22128fec1277","ReservedCode1":"","ContentPropagator":"00119111010856365494821B355","PropagateID":"01a18c3c3c4178ab922e22128fec1277","ReservedCode2":""}}</vt:lpwstr>
  </property>
  <property fmtid="{D5CDD505-2E9C-101B-9397-08002B2CF9AE}" pid="3" name="KSOProductBuildVer">
    <vt:lpwstr>2052-12.1.0.29161</vt:lpwstr>
  </property>
  <property fmtid="{D5CDD505-2E9C-101B-9397-08002B2CF9AE}" pid="4" name="ICV">
    <vt:lpwstr>745170F115E040B79A3EF020A9C6C433_13</vt:lpwstr>
  </property>
</Properties>
</file>